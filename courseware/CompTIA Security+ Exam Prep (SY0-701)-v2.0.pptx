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Security+ Exam Prep (SY0-701)</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C628</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28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1 — General Security Concepts (12%)</a:t>
            </a:r>
          </a:p>
          <a:p>
            <a:pPr>
              <a:spcAft>
                <a:spcPts val="900"/>
              </a:spcAft>
            </a:pPr>
            <a:r>
              <a:rPr sz="1400" b="0">
                <a:solidFill>
                  <a:srgbClr val="161B26"/>
                </a:solidFill>
                <a:latin typeface="Arial"/>
              </a:rPr>
              <a:t>•  Labs 1–7 · 7 hands-on activities</a:t>
            </a:r>
          </a:p>
          <a:p>
            <a:pPr>
              <a:spcAft>
                <a:spcPts val="900"/>
              </a:spcAft>
            </a:pPr>
            <a:r>
              <a:rPr sz="1400" b="0">
                <a:solidFill>
                  <a:srgbClr val="161B26"/>
                </a:solidFill>
                <a:latin typeface="Arial"/>
              </a:rPr>
              <a:t>•  Objectives 1.1–1.4</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2 — Threats, Vulnerabilities and Mitigations (22%)</a:t>
            </a:r>
          </a:p>
          <a:p>
            <a:pPr>
              <a:spcAft>
                <a:spcPts val="900"/>
              </a:spcAft>
            </a:pPr>
            <a:r>
              <a:rPr sz="1400" b="0">
                <a:solidFill>
                  <a:srgbClr val="161B26"/>
                </a:solidFill>
                <a:latin typeface="Arial"/>
              </a:rPr>
              <a:t>•  Labs 8–16 · 9 hands-on activities</a:t>
            </a:r>
          </a:p>
          <a:p>
            <a:pPr>
              <a:spcAft>
                <a:spcPts val="900"/>
              </a:spcAft>
            </a:pPr>
            <a:r>
              <a:rPr sz="1400" b="0">
                <a:solidFill>
                  <a:srgbClr val="161B26"/>
                </a:solidFill>
                <a:latin typeface="Arial"/>
              </a:rPr>
              <a:t>•  Objectives 2.1–2.5</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Day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3 — Security Architecture (18%)</a:t>
            </a:r>
          </a:p>
          <a:p>
            <a:pPr>
              <a:spcAft>
                <a:spcPts val="900"/>
              </a:spcAft>
            </a:pPr>
            <a:r>
              <a:rPr sz="1400" b="0">
                <a:solidFill>
                  <a:srgbClr val="161B26"/>
                </a:solidFill>
                <a:latin typeface="Arial"/>
              </a:rPr>
              <a:t>•  Labs 17–27 · 11 hands-on activities</a:t>
            </a:r>
          </a:p>
          <a:p>
            <a:pPr>
              <a:spcAft>
                <a:spcPts val="900"/>
              </a:spcAft>
            </a:pPr>
            <a:r>
              <a:rPr sz="1400" b="0">
                <a:solidFill>
                  <a:srgbClr val="161B26"/>
                </a:solidFill>
                <a:latin typeface="Arial"/>
              </a:rPr>
              <a:t>•  Objectives 3.1–3.4</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4 — Security Operations (28%)</a:t>
            </a:r>
          </a:p>
          <a:p>
            <a:pPr>
              <a:spcAft>
                <a:spcPts val="900"/>
              </a:spcAft>
            </a:pPr>
            <a:r>
              <a:rPr sz="1400" b="0">
                <a:solidFill>
                  <a:srgbClr val="161B26"/>
                </a:solidFill>
                <a:latin typeface="Arial"/>
              </a:rPr>
              <a:t>•  Labs 28–44 · 17 hands-on activities</a:t>
            </a:r>
          </a:p>
          <a:p>
            <a:pPr>
              <a:spcAft>
                <a:spcPts val="900"/>
              </a:spcAft>
            </a:pPr>
            <a:r>
              <a:rPr sz="1400" b="0">
                <a:solidFill>
                  <a:srgbClr val="161B26"/>
                </a:solidFill>
                <a:latin typeface="Arial"/>
              </a:rPr>
              <a:t>•  Objectives 4.1–4.9</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Domain 5 — Security Program Management and Oversight (20%) &amp; Exam Readiness</a:t>
            </a:r>
          </a:p>
          <a:p>
            <a:pPr>
              <a:spcAft>
                <a:spcPts val="900"/>
              </a:spcAft>
            </a:pPr>
            <a:r>
              <a:rPr sz="1400" b="0">
                <a:solidFill>
                  <a:srgbClr val="161B26"/>
                </a:solidFill>
                <a:latin typeface="Arial"/>
              </a:rPr>
              <a:t>•  Labs 45–52 · 8 hands-on activities</a:t>
            </a:r>
          </a:p>
          <a:p>
            <a:pPr>
              <a:spcAft>
                <a:spcPts val="900"/>
              </a:spcAft>
            </a:pPr>
            <a:r>
              <a:rPr sz="1400" b="0">
                <a:solidFill>
                  <a:srgbClr val="161B26"/>
                </a:solidFill>
                <a:latin typeface="Arial"/>
              </a:rPr>
              <a:t>•  Objectives 5.1–5.6</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Daily Timing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training day runs 9:30am to 6:30pm.</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1-hour lunch break is taken at 1:00pm.</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Two 15-minute tea breaks fall within training time.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That is 8 training hours per day, excluding lunch.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Concepts</a:t>
            </a:r>
          </a:p>
          <a:p>
            <a:pPr algn="l">
              <a:spcAft>
                <a:spcPts val="300"/>
              </a:spcAft>
            </a:pPr>
            <a:r>
              <a:rPr sz="1300" b="0">
                <a:solidFill>
                  <a:srgbClr val="5B6372"/>
                </a:solidFill>
                <a:latin typeface="Arial"/>
              </a:rPr>
              <a:t>Explain general security concepts — control types, CIA and AAA, Zero Trust, physical security, deception, change management and cryptography with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Threats &amp; Mitigations</a:t>
            </a:r>
          </a:p>
          <a:p>
            <a:pPr algn="l">
              <a:spcAft>
                <a:spcPts val="300"/>
              </a:spcAft>
            </a:pPr>
            <a:r>
              <a:rPr sz="1300" b="0">
                <a:solidFill>
                  <a:srgbClr val="5B6372"/>
                </a:solidFill>
                <a:latin typeface="Arial"/>
              </a:rPr>
              <a:t>Analyse threat actors, vectors and social engineering, application and platform vulnerabilities, indicators of attack, and mitigation techniques.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Secure Architecture</a:t>
            </a:r>
          </a:p>
          <a:p>
            <a:pPr algn="l">
              <a:spcAft>
                <a:spcPts val="300"/>
              </a:spcAft>
            </a:pPr>
            <a:r>
              <a:rPr sz="1300" b="0">
                <a:solidFill>
                  <a:srgbClr val="5B6372"/>
                </a:solidFill>
                <a:latin typeface="Arial"/>
              </a:rPr>
              <a:t>Apply secure architecture — cloud and on-premises models, secure enterprise infrastructure, data protection, and resilience and recovery.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Operations</a:t>
            </a:r>
          </a:p>
          <a:p>
            <a:pPr algn="l">
              <a:spcAft>
                <a:spcPts val="300"/>
              </a:spcAft>
            </a:pPr>
            <a:r>
              <a:rPr sz="1300" b="0">
                <a:solidFill>
                  <a:srgbClr val="5B6372"/>
                </a:solidFill>
                <a:latin typeface="Arial"/>
              </a:rPr>
              <a:t>Perform security operations — hardening, asset and vulnerability management, monitoring, security capabilities,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Program Management</a:t>
            </a:r>
          </a:p>
          <a:p>
            <a:pPr algn="l">
              <a:spcAft>
                <a:spcPts val="300"/>
              </a:spcAft>
            </a:pPr>
            <a:r>
              <a:rPr sz="1300" b="0">
                <a:solidFill>
                  <a:srgbClr val="5B6372"/>
                </a:solidFill>
                <a:latin typeface="Arial"/>
              </a:rPr>
              <a:t>Support program oversight — governance, risk and third-party risk, compliance, audits and penetration testing, and security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Security+ Mindset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Enforced with permissions, encryption and access control.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has not been altered without detection. Enforced with hashing, signatures and file-integrity monitoring.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Systems and data are reachable when needed. Enforced with redundancy, backup and DoS defences.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Authentication</a:t>
            </a:r>
          </a:p>
          <a:p>
            <a:pPr algn="l">
              <a:spcAft>
                <a:spcPts val="300"/>
              </a:spcAft>
            </a:pPr>
            <a:r>
              <a:rPr sz="1300" b="0">
                <a:solidFill>
                  <a:srgbClr val="5B6372"/>
                </a:solidFill>
                <a:latin typeface="Arial"/>
              </a:rPr>
              <a:t>Prove who you are — passwords, keys, certificates and multi-factor tokens.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Authorization</a:t>
            </a:r>
          </a:p>
          <a:p>
            <a:pPr algn="l">
              <a:spcAft>
                <a:spcPts val="300"/>
              </a:spcAft>
            </a:pPr>
            <a:r>
              <a:rPr sz="1300" b="0">
                <a:solidFill>
                  <a:srgbClr val="5B6372"/>
                </a:solidFill>
                <a:latin typeface="Arial"/>
              </a:rPr>
              <a:t>Decide what you may do — least privilege, role-based access and scoped sudo.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Accounting</a:t>
            </a:r>
          </a:p>
          <a:p>
            <a:pPr algn="l">
              <a:spcAft>
                <a:spcPts val="300"/>
              </a:spcAft>
            </a:pPr>
            <a:r>
              <a:rPr sz="1300" b="0">
                <a:solidFill>
                  <a:srgbClr val="5B6372"/>
                </a:solidFill>
                <a:latin typeface="Arial"/>
              </a:rPr>
              <a:t>Record what was done — audit logs, SIEM correlation and non-repudiation.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Five SY0-701 Exam Domains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General Security Concepts (12%)</a:t>
            </a:r>
          </a:p>
          <a:p>
            <a:pPr algn="l">
              <a:spcAft>
                <a:spcPts val="300"/>
              </a:spcAft>
            </a:pPr>
            <a:r>
              <a:rPr sz="1200" b="0">
                <a:solidFill>
                  <a:srgbClr val="5B6372"/>
                </a:solidFill>
                <a:latin typeface="Arial"/>
              </a:rPr>
              <a:t>Controls, CIA/AAA, Zero Trust, change management, cryptography and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Threats &amp; Mitigations (22%)</a:t>
            </a:r>
          </a:p>
          <a:p>
            <a:pPr algn="l">
              <a:spcAft>
                <a:spcPts val="300"/>
              </a:spcAft>
            </a:pPr>
            <a:r>
              <a:rPr sz="1200" b="0">
                <a:solidFill>
                  <a:srgbClr val="5B6372"/>
                </a:solidFill>
                <a:latin typeface="Arial"/>
              </a:rPr>
              <a:t>Threat actors, vectors, vulnerabilities, indicators of attack and mitigations.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Security Architecture (18%)</a:t>
            </a:r>
          </a:p>
          <a:p>
            <a:pPr algn="l">
              <a:spcAft>
                <a:spcPts val="300"/>
              </a:spcAft>
            </a:pPr>
            <a:r>
              <a:rPr sz="1200" b="0">
                <a:solidFill>
                  <a:srgbClr val="5B6372"/>
                </a:solidFill>
                <a:latin typeface="Arial"/>
              </a:rPr>
              <a:t>Cloud and on-premises models, secure infrastructure, data protection and resilience.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Security Operations (28%)</a:t>
            </a:r>
          </a:p>
          <a:p>
            <a:pPr algn="l">
              <a:spcAft>
                <a:spcPts val="300"/>
              </a:spcAft>
            </a:pPr>
            <a:r>
              <a:rPr sz="1200" b="0">
                <a:solidFill>
                  <a:srgbClr val="5B6372"/>
                </a:solidFill>
                <a:latin typeface="Arial"/>
              </a:rPr>
              <a:t>Hardening, assets, vulnerabilities, monitoring,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Program Management (20%)</a:t>
            </a:r>
          </a:p>
          <a:p>
            <a:pPr algn="l">
              <a:spcAft>
                <a:spcPts val="300"/>
              </a:spcAft>
            </a:pPr>
            <a:r>
              <a:rPr sz="1200" b="0">
                <a:solidFill>
                  <a:srgbClr val="5B6372"/>
                </a:solidFill>
                <a:latin typeface="Arial"/>
              </a:rPr>
              <a:t>Risk, governance, third-party assessment, compliance and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is a practice, not a product.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control you meet in this course is something you will configure, test and then break on purpose — because that is how you learn what it really protects.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hardened Linux host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Firewall, SSH and PAM hardening</a:t>
            </a:r>
          </a:p>
          <a:p>
            <a:pPr>
              <a:spcAft>
                <a:spcPts val="900"/>
              </a:spcAft>
            </a:pPr>
            <a:r>
              <a:rPr sz="1400" b="0">
                <a:solidFill>
                  <a:srgbClr val="161B26"/>
                </a:solidFill>
                <a:latin typeface="Arial"/>
              </a:rPr>
              <a:t>•  Audit rules and file-integrity monitoring</a:t>
            </a:r>
          </a:p>
          <a:p>
            <a:pPr>
              <a:spcAft>
                <a:spcPts val="900"/>
              </a:spcAft>
            </a:pPr>
            <a:r>
              <a:rPr sz="1400" b="0">
                <a:solidFill>
                  <a:srgbClr val="161B26"/>
                </a:solidFill>
                <a:latin typeface="Arial"/>
              </a:rPr>
              <a:t>•  A CIS-benchmarked compliance baseline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working crypto stack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Salted hashes and RSA signatures</a:t>
            </a:r>
          </a:p>
          <a:p>
            <a:pPr>
              <a:spcAft>
                <a:spcPts val="900"/>
              </a:spcAft>
            </a:pPr>
            <a:r>
              <a:rPr sz="1400" b="0">
                <a:solidFill>
                  <a:srgbClr val="161B26"/>
                </a:solidFill>
                <a:latin typeface="Arial"/>
              </a:rPr>
              <a:t>•  AES and GPG encryption round trips</a:t>
            </a:r>
          </a:p>
          <a:p>
            <a:pPr>
              <a:spcAft>
                <a:spcPts val="900"/>
              </a:spcAft>
            </a:pPr>
            <a:r>
              <a:rPr sz="1400" b="0">
                <a:solidFill>
                  <a:srgbClr val="161B26"/>
                </a:solidFill>
                <a:latin typeface="Arial"/>
              </a:rPr>
              <a:t>•  Your own certificate authority and CRL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detection pipeline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SIEM log ingestion and correlation</a:t>
            </a:r>
          </a:p>
          <a:p>
            <a:pPr>
              <a:spcAft>
                <a:spcPts val="900"/>
              </a:spcAft>
            </a:pPr>
            <a:r>
              <a:rPr sz="1400" b="0">
                <a:solidFill>
                  <a:srgbClr val="161B26"/>
                </a:solidFill>
                <a:latin typeface="Arial"/>
              </a:rPr>
              <a:t>•  Suricata IDS alerting on live traffic</a:t>
            </a:r>
          </a:p>
          <a:p>
            <a:pPr>
              <a:spcAft>
                <a:spcPts val="900"/>
              </a:spcAft>
            </a:pPr>
            <a:r>
              <a:rPr sz="1400" b="0">
                <a:solidFill>
                  <a:srgbClr val="161B26"/>
                </a:solidFill>
                <a:latin typeface="Arial"/>
              </a:rPr>
              <a:t>•  osquery endpoint interrogation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Understand the concept — what the control is and which threat it answers.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Build it — configure the tool on the live Linux playground.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it — run the check that proves the control is active.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Break it — attempt the attack the control is meant to stop.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Reflect — connect the result back to the SY0-701 exam objective.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EXAM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SY0-701 Exam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Up to 90 questions in 90 minutes: multiple-choice plus performance-based questions (PBQs) that simulate real tasks.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Passing score</a:t>
            </a:r>
          </a:p>
          <a:p>
            <a:pPr algn="l">
              <a:spcAft>
                <a:spcPts val="300"/>
              </a:spcAft>
            </a:pPr>
            <a:r>
              <a:rPr sz="1200" b="0">
                <a:solidFill>
                  <a:srgbClr val="5B6372"/>
                </a:solidFill>
                <a:latin typeface="Arial"/>
              </a:rPr>
              <a:t>750 on a scale of 100-900. There is no penalty for guessing, so answer every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Five domains</a:t>
            </a:r>
          </a:p>
          <a:p>
            <a:pPr algn="l">
              <a:spcAft>
                <a:spcPts val="300"/>
              </a:spcAft>
            </a:pPr>
            <a:r>
              <a:rPr sz="1200" b="0">
                <a:solidFill>
                  <a:srgbClr val="5B6372"/>
                </a:solidFill>
                <a:latin typeface="Arial"/>
              </a:rPr>
              <a:t>General Concepts 12%, Threats 22%, Architecture 18%, Operations 28%, Program Management 20%.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28 objectives</a:t>
            </a:r>
          </a:p>
          <a:p>
            <a:pPr algn="l">
              <a:spcAft>
                <a:spcPts val="300"/>
              </a:spcAft>
            </a:pPr>
            <a:r>
              <a:rPr sz="1200" b="0">
                <a:solidFill>
                  <a:srgbClr val="5B6372"/>
                </a:solidFill>
                <a:latin typeface="Arial"/>
              </a:rPr>
              <a:t>Every objective in the official blueprint is taught in order in this course, each followed by its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Delivery</a:t>
            </a:r>
          </a:p>
          <a:p>
            <a:pPr algn="l">
              <a:spcAft>
                <a:spcPts val="300"/>
              </a:spcAft>
            </a:pPr>
            <a:r>
              <a:rPr sz="1200" b="0">
                <a:solidFill>
                  <a:srgbClr val="5B6372"/>
                </a:solidFill>
                <a:latin typeface="Arial"/>
              </a:rPr>
              <a:t>Sat at a Pearson VUE test centre or online with OnVUE. The certification is valid for three years.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Recommended</a:t>
            </a:r>
          </a:p>
          <a:p>
            <a:pPr algn="l">
              <a:spcAft>
                <a:spcPts val="300"/>
              </a:spcAft>
            </a:pPr>
            <a:r>
              <a:rPr sz="1200" b="0">
                <a:solidFill>
                  <a:srgbClr val="5B6372"/>
                </a:solidFill>
                <a:latin typeface="Arial"/>
              </a:rPr>
              <a:t>CompTIA suggests Network+ and two years of IT administration with a security focus before attempting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WORKBENCH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All 52 labs live in the course repository: https://github.com/tertiarycourses/C628-CompTIA-SecurityPlus-Exam-Prep</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Every lab runs in the free Killercoda Ubuntu Playground: https://killercoda.com/playgrounds/scenario/ubuntu</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Each lab folder holds README.md (steps), INSTRUCTIONS.md, checklist.md and scripts/run.sh.</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Labs are numbered in SY0-701 objective order, so the lab number tells you where you are in the blueprint.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INTERACTIVE ED-TOOLS · NO INSTALL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Your Browser Security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Cybersecurity Simulator</a:t>
            </a:r>
          </a:p>
          <a:p>
            <a:pPr algn="l">
              <a:spcAft>
                <a:spcPts val="300"/>
              </a:spcAft>
            </a:pPr>
            <a:r>
              <a:rPr sz="1200" b="0">
                <a:solidFill>
                  <a:srgbClr val="5B6372"/>
                </a:solidFill>
                <a:latin typeface="Arial"/>
              </a:rPr>
              <a:t>Domain-by-domain simulations that mirror every lab: alfredang.github.io/cybersecuritysimulator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Cryptography Toolkit</a:t>
            </a:r>
          </a:p>
          <a:p>
            <a:pPr algn="l">
              <a:spcAft>
                <a:spcPts val="300"/>
              </a:spcAft>
            </a:pPr>
            <a:r>
              <a:rPr sz="1200" b="0">
                <a:solidFill>
                  <a:srgbClr val="5B6372"/>
                </a:solidFill>
                <a:latin typeface="Arial"/>
              </a:rPr>
              <a:t>Encrypt, decrypt and sign in the browser (Objective 1.4): alfredang.github.io/cryptography-toolkit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Hash Generator</a:t>
            </a:r>
          </a:p>
          <a:p>
            <a:pPr algn="l">
              <a:spcAft>
                <a:spcPts val="300"/>
              </a:spcAft>
            </a:pPr>
            <a:r>
              <a:rPr sz="1200" b="0">
                <a:solidFill>
                  <a:srgbClr val="5B6372"/>
                </a:solidFill>
                <a:latin typeface="Arial"/>
              </a:rPr>
              <a:t>SHA, MD5 and HMAC digests to compare integrity checks: alfredang.github.io/hashgenerator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FIRST CVSS calculator</a:t>
            </a:r>
          </a:p>
          <a:p>
            <a:pPr algn="l">
              <a:spcAft>
                <a:spcPts val="300"/>
              </a:spcAft>
            </a:pPr>
            <a:r>
              <a:rPr sz="1200" b="0">
                <a:solidFill>
                  <a:srgbClr val="5B6372"/>
                </a:solidFill>
                <a:latin typeface="Arial"/>
              </a:rPr>
              <a:t>Score vulnerabilities exactly as Objective 4.3 expects: first.org/cvss/calculator/3.1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MITRE ATT&amp;CK</a:t>
            </a:r>
          </a:p>
          <a:p>
            <a:pPr algn="l">
              <a:spcAft>
                <a:spcPts val="300"/>
              </a:spcAft>
            </a:pPr>
            <a:r>
              <a:rPr sz="1200" b="0">
                <a:solidFill>
                  <a:srgbClr val="5B6372"/>
                </a:solidFill>
                <a:latin typeface="Arial"/>
              </a:rPr>
              <a:t>Map threat actors and techniques (Objectives 2.1 and 4.8): attack.mitre.org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Timed SY0-701 practice questions: exams.tertiaryinfotech.com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DOMAIN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General Security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1.1 Controls · 1.2 Fundamentals · 1.3 Change management · 1.4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EXAM WEIGHTING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1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1.1  Types of Security Controls</a:t>
            </a:r>
          </a:p>
          <a:p>
            <a:pPr algn="l">
              <a:spcAft>
                <a:spcPts val="300"/>
              </a:spcAft>
            </a:pPr>
            <a:r>
              <a:rPr sz="1200" b="0">
                <a:solidFill>
                  <a:srgbClr val="5B6372"/>
                </a:solidFill>
                <a:latin typeface="Arial"/>
              </a:rPr>
              <a:t>Compare and contrast various types of security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1.2  Fundamental Security Concepts</a:t>
            </a:r>
          </a:p>
          <a:p>
            <a:pPr algn="l">
              <a:spcAft>
                <a:spcPts val="300"/>
              </a:spcAft>
            </a:pPr>
            <a:r>
              <a:rPr sz="1200" b="0">
                <a:solidFill>
                  <a:srgbClr val="5B6372"/>
                </a:solidFill>
                <a:latin typeface="Arial"/>
              </a:rPr>
              <a:t>Summarize fundamental security concepts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1.3  Change Management</a:t>
            </a:r>
          </a:p>
          <a:p>
            <a:pPr algn="l">
              <a:spcAft>
                <a:spcPts val="300"/>
              </a:spcAft>
            </a:pPr>
            <a:r>
              <a:rPr sz="1200" b="0">
                <a:solidFill>
                  <a:srgbClr val="5B6372"/>
                </a:solidFill>
                <a:latin typeface="Arial"/>
              </a:rPr>
              <a:t>Explain the importance of change management processes and the impact to security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1.4  Cryptographic Solutions</a:t>
            </a:r>
          </a:p>
          <a:p>
            <a:pPr algn="l">
              <a:spcAft>
                <a:spcPts val="300"/>
              </a:spcAft>
            </a:pPr>
            <a:r>
              <a:rPr sz="1200" b="0">
                <a:solidFill>
                  <a:srgbClr val="5B6372"/>
                </a:solidFill>
                <a:latin typeface="Arial"/>
              </a:rPr>
              <a:t>Explain the importance of using appropriate cryptographic solutions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General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 Security Controls Categorization</a:t>
            </a:r>
          </a:p>
          <a:p>
            <a:pPr>
              <a:spcAft>
                <a:spcPts val="900"/>
              </a:spcAft>
            </a:pPr>
            <a:r>
              <a:rPr sz="1400" b="0">
                <a:solidFill>
                  <a:srgbClr val="161B26"/>
                </a:solidFill>
                <a:latin typeface="Arial"/>
              </a:rPr>
              <a:t>•  2. CIA Triad and AAA on Linux</a:t>
            </a:r>
          </a:p>
          <a:p>
            <a:pPr>
              <a:spcAft>
                <a:spcPts val="900"/>
              </a:spcAft>
            </a:pPr>
            <a:r>
              <a:rPr sz="1400" b="0">
                <a:solidFill>
                  <a:srgbClr val="161B26"/>
                </a:solidFill>
                <a:latin typeface="Arial"/>
              </a:rPr>
              <a:t>•  3. Deception: Honeypots, Honeyfiles and Honeytokens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 Change Management with Version-Controlled Configuration</a:t>
            </a:r>
          </a:p>
          <a:p>
            <a:pPr>
              <a:spcAft>
                <a:spcPts val="900"/>
              </a:spcAft>
            </a:pPr>
            <a:r>
              <a:rPr sz="1400" b="0">
                <a:solidFill>
                  <a:srgbClr val="161B26"/>
                </a:solidFill>
                <a:latin typeface="Arial"/>
              </a:rPr>
              <a:t>•  5. Hashing, Salting, and Digital Signatures</a:t>
            </a:r>
          </a:p>
          <a:p>
            <a:pPr>
              <a:spcAft>
                <a:spcPts val="900"/>
              </a:spcAft>
            </a:pPr>
            <a:r>
              <a:rPr sz="1400" b="0">
                <a:solidFill>
                  <a:srgbClr val="161B26"/>
                </a:solidFill>
                <a:latin typeface="Arial"/>
              </a:rPr>
              <a:t>•  6. Symmetric vs. Asymmetric Encryption and Key Exchange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7. PKI: Build Your Own Certificate Authority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Types of Security Controls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Categories · Control types · Layering · Compensating controls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1.1 · CONTROLS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control has a category and a type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Category is how a control is implemented: technical, managerial, operational or physical. Type is what it achieves: prevent, deter, detect, correct, compensate or direct.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CATEGORIES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Four Control Categories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Technical</a:t>
            </a:r>
          </a:p>
          <a:p>
            <a:pPr algn="l">
              <a:spcAft>
                <a:spcPts val="300"/>
              </a:spcAft>
            </a:pPr>
            <a:r>
              <a:rPr sz="1100" b="0">
                <a:solidFill>
                  <a:srgbClr val="5B6372"/>
                </a:solidFill>
                <a:latin typeface="Arial"/>
              </a:rPr>
              <a:t>Implemented in hardware, software or firmware logic. Examples are firewalls, MFA, encryption, antivirus and SELinux policy.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Managerial</a:t>
            </a:r>
          </a:p>
          <a:p>
            <a:pPr algn="l">
              <a:spcAft>
                <a:spcPts val="300"/>
              </a:spcAft>
            </a:pPr>
            <a:r>
              <a:rPr sz="1100" b="0">
                <a:solidFill>
                  <a:srgbClr val="5B6372"/>
                </a:solidFill>
                <a:latin typeface="Arial"/>
              </a:rPr>
              <a:t>Oversight and planning decisions made by management. Examples are risk assessments, security policies and change approval.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Operational</a:t>
            </a:r>
          </a:p>
          <a:p>
            <a:pPr algn="l">
              <a:spcAft>
                <a:spcPts val="300"/>
              </a:spcAft>
            </a:pPr>
            <a:r>
              <a:rPr sz="1100" b="0">
                <a:solidFill>
                  <a:srgbClr val="5B6372"/>
                </a:solidFill>
                <a:latin typeface="Arial"/>
              </a:rPr>
              <a:t>Carried out by people day to day. Examples are awareness training, log review shifts, guard patrols and backup rotation.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Physical</a:t>
            </a:r>
          </a:p>
          <a:p>
            <a:pPr algn="l">
              <a:spcAft>
                <a:spcPts val="300"/>
              </a:spcAft>
            </a:pPr>
            <a:r>
              <a:rPr sz="1100" b="0">
                <a:solidFill>
                  <a:srgbClr val="5B6372"/>
                </a:solidFill>
                <a:latin typeface="Arial"/>
              </a:rPr>
              <a:t>Act on the physical world to restrict or monitor access. Examples are fences, bollards, badge readers, locks and CCTV.</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CONTROL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Six Control Types by Function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Preventive</a:t>
            </a:r>
          </a:p>
          <a:p>
            <a:pPr algn="l">
              <a:spcAft>
                <a:spcPts val="300"/>
              </a:spcAft>
            </a:pPr>
            <a:r>
              <a:rPr sz="1200" b="0">
                <a:solidFill>
                  <a:srgbClr val="5B6372"/>
                </a:solidFill>
                <a:latin typeface="Arial"/>
              </a:rPr>
              <a:t>Stops the event happening at all. An iptables DROP rule, a locked door and an account lockout policy are preventive.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Deterrent</a:t>
            </a:r>
          </a:p>
          <a:p>
            <a:pPr algn="l">
              <a:spcAft>
                <a:spcPts val="300"/>
              </a:spcAft>
            </a:pPr>
            <a:r>
              <a:rPr sz="1200" b="0">
                <a:solidFill>
                  <a:srgbClr val="5B6372"/>
                </a:solidFill>
                <a:latin typeface="Arial"/>
              </a:rPr>
              <a:t>Discourages an attacker who is still deciding. Warning banners, visible CCTV signage and lighting are deterrents.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Detective</a:t>
            </a:r>
          </a:p>
          <a:p>
            <a:pPr algn="l">
              <a:spcAft>
                <a:spcPts val="300"/>
              </a:spcAft>
            </a:pPr>
            <a:r>
              <a:rPr sz="1200" b="0">
                <a:solidFill>
                  <a:srgbClr val="5B6372"/>
                </a:solidFill>
                <a:latin typeface="Arial"/>
              </a:rPr>
              <a:t>Identifies that an event happened, usually after the fact. Examples are auditd rules, IDS and SIEM alerts and log reviews.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Corrective</a:t>
            </a:r>
          </a:p>
          <a:p>
            <a:pPr algn="l">
              <a:spcAft>
                <a:spcPts val="300"/>
              </a:spcAft>
            </a:pPr>
            <a:r>
              <a:rPr sz="1200" b="0">
                <a:solidFill>
                  <a:srgbClr val="5B6372"/>
                </a:solidFill>
                <a:latin typeface="Arial"/>
              </a:rPr>
              <a:t>Restores the system after an event. Restoring from backup, quarantining malware and patching the flaw are corrective.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Compensating</a:t>
            </a:r>
          </a:p>
          <a:p>
            <a:pPr algn="l">
              <a:spcAft>
                <a:spcPts val="300"/>
              </a:spcAft>
            </a:pPr>
            <a:r>
              <a:rPr sz="1200" b="0">
                <a:solidFill>
                  <a:srgbClr val="5B6372"/>
                </a:solidFill>
                <a:latin typeface="Arial"/>
              </a:rPr>
              <a:t>An alternative used when the primary control is not feasible, such as segmenting an unpatchable legacy host.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Directive</a:t>
            </a:r>
          </a:p>
          <a:p>
            <a:pPr algn="l">
              <a:spcAft>
                <a:spcPts val="300"/>
              </a:spcAft>
            </a:pPr>
            <a:r>
              <a:rPr sz="1200" b="0">
                <a:solidFill>
                  <a:srgbClr val="5B6372"/>
                </a:solidFill>
                <a:latin typeface="Arial"/>
              </a:rPr>
              <a:t>Instructs people what they must do. Acceptable use policies, procedures, standards and signage that gives orders are directive.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CLASSIFY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Control, Two Answers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deny rule</a:t>
            </a:r>
          </a:p>
          <a:p>
            <a:pPr algn="l">
              <a:spcAft>
                <a:spcPts val="300"/>
              </a:spcAft>
            </a:pPr>
            <a:r>
              <a:rPr sz="1100" b="0">
                <a:solidFill>
                  <a:srgbClr val="5B6372"/>
                </a:solidFill>
                <a:latin typeface="Arial"/>
              </a:rPr>
              <a:t>Technical category, preventive type. It blocks the connection before the service ever sees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 guard</a:t>
            </a:r>
          </a:p>
          <a:p>
            <a:pPr algn="l">
              <a:spcAft>
                <a:spcPts val="300"/>
              </a:spcAft>
            </a:pPr>
            <a:r>
              <a:rPr sz="1100" b="0">
                <a:solidFill>
                  <a:srgbClr val="5B6372"/>
                </a:solidFill>
                <a:latin typeface="Arial"/>
              </a:rPr>
              <a:t>Physical or operational category, because a person delivers it. Preventive and deterrent, and detective on patrol.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CCTV camera</a:t>
            </a:r>
          </a:p>
          <a:p>
            <a:pPr algn="l">
              <a:spcAft>
                <a:spcPts val="300"/>
              </a:spcAft>
            </a:pPr>
            <a:r>
              <a:rPr sz="1100" b="0">
                <a:solidFill>
                  <a:srgbClr val="5B6372"/>
                </a:solidFill>
                <a:latin typeface="Arial"/>
              </a:rPr>
              <a:t>Physical category, detective type. A visible camera with signage also works as a deterrent.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Acceptable use policy</a:t>
            </a:r>
          </a:p>
          <a:p>
            <a:pPr algn="l">
              <a:spcAft>
                <a:spcPts val="300"/>
              </a:spcAft>
            </a:pPr>
            <a:r>
              <a:rPr sz="1100" b="0">
                <a:solidFill>
                  <a:srgbClr val="5B6372"/>
                </a:solidFill>
                <a:latin typeface="Arial"/>
              </a:rPr>
              <a:t>Managerial category, directive type. It tells staff what they must and must not do with company systems.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Restore from backup</a:t>
            </a:r>
          </a:p>
          <a:p>
            <a:pPr algn="l">
              <a:spcAft>
                <a:spcPts val="300"/>
              </a:spcAft>
            </a:pPr>
            <a:r>
              <a:rPr sz="1100" b="0">
                <a:solidFill>
                  <a:srgbClr val="5B6372"/>
                </a:solidFill>
                <a:latin typeface="Arial"/>
              </a:rPr>
              <a:t>Operational category when staff run it, corrective type. It returns the system to a known-good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Isolated legacy VLAN</a:t>
            </a:r>
          </a:p>
          <a:p>
            <a:pPr algn="l">
              <a:spcAft>
                <a:spcPts val="300"/>
              </a:spcAft>
            </a:pPr>
            <a:r>
              <a:rPr sz="1100" b="0">
                <a:solidFill>
                  <a:srgbClr val="5B6372"/>
                </a:solidFill>
                <a:latin typeface="Arial"/>
              </a:rPr>
              <a:t>Technical category, compensating type. It stands in for a patch that cannot be applied to the legacy host.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IN THE LAB</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Preventive iptables versus Detective auditd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iptables: preventive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auditd: detective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sits in the netfilter path and decides ACCEPT, DROP or REJECT before a service sees the packet.</a:t>
            </a:r>
          </a:p>
          <a:p>
            <a:pPr>
              <a:spcAft>
                <a:spcPts val="1000"/>
              </a:spcAft>
            </a:pPr>
            <a:r>
              <a:rPr sz="1600" b="0">
                <a:solidFill>
                  <a:srgbClr val="161B26"/>
                </a:solidFill>
                <a:latin typeface="Arial"/>
              </a:rPr>
              <a:t>•  The rule iptables -I INPUT -p tcp --dport 23 -j DROP blocks inbound Telnet outright.</a:t>
            </a:r>
          </a:p>
          <a:p>
            <a:pPr>
              <a:spcAft>
                <a:spcPts val="1000"/>
              </a:spcAft>
            </a:pPr>
            <a:r>
              <a:rPr sz="1600" b="0">
                <a:solidFill>
                  <a:srgbClr val="161B26"/>
                </a:solidFill>
                <a:latin typeface="Arial"/>
              </a:rPr>
              <a:t>•  Its failure mode is a broken service, because a wrong rule silently denies legitimate traffic.</a:t>
            </a:r>
          </a:p>
          <a:p>
            <a:pPr>
              <a:spcAft>
                <a:spcPts val="1000"/>
              </a:spcAft>
            </a:pPr>
            <a:r>
              <a:rPr sz="1600" b="0">
                <a:solidFill>
                  <a:srgbClr val="161B26"/>
                </a:solidFill>
                <a:latin typeface="Arial"/>
              </a:rPr>
              <a:t>•  It is technical in category and preventive in type, which are two separate exam answers.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hooks the kernel audit subsystem and records syscalls and file access in the audit log.</a:t>
            </a:r>
          </a:p>
          <a:p>
            <a:pPr>
              <a:spcAft>
                <a:spcPts val="1000"/>
              </a:spcAft>
            </a:pPr>
            <a:r>
              <a:rPr sz="1600" b="0">
                <a:solidFill>
                  <a:srgbClr val="161B26"/>
                </a:solidFill>
                <a:latin typeface="Arial"/>
              </a:rPr>
              <a:t>•  The rule auditctl -w /etc/passwd -p wa -k passwd_changes flags writes and attribute changes.</a:t>
            </a:r>
          </a:p>
          <a:p>
            <a:pPr>
              <a:spcAft>
                <a:spcPts val="1000"/>
              </a:spcAft>
            </a:pPr>
            <a:r>
              <a:rPr sz="1600" b="0">
                <a:solidFill>
                  <a:srgbClr val="161B26"/>
                </a:solidFill>
                <a:latin typeface="Arial"/>
              </a:rPr>
              <a:t>•  It never blocks anything, so a detective control alone cannot stop an attack in progress.</a:t>
            </a:r>
          </a:p>
          <a:p>
            <a:pPr>
              <a:spcAft>
                <a:spcPts val="1000"/>
              </a:spcAft>
            </a:pPr>
            <a:r>
              <a:rPr sz="1600" b="0">
                <a:solidFill>
                  <a:srgbClr val="161B26"/>
                </a:solidFill>
                <a:latin typeface="Arial"/>
              </a:rPr>
              <a:t>•  You query it with ausearch -k passwd_changes and summarise it with aureport.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1.1 · LAYERING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Control Types Along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Directive: policy sets the expected behaviour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Deterrent: banners and lighting discourage the attempt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Preventive: firewall and MFA block the attack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Detective: IDS and SIEM alert on what got through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Corrective: isolate, patch and restore service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CONFUSED PAIRS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Commonly Confused Control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Deter vs prevent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deterrent discourages but can be ignored.</a:t>
            </a:r>
          </a:p>
          <a:p>
            <a:pPr>
              <a:spcAft>
                <a:spcPts val="900"/>
              </a:spcAft>
            </a:pPr>
            <a:r>
              <a:rPr sz="1400" b="0">
                <a:solidFill>
                  <a:srgbClr val="161B26"/>
                </a:solidFill>
                <a:latin typeface="Arial"/>
              </a:rPr>
              <a:t>•  A preventive control blocks the action outright.</a:t>
            </a:r>
          </a:p>
          <a:p>
            <a:pPr>
              <a:spcAft>
                <a:spcPts val="900"/>
              </a:spcAft>
            </a:pPr>
            <a:r>
              <a:rPr sz="1400" b="0">
                <a:solidFill>
                  <a:srgbClr val="161B26"/>
                </a:solidFill>
                <a:latin typeface="Arial"/>
              </a:rPr>
              <a:t>•  A warning sign deters, a locked door prevents.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Correct vs compensate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Corrective repairs the damage after an incident.</a:t>
            </a:r>
          </a:p>
          <a:p>
            <a:pPr>
              <a:spcAft>
                <a:spcPts val="900"/>
              </a:spcAft>
            </a:pPr>
            <a:r>
              <a:rPr sz="1400" b="0">
                <a:solidFill>
                  <a:srgbClr val="161B26"/>
                </a:solidFill>
                <a:latin typeface="Arial"/>
              </a:rPr>
              <a:t>•  Compensating replaces a control that is not feasible.</a:t>
            </a:r>
          </a:p>
          <a:p>
            <a:pPr>
              <a:spcAft>
                <a:spcPts val="900"/>
              </a:spcAft>
            </a:pPr>
            <a:r>
              <a:rPr sz="1400" b="0">
                <a:solidFill>
                  <a:srgbClr val="161B26"/>
                </a:solidFill>
                <a:latin typeface="Arial"/>
              </a:rPr>
              <a:t>•  Restoring a backup corrects, isolating a host compensates.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Type vs category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Directive is a type: it tells people what to do.</a:t>
            </a:r>
          </a:p>
          <a:p>
            <a:pPr>
              <a:spcAft>
                <a:spcPts val="900"/>
              </a:spcAft>
            </a:pPr>
            <a:r>
              <a:rPr sz="1400" b="0">
                <a:solidFill>
                  <a:srgbClr val="161B26"/>
                </a:solidFill>
                <a:latin typeface="Arial"/>
              </a:rPr>
              <a:t>•  Managerial is a category: how the control is governed.</a:t>
            </a:r>
          </a:p>
          <a:p>
            <a:pPr>
              <a:spcAft>
                <a:spcPts val="900"/>
              </a:spcAft>
            </a:pPr>
            <a:r>
              <a:rPr sz="1400" b="0">
                <a:solidFill>
                  <a:srgbClr val="161B26"/>
                </a:solidFill>
                <a:latin typeface="Arial"/>
              </a:rPr>
              <a:t>•  A written policy is managerial and directive.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DEFENCE IN DEPTH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Layering Controls So One Failure Is Not Fatal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single control is enough, so layer categories and types so that one failure does not expose the asset.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Pair every preventive control with a detective one, because prevention eventually fails and you need to know when.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Mix categories: a technical firewall, a managerial policy, an operational review and a physical lock can guard one server.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compensating control must give equivalent protection, and frameworks such as PCI DSS require it to be documented and reviewed.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Map controls to a framework such as NIST SP 800-53 or the CIS Controls to find gaps and avoid duplicated effort.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Types of Security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Category = how it is implemented (technical, managerial, operational, physical). Type = what it does (preventive, detective...).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sign or banner is deterrent; a lock or firewall rule is preventive. If it only discourages, choose deterrent.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Compensating = substitute when the primary control is not feasible, such as isolating an unpatchable legacy system.</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Policies, procedures and AUPs are directive. Backups, patching and quarantine after an incident are corrective.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IDS, logs, CCTV and audits are detective: they record or alert but never block on their own.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classifies real controls by category and type, then implements preventive, deterrent, detective, corrective and compensating controls on one Linux host.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matrix, an iptables block with a jump-host exception, a banner, an auditd watch and a restore.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iptables, auditd, ausearch, sshd, sha256sum, column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iptables auditd bsdextrautils curl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control matrix</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/root/lab01/controls.csv</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technical preventive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-I INPUT -p tcp --dport 23 -j DROP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deterrent and directive control</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"Banner /etc/issue.net" &gt; /etc/ssh/sshd_config.d/10-banner.conf &amp;&amp; sshd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technical detective control</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auditctl -w /etc/passwd -p wa -k passwd_changes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corrective control</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/root/known-good/issue.net.sha256 || cp -a /root/known-good/issue.net /etc/issue.net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compensating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-I INPUT 1 -s 10.10.10.5 -p tcp --dport 23 -j ACCEPT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Map what you built back to the matrix</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/root/lab01/evidence.csv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Controls Categorization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iptables shows LOG, jump-host ACCEPT and DROP rules for port 23, sshd -T shows the banner, ausearch shows the useradd event and the banner hash is 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Fundamental Security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CIA · Non-repudiation · AAA · Gap analysis · Zero Trust · Physical · Deception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CIA TRIAD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CIA Triad in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Confidentiality</a:t>
            </a:r>
          </a:p>
          <a:p>
            <a:pPr algn="l">
              <a:spcAft>
                <a:spcPts val="300"/>
              </a:spcAft>
            </a:pPr>
            <a:r>
              <a:rPr sz="1200" b="0">
                <a:solidFill>
                  <a:srgbClr val="5B6372"/>
                </a:solidFill>
                <a:latin typeface="Arial"/>
              </a:rPr>
              <a:t>Only authorised subjects can read the data. Enforced by permissions, encryption at rest and in transit, and least privilege.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Integrity</a:t>
            </a:r>
          </a:p>
          <a:p>
            <a:pPr algn="l">
              <a:spcAft>
                <a:spcPts val="300"/>
              </a:spcAft>
            </a:pPr>
            <a:r>
              <a:rPr sz="1200" b="0">
                <a:solidFill>
                  <a:srgbClr val="5B6372"/>
                </a:solidFill>
                <a:latin typeface="Arial"/>
              </a:rPr>
              <a:t>Data is not altered without authorisation. Verified by hashes, digital signatures, version control and file integrity monitoring.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a:t>
            </a:r>
          </a:p>
          <a:p>
            <a:pPr algn="l">
              <a:spcAft>
                <a:spcPts val="300"/>
              </a:spcAft>
            </a:pPr>
            <a:r>
              <a:rPr sz="1200" b="0">
                <a:solidFill>
                  <a:srgbClr val="5B6372"/>
                </a:solidFill>
                <a:latin typeface="Arial"/>
              </a:rPr>
              <a:t>Data and services are reachable when needed. Delivered by redundancy, clustering, backups, patching and DDoS protection.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Non-repudiation</a:t>
            </a:r>
          </a:p>
          <a:p>
            <a:pPr algn="l">
              <a:spcAft>
                <a:spcPts val="300"/>
              </a:spcAft>
            </a:pPr>
            <a:r>
              <a:rPr sz="1200" b="0">
                <a:solidFill>
                  <a:srgbClr val="5B6372"/>
                </a:solidFill>
                <a:latin typeface="Arial"/>
              </a:rPr>
              <a:t>A related property, not part of the triad. It proves who acted, using digital signatures and trustworthy audit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NON-REPUDIATION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Integrity Alone versus Non-repudiation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Hash: integrity only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Signature: non-repudiation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hash such as SHA-256 proves the data has not changed since the digest was taken.</a:t>
            </a:r>
          </a:p>
          <a:p>
            <a:pPr>
              <a:spcAft>
                <a:spcPts val="1000"/>
              </a:spcAft>
            </a:pPr>
            <a:r>
              <a:rPr sz="1600" b="0">
                <a:solidFill>
                  <a:srgbClr val="161B26"/>
                </a:solidFill>
                <a:latin typeface="Arial"/>
              </a:rPr>
              <a:t>•  Anyone can recompute a hash, so it says nothing about who created the data.</a:t>
            </a:r>
          </a:p>
          <a:p>
            <a:pPr>
              <a:spcAft>
                <a:spcPts val="1000"/>
              </a:spcAft>
            </a:pPr>
            <a:r>
              <a:rPr sz="1600" b="0">
                <a:solidFill>
                  <a:srgbClr val="161B26"/>
                </a:solidFill>
                <a:latin typeface="Arial"/>
              </a:rPr>
              <a:t>•  An attacker who alters a file can simply publish a new matching hash.</a:t>
            </a:r>
          </a:p>
          <a:p>
            <a:pPr>
              <a:spcAft>
                <a:spcPts val="1000"/>
              </a:spcAft>
            </a:pPr>
            <a:r>
              <a:rPr sz="1600" b="0">
                <a:solidFill>
                  <a:srgbClr val="161B26"/>
                </a:solidFill>
                <a:latin typeface="Arial"/>
              </a:rPr>
              <a:t>•  An HMAC adds a shared key, but both parties hold it, so either could have made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digital signature is the hash encrypted with the signer's private key.</a:t>
            </a:r>
          </a:p>
          <a:p>
            <a:pPr>
              <a:spcAft>
                <a:spcPts val="1000"/>
              </a:spcAft>
            </a:pPr>
            <a:r>
              <a:rPr sz="1600" b="0">
                <a:solidFill>
                  <a:srgbClr val="161B26"/>
                </a:solidFill>
                <a:latin typeface="Arial"/>
              </a:rPr>
              <a:t>•  Only the private key holder could create it, so the signer cannot credibly deny it.</a:t>
            </a:r>
          </a:p>
          <a:p>
            <a:pPr>
              <a:spcAft>
                <a:spcPts val="1000"/>
              </a:spcAft>
            </a:pPr>
            <a:r>
              <a:rPr sz="1600" b="0">
                <a:solidFill>
                  <a:srgbClr val="161B26"/>
                </a:solidFill>
                <a:latin typeface="Arial"/>
              </a:rPr>
              <a:t>•  Verifying with the public key proves integrity, authenticity and origin together.</a:t>
            </a:r>
          </a:p>
          <a:p>
            <a:pPr>
              <a:spcAft>
                <a:spcPts val="1000"/>
              </a:spcAft>
            </a:pPr>
            <a:r>
              <a:rPr sz="1600" b="0">
                <a:solidFill>
                  <a:srgbClr val="161B26"/>
                </a:solidFill>
                <a:latin typeface="Arial"/>
              </a:rPr>
              <a:t>•  Tamper-evident audit logs and timestamps extend non-repudiation to user actions.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AAA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AAA: Three Separate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Authentication</a:t>
            </a:r>
          </a:p>
          <a:p>
            <a:pPr algn="l">
              <a:spcAft>
                <a:spcPts val="300"/>
              </a:spcAft>
            </a:pPr>
            <a:r>
              <a:rPr sz="1100" b="0">
                <a:solidFill>
                  <a:srgbClr val="5B6372"/>
                </a:solidFill>
                <a:latin typeface="Arial"/>
              </a:rPr>
              <a:t>Who are you? Proven by a password checked by PAM, an SSH key pair, a certificate, or a smart card plus PIN.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Authorization</a:t>
            </a:r>
          </a:p>
          <a:p>
            <a:pPr algn="l">
              <a:spcAft>
                <a:spcPts val="300"/>
              </a:spcAft>
            </a:pPr>
            <a:r>
              <a:rPr sz="1100" b="0">
                <a:solidFill>
                  <a:srgbClr val="5B6372"/>
                </a:solidFill>
                <a:latin typeface="Arial"/>
              </a:rPr>
              <a:t>What may you do? Enforced by file permissions, ACLs, sudoers rules, group membership and SELinux labels.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Accounting</a:t>
            </a:r>
          </a:p>
          <a:p>
            <a:pPr algn="l">
              <a:spcAft>
                <a:spcPts val="300"/>
              </a:spcAft>
            </a:pPr>
            <a:r>
              <a:rPr sz="1100" b="0">
                <a:solidFill>
                  <a:srgbClr val="5B6372"/>
                </a:solidFill>
                <a:latin typeface="Arial"/>
              </a:rPr>
              <a:t>What did you actually do? Recorded in auth logs, the audit log, RADIUS accounting records and SIEM events.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Common mistake</a:t>
            </a:r>
          </a:p>
          <a:p>
            <a:pPr algn="l">
              <a:spcAft>
                <a:spcPts val="300"/>
              </a:spcAft>
            </a:pPr>
            <a:r>
              <a:rPr sz="1100" b="0">
                <a:solidFill>
                  <a:srgbClr val="5B6372"/>
                </a:solidFill>
                <a:latin typeface="Arial"/>
              </a:rPr>
              <a:t>Treating sudo as authentication only. It re-authenticates you, but its real job is authorization plus accounting.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AUTHENTICATING PEOPLE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Authenticating People: The Factors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A password, PIN or passphrase. The weakest factor, because it can be guessed, phished or reused across sites.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A smart card, hardware security key, or phone running an authenticator app that produces one-time codes.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A biometric such as a fingerprint, face or iris. Convenient, but it cannot be changed if the template leaks.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from GPS or IP address. Used as an extra risk signal rather than a stand-alone factor.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Multifactor</a:t>
            </a:r>
          </a:p>
          <a:p>
            <a:pPr algn="l">
              <a:spcAft>
                <a:spcPts val="300"/>
              </a:spcAft>
            </a:pPr>
            <a:r>
              <a:rPr sz="1200" b="0">
                <a:solidFill>
                  <a:srgbClr val="5B6372"/>
                </a:solidFill>
                <a:latin typeface="Arial"/>
              </a:rPr>
              <a:t>MFA combines two or more different factor types. A password plus a PIN is still only one factor type.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AUTHENTICATING SYSTEMS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Authenticating Systems and Devices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 certificates</a:t>
            </a:r>
          </a:p>
          <a:p>
            <a:pPr algn="l">
              <a:spcAft>
                <a:spcPts val="300"/>
              </a:spcAft>
            </a:pPr>
            <a:r>
              <a:rPr sz="1200" b="0">
                <a:solidFill>
                  <a:srgbClr val="5B6372"/>
                </a:solidFill>
                <a:latin typeface="Arial"/>
              </a:rPr>
              <a:t>A machine presents an X.509 certificate, as in 802.1X network access control or mutual TLS between services.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 host and user keys</a:t>
            </a:r>
          </a:p>
          <a:p>
            <a:pPr algn="l">
              <a:spcAft>
                <a:spcPts val="300"/>
              </a:spcAft>
            </a:pPr>
            <a:r>
              <a:rPr sz="1200" b="0">
                <a:solidFill>
                  <a:srgbClr val="5B6372"/>
                </a:solidFill>
                <a:latin typeface="Arial"/>
              </a:rPr>
              <a:t>The server proves itself with a host key, and automation logs in with a key pair instead of a password.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accounts</a:t>
            </a:r>
          </a:p>
          <a:p>
            <a:pPr algn="l">
              <a:spcAft>
                <a:spcPts val="300"/>
              </a:spcAft>
            </a:pPr>
            <a:r>
              <a:rPr sz="1200" b="0">
                <a:solidFill>
                  <a:srgbClr val="5B6372"/>
                </a:solidFill>
                <a:latin typeface="Arial"/>
              </a:rPr>
              <a:t>Non-human accounts run applications. Give them least privilege, no interactive login and rotated secrets.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keys and tokens</a:t>
            </a:r>
          </a:p>
          <a:p>
            <a:pPr algn="l">
              <a:spcAft>
                <a:spcPts val="300"/>
              </a:spcAft>
            </a:pPr>
            <a:r>
              <a:rPr sz="1200" b="0">
                <a:solidFill>
                  <a:srgbClr val="5B6372"/>
                </a:solidFill>
                <a:latin typeface="Arial"/>
              </a:rPr>
              <a:t>Applications authenticate to APIs with keys or OAuth tokens kept in a secrets vault, never in source code.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TPM attestation</a:t>
            </a:r>
          </a:p>
          <a:p>
            <a:pPr algn="l">
              <a:spcAft>
                <a:spcPts val="300"/>
              </a:spcAft>
            </a:pPr>
            <a:r>
              <a:rPr sz="1200" b="0">
                <a:solidFill>
                  <a:srgbClr val="5B6372"/>
                </a:solidFill>
                <a:latin typeface="Arial"/>
              </a:rPr>
              <a:t>A device proves it booted a trusted configuration by signing boot measurements with a key held in its TPM.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AUTHORIZATION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Authorization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Discretionary (DAC)</a:t>
            </a:r>
          </a:p>
          <a:p>
            <a:pPr algn="l">
              <a:spcAft>
                <a:spcPts val="300"/>
              </a:spcAft>
            </a:pPr>
            <a:r>
              <a:rPr sz="1200" b="0">
                <a:solidFill>
                  <a:srgbClr val="5B6372"/>
                </a:solidFill>
                <a:latin typeface="Arial"/>
              </a:rPr>
              <a:t>The owner decides who gets access, as with Linux file permissions. Flexible but prone to over-sharing.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Mandatory (MAC)</a:t>
            </a:r>
          </a:p>
          <a:p>
            <a:pPr algn="l">
              <a:spcAft>
                <a:spcPts val="300"/>
              </a:spcAft>
            </a:pPr>
            <a:r>
              <a:rPr sz="1200" b="0">
                <a:solidFill>
                  <a:srgbClr val="5B6372"/>
                </a:solidFill>
                <a:latin typeface="Arial"/>
              </a:rPr>
              <a:t>The system enforces labels such as Secret and Top Secret that users cannot change. SELinux is an example.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Role-based (RBAC)</a:t>
            </a:r>
          </a:p>
          <a:p>
            <a:pPr algn="l">
              <a:spcAft>
                <a:spcPts val="300"/>
              </a:spcAft>
            </a:pPr>
            <a:r>
              <a:rPr sz="1200" b="0">
                <a:solidFill>
                  <a:srgbClr val="5B6372"/>
                </a:solidFill>
                <a:latin typeface="Arial"/>
              </a:rPr>
              <a:t>Permissions attach to job roles, and users inherit them by being placed in a role or group.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Attribute-based (ABAC)</a:t>
            </a:r>
          </a:p>
          <a:p>
            <a:pPr algn="l">
              <a:spcAft>
                <a:spcPts val="300"/>
              </a:spcAft>
            </a:pPr>
            <a:r>
              <a:rPr sz="1200" b="0">
                <a:solidFill>
                  <a:srgbClr val="5B6372"/>
                </a:solidFill>
                <a:latin typeface="Arial"/>
              </a:rPr>
              <a:t>Decisions evaluate attributes of the user, resource and context, such as department, device and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Rule-based</a:t>
            </a:r>
          </a:p>
          <a:p>
            <a:pPr algn="l">
              <a:spcAft>
                <a:spcPts val="300"/>
              </a:spcAft>
            </a:pPr>
            <a:r>
              <a:rPr sz="1200" b="0">
                <a:solidFill>
                  <a:srgbClr val="5B6372"/>
                </a:solidFill>
                <a:latin typeface="Arial"/>
              </a:rPr>
              <a:t>System-wide rules apply to everyone, such as firewall ACLs or a rule that blocks logins outside office hours.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Whatever the model, grant only the access needed for the task and remove it when it is no longer needed.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GAP ANALYSIS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Gap Analysis in Five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 target framework such as NIST CSF or ISO 27001</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 the current state of controls and processes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the current state with each target requirement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each gap with a risk rating and an owner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a remediation roadmap, then reassess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1.2 · ZERO TRUST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Zero Trust: never trust, always verify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 user, device or network location is trusted by default. Every request is authenticated, authorised and encrypted, and access is granted per session with least privilege.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ZERO TRUST PLANES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Zero Trust Control Plane versus Data Plane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Control plane: decides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Data plane: enforces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Adaptive identity adjusts trust using context such as device health, location and behaviour.</a:t>
            </a:r>
          </a:p>
          <a:p>
            <a:pPr>
              <a:spcAft>
                <a:spcPts val="1000"/>
              </a:spcAft>
            </a:pPr>
            <a:r>
              <a:rPr sz="1600" b="0">
                <a:solidFill>
                  <a:srgbClr val="161B26"/>
                </a:solidFill>
                <a:latin typeface="Arial"/>
              </a:rPr>
              <a:t>•  Threat scope reduction limits each subject to the smallest set of resources it needs.</a:t>
            </a:r>
          </a:p>
          <a:p>
            <a:pPr>
              <a:spcAft>
                <a:spcPts val="1000"/>
              </a:spcAft>
            </a:pPr>
            <a:r>
              <a:rPr sz="1600" b="0">
                <a:solidFill>
                  <a:srgbClr val="161B26"/>
                </a:solidFill>
                <a:latin typeface="Arial"/>
              </a:rPr>
              <a:t>•  Policy-driven access control turns business rules into machine-enforced policy.</a:t>
            </a:r>
          </a:p>
          <a:p>
            <a:pPr>
              <a:spcAft>
                <a:spcPts val="1000"/>
              </a:spcAft>
            </a:pPr>
            <a:r>
              <a:rPr sz="1600" b="0">
                <a:solidFill>
                  <a:srgbClr val="161B26"/>
                </a:solidFill>
                <a:latin typeface="Arial"/>
              </a:rPr>
              <a:t>•  The policy engine makes the decision and the policy administrator applies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subject or system is the user, device or workload requesting access.</a:t>
            </a:r>
          </a:p>
          <a:p>
            <a:pPr>
              <a:spcAft>
                <a:spcPts val="1000"/>
              </a:spcAft>
            </a:pPr>
            <a:r>
              <a:rPr sz="1600" b="0">
                <a:solidFill>
                  <a:srgbClr val="161B26"/>
                </a:solidFill>
                <a:latin typeface="Arial"/>
              </a:rPr>
              <a:t>•  The policy enforcement point sits in the traffic path and opens or closes the session.</a:t>
            </a:r>
          </a:p>
          <a:p>
            <a:pPr>
              <a:spcAft>
                <a:spcPts val="1000"/>
              </a:spcAft>
            </a:pPr>
            <a:r>
              <a:rPr sz="1600" b="0">
                <a:solidFill>
                  <a:srgbClr val="161B26"/>
                </a:solidFill>
                <a:latin typeface="Arial"/>
              </a:rPr>
              <a:t>•  Implicit trust zones are areas behind a PEP where traffic is trusted after the check.</a:t>
            </a:r>
          </a:p>
          <a:p>
            <a:pPr>
              <a:spcAft>
                <a:spcPts val="1000"/>
              </a:spcAft>
            </a:pPr>
            <a:r>
              <a:rPr sz="1600" b="0">
                <a:solidFill>
                  <a:srgbClr val="161B26"/>
                </a:solidFill>
                <a:latin typeface="Arial"/>
              </a:rPr>
              <a:t>•  Zero Trust shrinks implicit trust zones so they sit as close to the resource as possible.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ZERO TRUST FLOW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a Zero Trust Access Request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Subject requests a resource through the PEP</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PEP forwards the request to the control plane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Policy engine scores identity, device and context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Policy administrator tells the PEP to allow or deny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PEP opens a session and keeps re-evaluating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PHYSICAL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Security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Bollards</a:t>
            </a:r>
          </a:p>
          <a:p>
            <a:pPr algn="l">
              <a:spcAft>
                <a:spcPts val="300"/>
              </a:spcAft>
            </a:pPr>
            <a:r>
              <a:rPr sz="1200" b="0">
                <a:solidFill>
                  <a:srgbClr val="5B6372"/>
                </a:solidFill>
                <a:latin typeface="Arial"/>
              </a:rPr>
              <a:t>Short, sturdy posts that stop vehicles ramming entrances while still letting pedestrians pass between them.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control vestibule</a:t>
            </a:r>
          </a:p>
          <a:p>
            <a:pPr algn="l">
              <a:spcAft>
                <a:spcPts val="300"/>
              </a:spcAft>
            </a:pPr>
            <a:r>
              <a:rPr sz="1200" b="0">
                <a:solidFill>
                  <a:srgbClr val="5B6372"/>
                </a:solidFill>
                <a:latin typeface="Arial"/>
              </a:rPr>
              <a:t>Two interlocking doors where only one opens at a time, stopping tailgating and piggybacking. Formerly a mantrap.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Fencing</a:t>
            </a:r>
          </a:p>
          <a:p>
            <a:pPr algn="l">
              <a:spcAft>
                <a:spcPts val="300"/>
              </a:spcAft>
            </a:pPr>
            <a:r>
              <a:rPr sz="1200" b="0">
                <a:solidFill>
                  <a:srgbClr val="5B6372"/>
                </a:solidFill>
                <a:latin typeface="Arial"/>
              </a:rPr>
              <a:t>Marks the perimeter and delays intruders. Height, anti-climb mesh and razor wire raise its deterrent value.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Video surveillance</a:t>
            </a:r>
          </a:p>
          <a:p>
            <a:pPr algn="l">
              <a:spcAft>
                <a:spcPts val="300"/>
              </a:spcAft>
            </a:pPr>
            <a:r>
              <a:rPr sz="1200" b="0">
                <a:solidFill>
                  <a:srgbClr val="5B6372"/>
                </a:solidFill>
                <a:latin typeface="Arial"/>
              </a:rPr>
              <a:t>CCTV records and can alert on motion or objects. It is detective, and visible cameras also deter.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guard</a:t>
            </a:r>
          </a:p>
          <a:p>
            <a:pPr algn="l">
              <a:spcAft>
                <a:spcPts val="300"/>
              </a:spcAft>
            </a:pPr>
            <a:r>
              <a:rPr sz="1200" b="0">
                <a:solidFill>
                  <a:srgbClr val="5B6372"/>
                </a:solidFill>
                <a:latin typeface="Arial"/>
              </a:rPr>
              <a:t>A person who can make judgement calls, check identities and respond. Two-person integrity limits insider risk.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badge</a:t>
            </a:r>
          </a:p>
          <a:p>
            <a:pPr algn="l">
              <a:spcAft>
                <a:spcPts val="300"/>
              </a:spcAft>
            </a:pPr>
            <a:r>
              <a:rPr sz="1200" b="0">
                <a:solidFill>
                  <a:srgbClr val="5B6372"/>
                </a:solidFill>
                <a:latin typeface="Arial"/>
              </a:rPr>
              <a:t>An ID card, often RFID or a smart card, that opens doors and logs each entry. Badges should be worn and checked.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PHYSICAL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Security Controls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Lighting</a:t>
            </a:r>
          </a:p>
          <a:p>
            <a:pPr algn="l">
              <a:spcAft>
                <a:spcPts val="300"/>
              </a:spcAft>
            </a:pPr>
            <a:r>
              <a:rPr sz="1200" b="0">
                <a:solidFill>
                  <a:srgbClr val="5B6372"/>
                </a:solidFill>
                <a:latin typeface="Arial"/>
              </a:rPr>
              <a:t>Good lighting deters intruders and lets cameras and guards see clearly. Dark areas around buildings invite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SENSORS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Sensors That Detect Intrusion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Infrared</a:t>
            </a:r>
          </a:p>
          <a:p>
            <a:pPr algn="l">
              <a:spcAft>
                <a:spcPts val="300"/>
              </a:spcAft>
            </a:pPr>
            <a:r>
              <a:rPr sz="1200" b="0">
                <a:solidFill>
                  <a:srgbClr val="5B6372"/>
                </a:solidFill>
                <a:latin typeface="Arial"/>
              </a:rPr>
              <a:t>Passive infrared detects changes in heat, such as a body moving through a room. Common in motion detectors.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Pressure</a:t>
            </a:r>
          </a:p>
          <a:p>
            <a:pPr algn="l">
              <a:spcAft>
                <a:spcPts val="300"/>
              </a:spcAft>
            </a:pPr>
            <a:r>
              <a:rPr sz="1200" b="0">
                <a:solidFill>
                  <a:srgbClr val="5B6372"/>
                </a:solidFill>
                <a:latin typeface="Arial"/>
              </a:rPr>
              <a:t>Detects weight or force on a floor mat, window or seat. Useful in doorways and vaults where people must step.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Microwave</a:t>
            </a:r>
          </a:p>
          <a:p>
            <a:pPr algn="l">
              <a:spcAft>
                <a:spcPts val="300"/>
              </a:spcAft>
            </a:pPr>
            <a:r>
              <a:rPr sz="1200" b="0">
                <a:solidFill>
                  <a:srgbClr val="5B6372"/>
                </a:solidFill>
                <a:latin typeface="Arial"/>
              </a:rPr>
              <a:t>Emits microwave pulses and measures reflections. Covers a wider area than infrared but is prone to false alarms.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Ultrasonic</a:t>
            </a:r>
          </a:p>
          <a:p>
            <a:pPr algn="l">
              <a:spcAft>
                <a:spcPts val="300"/>
              </a:spcAft>
            </a:pPr>
            <a:r>
              <a:rPr sz="1200" b="0">
                <a:solidFill>
                  <a:srgbClr val="5B6372"/>
                </a:solidFill>
                <a:latin typeface="Arial"/>
              </a:rPr>
              <a:t>Emits high-frequency sound and detects changes in the echo caused by movement in an enclosed space.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1.2 · DECEPTION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Deception and Disruption Technology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Honeypot</a:t>
            </a:r>
          </a:p>
          <a:p>
            <a:pPr algn="l">
              <a:spcAft>
                <a:spcPts val="300"/>
              </a:spcAft>
            </a:pPr>
            <a:r>
              <a:rPr sz="1200" b="0">
                <a:solidFill>
                  <a:srgbClr val="5B6372"/>
                </a:solidFill>
                <a:latin typeface="Arial"/>
              </a:rPr>
              <a:t>A decoy system that looks valuable but has no production purpose, so any interaction with it is suspicious.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Honeynet</a:t>
            </a:r>
          </a:p>
          <a:p>
            <a:pPr algn="l">
              <a:spcAft>
                <a:spcPts val="300"/>
              </a:spcAft>
            </a:pPr>
            <a:r>
              <a:rPr sz="1200" b="0">
                <a:solidFill>
                  <a:srgbClr val="5B6372"/>
                </a:solidFill>
                <a:latin typeface="Arial"/>
              </a:rPr>
              <a:t>A network of honeypots that simulates a realistic environment to study attacker movement and tooling.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Honeyfile</a:t>
            </a:r>
          </a:p>
          <a:p>
            <a:pPr algn="l">
              <a:spcAft>
                <a:spcPts val="300"/>
              </a:spcAft>
            </a:pPr>
            <a:r>
              <a:rPr sz="1200" b="0">
                <a:solidFill>
                  <a:srgbClr val="5B6372"/>
                </a:solidFill>
                <a:latin typeface="Arial"/>
              </a:rPr>
              <a:t>A decoy file with a tempting name, such as passwords.xlsx, where any open or read raises an alert.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Honeytoken</a:t>
            </a:r>
          </a:p>
          <a:p>
            <a:pPr algn="l">
              <a:spcAft>
                <a:spcPts val="300"/>
              </a:spcAft>
            </a:pPr>
            <a:r>
              <a:rPr sz="1200" b="0">
                <a:solidFill>
                  <a:srgbClr val="5B6372"/>
                </a:solidFill>
                <a:latin typeface="Arial"/>
              </a:rPr>
              <a:t>Fake data such as a dummy credential, API key or database record. Its use anywhere proves a breach.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Disruption</a:t>
            </a:r>
          </a:p>
          <a:p>
            <a:pPr algn="l">
              <a:spcAft>
                <a:spcPts val="300"/>
              </a:spcAft>
            </a:pPr>
            <a:r>
              <a:rPr sz="1200" b="0">
                <a:solidFill>
                  <a:srgbClr val="5B6372"/>
                </a:solidFill>
                <a:latin typeface="Arial"/>
              </a:rPr>
              <a:t>Tactics such as DNS sinkholes and fake telemetry waste attacker time and reveal their tools and intent.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Safe deployment</a:t>
            </a:r>
          </a:p>
          <a:p>
            <a:pPr algn="l">
              <a:spcAft>
                <a:spcPts val="300"/>
              </a:spcAft>
            </a:pPr>
            <a:r>
              <a:rPr sz="1200" b="0">
                <a:solidFill>
                  <a:srgbClr val="5B6372"/>
                </a:solidFill>
                <a:latin typeface="Arial"/>
              </a:rPr>
              <a:t>Keep decoys isolated from production and on your own systems, and record everything they capture.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Fundamental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Non-repudiation comes from digital signatures (private key) plus logs. A hash alone gives integrity, not non-repudiation.</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Zero Trust the policy engine decides, the policy administrator executes, and the PEP enforces in the data plane.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access control vestibule stops tailgating, bollards stop vehicles, and lighting and signage mainly deter.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Honeyfile = decoy file, honeytoken = decoy data or credential, honeynet = network of honeypots.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Gap analysis compares the current state with a target framework or baseline and drives a remediation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enforces confidentiality, integrity and availability, authenticates a person by password hash and a system by SSH key, grants one least-privilege sudo command and traces it in the logs.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owner-only file, a hash baseline, a self-healing service, a key login and a scoped sudo rule.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chmod, sha256sum, systemd, chpasswd, openssl passwd, ssh-keygen, sudo, journalctl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create the lab users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openssh-server sudo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Confidentiality: restrict a file to its owner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chmod 600 /home/alice/secret.txt &amp;&amp; sudo -u bob cat /home/alice/secret.txt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Integrity: baseline a hash and detect tampering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/root/secret.sha256 || echo "INTEGRITY FAILED"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Availability: make a service self-heal</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kill -s SIGKILL cia-web; sleep 4; systemctl show cia-web -p NRestarts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Authentication of people: verify a password hash</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passwd -6 -salt "$SALT" 'Lab1234!'</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Authentication of systems: log in with an SSH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 -i /root/svc_backup_key -o BatchMode=yes alice@127.0.0.1 whoami</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Authorization: grant one least-privilege sudo command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visudo -cf /etc/sudoers.d/alice-ops &amp;&amp; sudo -l -U alice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Accounting: trace who did what in the logs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journalctl _COMM=sudo --no-pager | grep alice | tail -4</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CIA Triad and AAA on Linux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bob is denied the secret, the tampered hash fails, cia-web restarts itself, the key login works, alice can only restart cia-web, and journalctl shows her sudo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deploys a low-interaction honeypot, a honeyfile watched by auditd and inotify, a decoy cloud credential with a detection script and a two-decoy honeynet, then summarises the alerts.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logging honeypot, a watched honeyfile, a honeytoken detector and a namespace honeynet.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netcat, auditd, inotifywait, ip netns,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auditd inotify-tools netcat-openbsd iproute2 python3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low-interaction honeypot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py_compile /opt/honeypot/honeypot.py &amp;&amp; echo "honeypot OK"</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Deploy the honeypot and simulate an attacker probe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'root:toor\n' | nc -w 3 127.0.0.1 2222</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honeyfile and watch it with auditd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auditctl -w /srv/finance/payroll-2026-FINAL.csv -p r -k honeyfile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Raise a real-time honeyfile alert with inotifywait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inotifywait -m -e open /srv/finance/payroll-2026-FINAL.csv &gt;&gt; /var/log/honeyfile-alert.log &amp;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honeytoken and detect its use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/usr/local/bin/honeytoken-check.sh</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mini honeynet in a network namespace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add honeynet &amp;&amp; nc -zv -w 2 10.66.0.2 20-23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Summarise the deception alerts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HONEYPOT /var/log/honeypot.log | awk '{print $3, $4}' | sort | uniq -c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Deception: Honeypots, Honeyfiles and Honeytokens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honeypot log shows hits on ports 2222, 21 and 23, auditd records uid=intruder reading the honeyfile, and the check script prints ALERT for the honeytoken.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Change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Approval · Impact analysis · Backout · Technical implications · Documentation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OBJ 1.3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Change management keeps security and uptime aligned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Unplanned or unauthorised changes are a leading cause of outages and new vulnerabilities. A formal process makes every change reviewed, tested, approved, reversible and documented.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Change Management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a change request with scope and owner</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Analyse impact, risk and dependencies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Test in staging and record the results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CAB approves and schedules a maintenance window</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Implement and verify, or execute the backout plan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Update diagrams, documents and version control</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BUSINESS PROCESSES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Processes That Affect 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 process</a:t>
            </a:r>
          </a:p>
          <a:p>
            <a:pPr algn="l">
              <a:spcAft>
                <a:spcPts val="300"/>
              </a:spcAft>
            </a:pPr>
            <a:r>
              <a:rPr sz="1200" b="0">
                <a:solidFill>
                  <a:srgbClr val="5B6372"/>
                </a:solidFill>
                <a:latin typeface="Arial"/>
              </a:rPr>
              <a:t>A change advisory board or delegated approver signs off before work starts. No approval means no change.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Each change has a named owner who is accountable for planning, carrying out and reporting the outcome.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Stakeholders</a:t>
            </a:r>
          </a:p>
          <a:p>
            <a:pPr algn="l">
              <a:spcAft>
                <a:spcPts val="300"/>
              </a:spcAft>
            </a:pPr>
            <a:r>
              <a:rPr sz="1200" b="0">
                <a:solidFill>
                  <a:srgbClr val="5B6372"/>
                </a:solidFill>
                <a:latin typeface="Arial"/>
              </a:rPr>
              <a:t>Everyone affected, from business users to security and support teams, is consulted and kept informed.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 analysis</a:t>
            </a:r>
          </a:p>
          <a:p>
            <a:pPr algn="l">
              <a:spcAft>
                <a:spcPts val="300"/>
              </a:spcAft>
            </a:pPr>
            <a:r>
              <a:rPr sz="1200" b="0">
                <a:solidFill>
                  <a:srgbClr val="5B6372"/>
                </a:solidFill>
                <a:latin typeface="Arial"/>
              </a:rPr>
              <a:t>Assesses what could break, the security risk of making the change and of not making it, and who is affected.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results</a:t>
            </a:r>
          </a:p>
          <a:p>
            <a:pPr algn="l">
              <a:spcAft>
                <a:spcPts val="300"/>
              </a:spcAft>
            </a:pPr>
            <a:r>
              <a:rPr sz="1200" b="0">
                <a:solidFill>
                  <a:srgbClr val="5B6372"/>
                </a:solidFill>
                <a:latin typeface="Arial"/>
              </a:rPr>
              <a:t>Evidence from a staging environment that the change works and does not introduce new vulnerabilities.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Backout plan</a:t>
            </a:r>
          </a:p>
          <a:p>
            <a:pPr algn="l">
              <a:spcAft>
                <a:spcPts val="300"/>
              </a:spcAft>
            </a:pPr>
            <a:r>
              <a:rPr sz="1200" b="0">
                <a:solidFill>
                  <a:srgbClr val="5B6372"/>
                </a:solidFill>
                <a:latin typeface="Arial"/>
              </a:rPr>
              <a:t>Pre-agreed, tested steps to return to the previous state if the change fails. Always prepared in advance.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BUSINESS PROCESSES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Business Processes That Affect Security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Maintenance window</a:t>
            </a:r>
          </a:p>
          <a:p>
            <a:pPr algn="l">
              <a:spcAft>
                <a:spcPts val="300"/>
              </a:spcAft>
            </a:pPr>
            <a:r>
              <a:rPr sz="1200" b="0">
                <a:solidFill>
                  <a:srgbClr val="5B6372"/>
                </a:solidFill>
                <a:latin typeface="Arial"/>
              </a:rPr>
              <a:t>An agreed time slot, usually off-peak, when changes and any downtime have the least business impact.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operating procedure</a:t>
            </a:r>
          </a:p>
          <a:p>
            <a:pPr algn="l">
              <a:spcAft>
                <a:spcPts val="300"/>
              </a:spcAft>
            </a:pPr>
            <a:r>
              <a:rPr sz="1200" b="0">
                <a:solidFill>
                  <a:srgbClr val="5B6372"/>
                </a:solidFill>
                <a:latin typeface="Arial"/>
              </a:rPr>
              <a:t>A documented step-by-step method for routine changes, so they are done consistently and safely.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CHANGE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Planned Change versus Emergency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Planned (normal) change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Emergency change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Raised in advance, reviewed by the CAB and scheduled into a maintenance window.</a:t>
            </a:r>
          </a:p>
          <a:p>
            <a:pPr>
              <a:spcAft>
                <a:spcPts val="1000"/>
              </a:spcAft>
            </a:pPr>
            <a:r>
              <a:rPr sz="1600" b="0">
                <a:solidFill>
                  <a:srgbClr val="161B26"/>
                </a:solidFill>
                <a:latin typeface="Arial"/>
              </a:rPr>
              <a:t>•  Fully tested in staging, with documented results attached before approval.</a:t>
            </a:r>
          </a:p>
          <a:p>
            <a:pPr>
              <a:spcAft>
                <a:spcPts val="1000"/>
              </a:spcAft>
            </a:pPr>
            <a:r>
              <a:rPr sz="1600" b="0">
                <a:solidFill>
                  <a:srgbClr val="161B26"/>
                </a:solidFill>
                <a:latin typeface="Arial"/>
              </a:rPr>
              <a:t>•  Standard pre-approved changes follow an SOP and skip the full CAB review.</a:t>
            </a:r>
          </a:p>
          <a:p>
            <a:pPr>
              <a:spcAft>
                <a:spcPts val="1000"/>
              </a:spcAft>
            </a:pPr>
            <a:r>
              <a:rPr sz="1600" b="0">
                <a:solidFill>
                  <a:srgbClr val="161B26"/>
                </a:solidFill>
                <a:latin typeface="Arial"/>
              </a:rPr>
              <a:t>•  The default path for patches, upgrades and firewall rule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Used when waiting would cause greater harm, such as an actively exploited flaw.</a:t>
            </a:r>
          </a:p>
          <a:p>
            <a:pPr>
              <a:spcAft>
                <a:spcPts val="1000"/>
              </a:spcAft>
            </a:pPr>
            <a:r>
              <a:rPr sz="1600" b="0">
                <a:solidFill>
                  <a:srgbClr val="161B26"/>
                </a:solidFill>
                <a:latin typeface="Arial"/>
              </a:rPr>
              <a:t>•  An emergency CAB or delegated authority approves it quickly.</a:t>
            </a:r>
          </a:p>
          <a:p>
            <a:pPr>
              <a:spcAft>
                <a:spcPts val="1000"/>
              </a:spcAft>
            </a:pPr>
            <a:r>
              <a:rPr sz="1600" b="0">
                <a:solidFill>
                  <a:srgbClr val="161B26"/>
                </a:solidFill>
                <a:latin typeface="Arial"/>
              </a:rPr>
              <a:t>•  Testing may be reduced, so the backout plan and monitoring matter even more.</a:t>
            </a:r>
          </a:p>
          <a:p>
            <a:pPr>
              <a:spcAft>
                <a:spcPts val="1000"/>
              </a:spcAft>
            </a:pPr>
            <a:r>
              <a:rPr sz="1600" b="0">
                <a:solidFill>
                  <a:srgbClr val="161B26"/>
                </a:solidFill>
                <a:latin typeface="Arial"/>
              </a:rPr>
              <a:t>•  It is still documented and reviewed afterwards, never skipped altogether.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TECHNICAL IMPACT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Implications of a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 and deny lists</a:t>
            </a:r>
          </a:p>
          <a:p>
            <a:pPr algn="l">
              <a:spcAft>
                <a:spcPts val="300"/>
              </a:spcAft>
            </a:pPr>
            <a:r>
              <a:rPr sz="1200" b="0">
                <a:solidFill>
                  <a:srgbClr val="5B6372"/>
                </a:solidFill>
                <a:latin typeface="Arial"/>
              </a:rPr>
              <a:t>New software, hosts or IP ranges may need adding to allow lists or firewall rules, or the change will be blocked.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Restricted activities</a:t>
            </a:r>
          </a:p>
          <a:p>
            <a:pPr algn="l">
              <a:spcAft>
                <a:spcPts val="300"/>
              </a:spcAft>
            </a:pPr>
            <a:r>
              <a:rPr sz="1200" b="0">
                <a:solidFill>
                  <a:srgbClr val="5B6372"/>
                </a:solidFill>
                <a:latin typeface="Arial"/>
              </a:rPr>
              <a:t>The change scope defines what the implementer may touch. Work outside that scope is an unauthorised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Downtime</a:t>
            </a:r>
          </a:p>
          <a:p>
            <a:pPr algn="l">
              <a:spcAft>
                <a:spcPts val="300"/>
              </a:spcAft>
            </a:pPr>
            <a:r>
              <a:rPr sz="1200" b="0">
                <a:solidFill>
                  <a:srgbClr val="5B6372"/>
                </a:solidFill>
                <a:latin typeface="Arial"/>
              </a:rPr>
              <a:t>Some changes take a service offline. Plan it inside the window and tell users so they are not surprised.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restart</a:t>
            </a:r>
          </a:p>
          <a:p>
            <a:pPr algn="l">
              <a:spcAft>
                <a:spcPts val="300"/>
              </a:spcAft>
            </a:pPr>
            <a:r>
              <a:rPr sz="1200" b="0">
                <a:solidFill>
                  <a:srgbClr val="5B6372"/>
                </a:solidFill>
                <a:latin typeface="Arial"/>
              </a:rPr>
              <a:t>Many configuration changes need a daemon restart or reload. A reload keeps connections; a restart drops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restart</a:t>
            </a:r>
          </a:p>
          <a:p>
            <a:pPr algn="l">
              <a:spcAft>
                <a:spcPts val="300"/>
              </a:spcAft>
            </a:pPr>
            <a:r>
              <a:rPr sz="1200" b="0">
                <a:solidFill>
                  <a:srgbClr val="5B6372"/>
                </a:solidFill>
                <a:latin typeface="Arial"/>
              </a:rPr>
              <a:t>Applications may need restarting to load patches, which can drop user sessions and lose in-memory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Legacy applications</a:t>
            </a:r>
          </a:p>
          <a:p>
            <a:pPr algn="l">
              <a:spcAft>
                <a:spcPts val="300"/>
              </a:spcAft>
            </a:pPr>
            <a:r>
              <a:rPr sz="1200" b="0">
                <a:solidFill>
                  <a:srgbClr val="5B6372"/>
                </a:solidFill>
                <a:latin typeface="Arial"/>
              </a:rPr>
              <a:t>Older software may be unsupported, undocumented and fragile, so even small changes can break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1.3 · TECHNICAL IMPACT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Implications of a Change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Dependencies</a:t>
            </a:r>
          </a:p>
          <a:p>
            <a:pPr algn="l">
              <a:spcAft>
                <a:spcPts val="300"/>
              </a:spcAft>
            </a:pPr>
            <a:r>
              <a:rPr sz="1200" b="0">
                <a:solidFill>
                  <a:srgbClr val="5B6372"/>
                </a:solidFill>
                <a:latin typeface="Arial"/>
              </a:rPr>
              <a:t>Services rely on each other. Changing a database, library or certificate can break every app that uses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DOCUMENTATION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Documentation and Version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Updating diagrams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Network and data-flow diagrams must match reality.</a:t>
            </a:r>
          </a:p>
          <a:p>
            <a:pPr>
              <a:spcAft>
                <a:spcPts val="900"/>
              </a:spcAft>
            </a:pPr>
            <a:r>
              <a:rPr sz="1400" b="0">
                <a:solidFill>
                  <a:srgbClr val="161B26"/>
                </a:solidFill>
                <a:latin typeface="Arial"/>
              </a:rPr>
              <a:t>•  Outdated diagrams mislead responders in incidents.</a:t>
            </a:r>
          </a:p>
          <a:p>
            <a:pPr>
              <a:spcAft>
                <a:spcPts val="900"/>
              </a:spcAft>
            </a:pPr>
            <a:r>
              <a:rPr sz="1400" b="0">
                <a:solidFill>
                  <a:srgbClr val="161B26"/>
                </a:solidFill>
                <a:latin typeface="Arial"/>
              </a:rPr>
              <a:t>•  Update them as part of closing every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Policies, procedures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New systems may need new or revised procedures.</a:t>
            </a:r>
          </a:p>
          <a:p>
            <a:pPr>
              <a:spcAft>
                <a:spcPts val="900"/>
              </a:spcAft>
            </a:pPr>
            <a:r>
              <a:rPr sz="1400" b="0">
                <a:solidFill>
                  <a:srgbClr val="161B26"/>
                </a:solidFill>
                <a:latin typeface="Arial"/>
              </a:rPr>
              <a:t>•  SOPs and runbooks must reflect the new steps.</a:t>
            </a:r>
          </a:p>
          <a:p>
            <a:pPr>
              <a:spcAft>
                <a:spcPts val="900"/>
              </a:spcAft>
            </a:pPr>
            <a:r>
              <a:rPr sz="1400" b="0">
                <a:solidFill>
                  <a:srgbClr val="161B26"/>
                </a:solidFill>
                <a:latin typeface="Arial"/>
              </a:rPr>
              <a:t>•  Staff are told and trained on what changed.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Version 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Track every config and code change: who, what, when.</a:t>
            </a:r>
          </a:p>
          <a:p>
            <a:pPr>
              <a:spcAft>
                <a:spcPts val="900"/>
              </a:spcAft>
            </a:pPr>
            <a:r>
              <a:rPr sz="1400" b="0">
                <a:solidFill>
                  <a:srgbClr val="161B26"/>
                </a:solidFill>
                <a:latin typeface="Arial"/>
              </a:rPr>
              <a:t>•  Git or etckeeper lets you diff and roll back fast.</a:t>
            </a:r>
          </a:p>
          <a:p>
            <a:pPr>
              <a:spcAft>
                <a:spcPts val="900"/>
              </a:spcAft>
            </a:pPr>
            <a:r>
              <a:rPr sz="1400" b="0">
                <a:solidFill>
                  <a:srgbClr val="161B26"/>
                </a:solidFill>
                <a:latin typeface="Arial"/>
              </a:rPr>
              <a:t>•  Version numbers stop people using old documents.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SECURITY VALUE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Why Change Management Is a Security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Unauthorised changes are a classic sign of compromise, so anything outside the approved list must be investigated.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configuration baseline plus change control prevents configuration drift and keeps hardening settings in place.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Impact analysis includes the risk of not changing, such as leaving a critical vulnerability unpatched.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Separation of duties means the person who requests a change should not be the only person who approves 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Every change is logged, which gives an audit trail for incident response, forensics and compliance reviews.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Change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Backout plan = how to undo a failed change. It must exist before approval, not be written after things break.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Maintenance window = agreed low-impact time for changes. Impact analysis comes before approval, not after.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Dependencies and legacy applications are the usual reasons a simple change causes an outage.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Version control records who changed what and enables rollback; update diagrams and procedures when a change closes.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Allow lists may need updating after a change, or the new software or host will be blocked.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raises change CHG-1001, analyses impact, tests it on a staging nginx, applies it with a zero-downtime reload in the window, commits it with etckeeper and backs out an unauthorised edit.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change record, staging test results, an nginx allow and deny list, a git-tracked /etc and a backout.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etckeeper, git, nginx, curl, systemctl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DEBIAN_FRONTEND=noninteractive apt-get install -y etckeeper nginx git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Put /etc under version control and record the baseline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etckeeper commit "Baseline before CHG-1001"; git -C /etc log --oneline | head -5</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Raise the change request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/root/change/CHG-1001.txt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impact analysis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nginx; systemctl list-dependencies --reverse nginx.service --no-pager</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Stage and test the change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nginx -t -p /root/change/staging -c /root/change/staging/nginx.conf</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Approve and implement in the maintenance window</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nginx -t &amp;&amp; systemctl reload nginx</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Commit the change and update the documentation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etckeeper commit "CHG-1001: nginx admin allow list, deny list, nosniff header"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an unauthorised change and execute the backout plan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git -C /etc status --short nginx/ &amp;&amp; git -C /etc checkout -- nginx/conf.d/chg-1001.conf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Change Management with Version-Controlled Configuration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git log shows the CHG-1001 commit, git status shows no drift, port 8081 returns 200 for the monitoring host, the nosniff header is present and approval is recorded.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OBJECTIVE 1.4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Cryptographic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PKI · Encryption levels · Key exchange · Tools · Obfuscation · Hashing · Certificates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PKI</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Building Blocks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key</a:t>
            </a:r>
          </a:p>
          <a:p>
            <a:pPr algn="l">
              <a:spcAft>
                <a:spcPts val="300"/>
              </a:spcAft>
            </a:pPr>
            <a:r>
              <a:rPr sz="1200" b="0">
                <a:solidFill>
                  <a:srgbClr val="5B6372"/>
                </a:solidFill>
                <a:latin typeface="Arial"/>
              </a:rPr>
              <a:t>Shared freely. Used to encrypt data for the key owner and to verify the owner's digital signatures.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Private key</a:t>
            </a:r>
          </a:p>
          <a:p>
            <a:pPr algn="l">
              <a:spcAft>
                <a:spcPts val="300"/>
              </a:spcAft>
            </a:pPr>
            <a:r>
              <a:rPr sz="1200" b="0">
                <a:solidFill>
                  <a:srgbClr val="5B6372"/>
                </a:solidFill>
                <a:latin typeface="Arial"/>
              </a:rPr>
              <a:t>Kept secret by the owner. Used to decrypt data and to create signatures. Its compromise breaks everything.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pair</a:t>
            </a:r>
          </a:p>
          <a:p>
            <a:pPr algn="l">
              <a:spcAft>
                <a:spcPts val="300"/>
              </a:spcAft>
            </a:pPr>
            <a:r>
              <a:rPr sz="1200" b="0">
                <a:solidFill>
                  <a:srgbClr val="5B6372"/>
                </a:solidFill>
                <a:latin typeface="Arial"/>
              </a:rPr>
              <a:t>The two keys are mathematically linked, but the private key cannot feasibly be derived from the public key.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escrow</a:t>
            </a:r>
          </a:p>
          <a:p>
            <a:pPr algn="l">
              <a:spcAft>
                <a:spcPts val="300"/>
              </a:spcAft>
            </a:pPr>
            <a:r>
              <a:rPr sz="1200" b="0">
                <a:solidFill>
                  <a:srgbClr val="5B6372"/>
                </a:solidFill>
                <a:latin typeface="Arial"/>
              </a:rPr>
              <a:t>A trusted third party holds a copy of keys so data can be recovered if a key is lost, or for lawful access.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PKI</a:t>
            </a:r>
          </a:p>
          <a:p>
            <a:pPr algn="l">
              <a:spcAft>
                <a:spcPts val="300"/>
              </a:spcAft>
            </a:pPr>
            <a:r>
              <a:rPr sz="1200" b="0">
                <a:solidFill>
                  <a:srgbClr val="5B6372"/>
                </a:solidFill>
                <a:latin typeface="Arial"/>
              </a:rPr>
              <a:t>The CAs, policies, people and software that issue, manage, validate and revoke certificates binding keys to identities.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ENCRYPTION LEVELS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Encryption Levels: What Gets Protected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Full-disk</a:t>
            </a:r>
          </a:p>
          <a:p>
            <a:pPr algn="l">
              <a:spcAft>
                <a:spcPts val="300"/>
              </a:spcAft>
            </a:pPr>
            <a:r>
              <a:rPr sz="1100" b="0">
                <a:solidFill>
                  <a:srgbClr val="5B6372"/>
                </a:solidFill>
                <a:latin typeface="Arial"/>
              </a:rPr>
              <a:t>Encrypts the entire drive including the OS, such as BitLocker or LUKS. Protects data on a lost or stolen device.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Partition</a:t>
            </a:r>
          </a:p>
          <a:p>
            <a:pPr algn="l">
              <a:spcAft>
                <a:spcPts val="300"/>
              </a:spcAft>
            </a:pPr>
            <a:r>
              <a:rPr sz="1100" b="0">
                <a:solidFill>
                  <a:srgbClr val="5B6372"/>
                </a:solidFill>
                <a:latin typeface="Arial"/>
              </a:rPr>
              <a:t>Encrypts one partition only, so other partitions on the same disk stay readable without the key.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Volume</a:t>
            </a:r>
          </a:p>
          <a:p>
            <a:pPr algn="l">
              <a:spcAft>
                <a:spcPts val="300"/>
              </a:spcAft>
            </a:pPr>
            <a:r>
              <a:rPr sz="1100" b="0">
                <a:solidFill>
                  <a:srgbClr val="5B6372"/>
                </a:solidFill>
                <a:latin typeface="Arial"/>
              </a:rPr>
              <a:t>Encrypts a logical volume that can span disks, such as an encrypted LVM volume or a VeraCrypt container.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File</a:t>
            </a:r>
          </a:p>
          <a:p>
            <a:pPr algn="l">
              <a:spcAft>
                <a:spcPts val="300"/>
              </a:spcAft>
            </a:pPr>
            <a:r>
              <a:rPr sz="1100" b="0">
                <a:solidFill>
                  <a:srgbClr val="5B6372"/>
                </a:solidFill>
                <a:latin typeface="Arial"/>
              </a:rPr>
              <a:t>Encrypts individual files, such as with EFS or GPG. The protection travels with the file when it is copied.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a:t>
            </a:r>
          </a:p>
          <a:p>
            <a:pPr algn="l">
              <a:spcAft>
                <a:spcPts val="300"/>
              </a:spcAft>
            </a:pPr>
            <a:r>
              <a:rPr sz="1100" b="0">
                <a:solidFill>
                  <a:srgbClr val="5B6372"/>
                </a:solidFill>
                <a:latin typeface="Arial"/>
              </a:rPr>
              <a:t>Transparent data encryption protects the whole database at rest and decrypts for authorised queries.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a:t>
            </a:r>
          </a:p>
          <a:p>
            <a:pPr algn="l">
              <a:spcAft>
                <a:spcPts val="300"/>
              </a:spcAft>
            </a:pPr>
            <a:r>
              <a:rPr sz="1100" b="0">
                <a:solidFill>
                  <a:srgbClr val="5B6372"/>
                </a:solidFill>
                <a:latin typeface="Arial"/>
              </a:rPr>
              <a:t>Encrypts specific rows or columns, such as card numbers, so even database administrators cannot read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ENCRYPTION LEVELS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Encryption Levels: What Gets Protected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Transport</a:t>
            </a:r>
          </a:p>
          <a:p>
            <a:pPr algn="l">
              <a:spcAft>
                <a:spcPts val="300"/>
              </a:spcAft>
            </a:pPr>
            <a:r>
              <a:rPr sz="1100" b="0">
                <a:solidFill>
                  <a:srgbClr val="5B6372"/>
                </a:solidFill>
                <a:latin typeface="Arial"/>
              </a:rPr>
              <a:t>Protects data in transit with TLS, IPsec or SSH, so eavesdroppers on the network see only ciphertext.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SYMMETRIC VS ASYMMETRIC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Symmetric versus Asymmetric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Symmetric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Asymmetric</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One shared secret key both encrypts and decrypts, for example AES-256 or ChaCha20.</a:t>
            </a:r>
          </a:p>
          <a:p>
            <a:pPr>
              <a:spcAft>
                <a:spcPts val="1000"/>
              </a:spcAft>
            </a:pPr>
            <a:r>
              <a:rPr sz="1600" b="0">
                <a:solidFill>
                  <a:srgbClr val="161B26"/>
                </a:solidFill>
                <a:latin typeface="Arial"/>
              </a:rPr>
              <a:t>•  It is very fast and suits bulk data such as full-disk encryption and VPN payloads.</a:t>
            </a:r>
          </a:p>
          <a:p>
            <a:pPr>
              <a:spcAft>
                <a:spcPts val="1000"/>
              </a:spcAft>
            </a:pPr>
            <a:r>
              <a:rPr sz="1600" b="0">
                <a:solidFill>
                  <a:srgbClr val="161B26"/>
                </a:solidFill>
                <a:latin typeface="Arial"/>
              </a:rPr>
              <a:t>•  Key distribution is the problem: n parties need n(n-1)/2 keys to talk privately in pairs.</a:t>
            </a:r>
          </a:p>
          <a:p>
            <a:pPr>
              <a:spcAft>
                <a:spcPts val="1000"/>
              </a:spcAft>
            </a:pPr>
            <a:r>
              <a:rPr sz="1600" b="0">
                <a:solidFill>
                  <a:srgbClr val="161B26"/>
                </a:solidFill>
                <a:latin typeface="Arial"/>
              </a:rPr>
              <a:t>•  It gives confidentiality, and with GCM also integrity, but never non-repudiation.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linked key pair is used: the public key encrypts and the private key decrypts.</a:t>
            </a:r>
          </a:p>
          <a:p>
            <a:pPr>
              <a:spcAft>
                <a:spcPts val="1000"/>
              </a:spcAft>
            </a:pPr>
            <a:r>
              <a:rPr sz="1600" b="0">
                <a:solidFill>
                  <a:srgbClr val="161B26"/>
                </a:solidFill>
                <a:latin typeface="Arial"/>
              </a:rPr>
              <a:t>•  It is far slower, so it protects small items such as session keys and digests.</a:t>
            </a:r>
          </a:p>
          <a:p>
            <a:pPr>
              <a:spcAft>
                <a:spcPts val="1000"/>
              </a:spcAft>
            </a:pPr>
            <a:r>
              <a:rPr sz="1600" b="0">
                <a:solidFill>
                  <a:srgbClr val="161B26"/>
                </a:solidFill>
                <a:latin typeface="Arial"/>
              </a:rPr>
              <a:t>•  It solves key distribution and enables digital signatures and key agreement.</a:t>
            </a:r>
          </a:p>
          <a:p>
            <a:pPr>
              <a:spcAft>
                <a:spcPts val="1000"/>
              </a:spcAft>
            </a:pPr>
            <a:r>
              <a:rPr sz="1600" b="0">
                <a:solidFill>
                  <a:srgbClr val="161B26"/>
                </a:solidFill>
                <a:latin typeface="Arial"/>
              </a:rPr>
              <a:t>•  RSA and ECC are typical, and ECC gives similar strength with much smaller keys.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KEY EXCHANGE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Exchange: Sharing Secrets Safely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Symmetric ciphers need both sides to hold the same key, but sending that key in clear text exposes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Diffie-Hellman</a:t>
            </a:r>
          </a:p>
          <a:p>
            <a:pPr algn="l">
              <a:spcAft>
                <a:spcPts val="300"/>
              </a:spcAft>
            </a:pPr>
            <a:r>
              <a:rPr sz="1200" b="0">
                <a:solidFill>
                  <a:srgbClr val="5B6372"/>
                </a:solidFill>
                <a:latin typeface="Arial"/>
              </a:rPr>
              <a:t>Each party combines its private value with the other's public value, and both derive the same secret unsent.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ECDHE</a:t>
            </a:r>
          </a:p>
          <a:p>
            <a:pPr algn="l">
              <a:spcAft>
                <a:spcPts val="300"/>
              </a:spcAft>
            </a:pPr>
            <a:r>
              <a:rPr sz="1200" b="0">
                <a:solidFill>
                  <a:srgbClr val="5B6372"/>
                </a:solidFill>
                <a:latin typeface="Arial"/>
              </a:rPr>
              <a:t>Elliptic-curve Diffie-Hellman with ephemeral keys, used by TLS 1.3. A new key per session gives forward secrecy.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RSA key transport</a:t>
            </a:r>
          </a:p>
          <a:p>
            <a:pPr algn="l">
              <a:spcAft>
                <a:spcPts val="300"/>
              </a:spcAft>
            </a:pPr>
            <a:r>
              <a:rPr sz="1200" b="0">
                <a:solidFill>
                  <a:srgbClr val="5B6372"/>
                </a:solidFill>
                <a:latin typeface="Arial"/>
              </a:rPr>
              <a:t>The client encrypts a session key with the server public key. Dropped in TLS 1.3 as it lacks forward secrecy.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a:t>
            </a:r>
          </a:p>
          <a:p>
            <a:pPr algn="l">
              <a:spcAft>
                <a:spcPts val="300"/>
              </a:spcAft>
            </a:pPr>
            <a:r>
              <a:rPr sz="1200" b="0">
                <a:solidFill>
                  <a:srgbClr val="5B6372"/>
                </a:solidFill>
                <a:latin typeface="Arial"/>
              </a:rPr>
              <a:t>Keys or fingerprints are shared over a separate channel, such as in person or by phone, to defeat interception.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HYBRID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Hybrid Encryption as Used by TLS and PGP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random symmetric session key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Encrypt the bulk data with AES under that key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Protect the session key with the recipient public key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 the wrapped key together with the ciphertext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Recipient unwraps the key and decrypts the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ALGORITHMS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Algorithms and Key Lengths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AES</a:t>
            </a:r>
          </a:p>
          <a:p>
            <a:pPr algn="l">
              <a:spcAft>
                <a:spcPts val="300"/>
              </a:spcAft>
            </a:pPr>
            <a:r>
              <a:rPr sz="1100" b="0">
                <a:solidFill>
                  <a:srgbClr val="5B6372"/>
                </a:solidFill>
                <a:latin typeface="Arial"/>
              </a:rPr>
              <a:t>Symmetric block cipher with 128, 192 or 256-bit keys. The current standard for bulk encryption.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 and 3DES</a:t>
            </a:r>
          </a:p>
          <a:p>
            <a:pPr algn="l">
              <a:spcAft>
                <a:spcPts val="300"/>
              </a:spcAft>
            </a:pPr>
            <a:r>
              <a:rPr sz="1100" b="0">
                <a:solidFill>
                  <a:srgbClr val="5B6372"/>
                </a:solidFill>
                <a:latin typeface="Arial"/>
              </a:rPr>
              <a:t>56-bit DES is broken and 3DES is deprecated. Expect them as wrong answers or legacy audit findings.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ChaCha20</a:t>
            </a:r>
          </a:p>
          <a:p>
            <a:pPr algn="l">
              <a:spcAft>
                <a:spcPts val="300"/>
              </a:spcAft>
            </a:pPr>
            <a:r>
              <a:rPr sz="1100" b="0">
                <a:solidFill>
                  <a:srgbClr val="5B6372"/>
                </a:solidFill>
                <a:latin typeface="Arial"/>
              </a:rPr>
              <a:t>A fast 256-bit stream cipher, popular on mobile devices that lack AES hardware acceleration.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RSA</a:t>
            </a:r>
          </a:p>
          <a:p>
            <a:pPr algn="l">
              <a:spcAft>
                <a:spcPts val="300"/>
              </a:spcAft>
            </a:pPr>
            <a:r>
              <a:rPr sz="1100" b="0">
                <a:solidFill>
                  <a:srgbClr val="5B6372"/>
                </a:solidFill>
                <a:latin typeface="Arial"/>
              </a:rPr>
              <a:t>Asymmetric, based on factoring large primes. Use 2048 bits minimum and 3072 or more for long-term protection.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ECC</a:t>
            </a:r>
          </a:p>
          <a:p>
            <a:pPr algn="l">
              <a:spcAft>
                <a:spcPts val="300"/>
              </a:spcAft>
            </a:pPr>
            <a:r>
              <a:rPr sz="1100" b="0">
                <a:solidFill>
                  <a:srgbClr val="5B6372"/>
                </a:solidFill>
                <a:latin typeface="Arial"/>
              </a:rPr>
              <a:t>Asymmetric, based on elliptic curves. A 256-bit ECC key is roughly as strong as a 3072-bit RSA key.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length</a:t>
            </a:r>
          </a:p>
          <a:p>
            <a:pPr algn="l">
              <a:spcAft>
                <a:spcPts val="300"/>
              </a:spcAft>
            </a:pPr>
            <a:r>
              <a:rPr sz="1100" b="0">
                <a:solidFill>
                  <a:srgbClr val="5B6372"/>
                </a:solidFill>
                <a:latin typeface="Arial"/>
              </a:rPr>
              <a:t>Each extra bit doubles brute-force effort but costs CPU. Only compare key lengths within one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BLOCK MODES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AES Block Modes You Must Recognise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ECB</a:t>
            </a:r>
          </a:p>
          <a:p>
            <a:pPr algn="l">
              <a:spcAft>
                <a:spcPts val="300"/>
              </a:spcAft>
            </a:pPr>
            <a:r>
              <a:rPr sz="1100" b="0">
                <a:solidFill>
                  <a:srgbClr val="5B6372"/>
                </a:solidFill>
                <a:latin typeface="Arial"/>
              </a:rPr>
              <a:t>Encrypts each block independently, so identical plaintext blocks give identical ciphertext. Never use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CBC</a:t>
            </a:r>
          </a:p>
          <a:p>
            <a:pPr algn="l">
              <a:spcAft>
                <a:spcPts val="300"/>
              </a:spcAft>
            </a:pPr>
            <a:r>
              <a:rPr sz="1100" b="0">
                <a:solidFill>
                  <a:srgbClr val="5B6372"/>
                </a:solidFill>
                <a:latin typeface="Arial"/>
              </a:rPr>
              <a:t>Chains each block with the previous ciphertext and needs a random IV. It gives confidentiality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GCM</a:t>
            </a:r>
          </a:p>
          <a:p>
            <a:pPr algn="l">
              <a:spcAft>
                <a:spcPts val="300"/>
              </a:spcAft>
            </a:pPr>
            <a:r>
              <a:rPr sz="1100" b="0">
                <a:solidFill>
                  <a:srgbClr val="5B6372"/>
                </a:solidFill>
                <a:latin typeface="Arial"/>
              </a:rPr>
              <a:t>Counter mode plus an authentication tag, so it delivers confidentiality and integrity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CTR</a:t>
            </a:r>
          </a:p>
          <a:p>
            <a:pPr algn="l">
              <a:spcAft>
                <a:spcPts val="300"/>
              </a:spcAft>
            </a:pPr>
            <a:r>
              <a:rPr sz="1100" b="0">
                <a:solidFill>
                  <a:srgbClr val="5B6372"/>
                </a:solidFill>
                <a:latin typeface="Arial"/>
              </a:rPr>
              <a:t>Turns the block cipher into a stream cipher using a counter. Reusing a nonce with one key is catastrophic.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IV and nonce</a:t>
            </a:r>
          </a:p>
          <a:p>
            <a:pPr algn="l">
              <a:spcAft>
                <a:spcPts val="300"/>
              </a:spcAft>
            </a:pPr>
            <a:r>
              <a:rPr sz="1100" b="0">
                <a:solidFill>
                  <a:srgbClr val="5B6372"/>
                </a:solidFill>
                <a:latin typeface="Arial"/>
              </a:rPr>
              <a:t>A per-message value that makes the same plaintext encrypt differently. It is public but must never repeat.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Cryptographic Tools: Where Keys Live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TPM</a:t>
            </a:r>
          </a:p>
          <a:p>
            <a:pPr algn="l">
              <a:spcAft>
                <a:spcPts val="300"/>
              </a:spcAft>
            </a:pPr>
            <a:r>
              <a:rPr sz="1200" b="0">
                <a:solidFill>
                  <a:srgbClr val="5B6372"/>
                </a:solidFill>
                <a:latin typeface="Arial"/>
              </a:rPr>
              <a:t>A chip on the motherboard that stores keys, supports measured and secure boot, and seals disk encryption keys.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HSM</a:t>
            </a:r>
          </a:p>
          <a:p>
            <a:pPr algn="l">
              <a:spcAft>
                <a:spcPts val="300"/>
              </a:spcAft>
            </a:pPr>
            <a:r>
              <a:rPr sz="1200" b="0">
                <a:solidFill>
                  <a:srgbClr val="5B6372"/>
                </a:solidFill>
                <a:latin typeface="Arial"/>
              </a:rPr>
              <a:t>A tamper-resistant appliance or card that generates, stores and uses keys at scale, such as for a CA or a bank.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Key management system</a:t>
            </a:r>
          </a:p>
          <a:p>
            <a:pPr algn="l">
              <a:spcAft>
                <a:spcPts val="300"/>
              </a:spcAft>
            </a:pPr>
            <a:r>
              <a:rPr sz="1200" b="0">
                <a:solidFill>
                  <a:srgbClr val="5B6372"/>
                </a:solidFill>
                <a:latin typeface="Arial"/>
              </a:rPr>
              <a:t>A central service, such as a cloud KMS, that creates, rotates, audits and retires keys across many systems.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enclave</a:t>
            </a:r>
          </a:p>
          <a:p>
            <a:pPr algn="l">
              <a:spcAft>
                <a:spcPts val="300"/>
              </a:spcAft>
            </a:pPr>
            <a:r>
              <a:rPr sz="1200" b="0">
                <a:solidFill>
                  <a:srgbClr val="5B6372"/>
                </a:solidFill>
                <a:latin typeface="Arial"/>
              </a:rPr>
              <a:t>An isolated processor area that protects data in use, such as phone biometrics or confidential computing.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TPM VS HSM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TPM versus HSM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Trusted Platform Module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Hardware security module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Built into one device's motherboard or firmware.</a:t>
            </a:r>
          </a:p>
          <a:p>
            <a:pPr>
              <a:spcAft>
                <a:spcPts val="1000"/>
              </a:spcAft>
            </a:pPr>
            <a:r>
              <a:rPr sz="1600" b="0">
                <a:solidFill>
                  <a:srgbClr val="161B26"/>
                </a:solidFill>
                <a:latin typeface="Arial"/>
              </a:rPr>
              <a:t>•  Protects that one device: boot integrity and disk encryption keys.</a:t>
            </a:r>
          </a:p>
          <a:p>
            <a:pPr>
              <a:spcAft>
                <a:spcPts val="1000"/>
              </a:spcAft>
            </a:pPr>
            <a:r>
              <a:rPr sz="1600" b="0">
                <a:solidFill>
                  <a:srgbClr val="161B26"/>
                </a:solidFill>
                <a:latin typeface="Arial"/>
              </a:rPr>
              <a:t>•  Low cost and present in almost every modern laptop and server.</a:t>
            </a:r>
          </a:p>
          <a:p>
            <a:pPr>
              <a:spcAft>
                <a:spcPts val="1000"/>
              </a:spcAft>
            </a:pPr>
            <a:r>
              <a:rPr sz="1600" b="0">
                <a:solidFill>
                  <a:srgbClr val="161B26"/>
                </a:solidFill>
                <a:latin typeface="Arial"/>
              </a:rPr>
              <a:t>•  Required by features such as BitLocker and Windows 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separate appliance, PCIe card, USB device or cloud service.</a:t>
            </a:r>
          </a:p>
          <a:p>
            <a:pPr>
              <a:spcAft>
                <a:spcPts val="1000"/>
              </a:spcAft>
            </a:pPr>
            <a:r>
              <a:rPr sz="1600" b="0">
                <a:solidFill>
                  <a:srgbClr val="161B26"/>
                </a:solidFill>
                <a:latin typeface="Arial"/>
              </a:rPr>
              <a:t>•  Serves many systems and applications with high-speed crypto.</a:t>
            </a:r>
          </a:p>
          <a:p>
            <a:pPr>
              <a:spcAft>
                <a:spcPts val="1000"/>
              </a:spcAft>
            </a:pPr>
            <a:r>
              <a:rPr sz="1600" b="0">
                <a:solidFill>
                  <a:srgbClr val="161B26"/>
                </a:solidFill>
                <a:latin typeface="Arial"/>
              </a:rPr>
              <a:t>•  Expensive, tamper-evident and often FIPS 140 validated.</a:t>
            </a:r>
          </a:p>
          <a:p>
            <a:pPr>
              <a:spcAft>
                <a:spcPts val="1000"/>
              </a:spcAft>
            </a:pPr>
            <a:r>
              <a:rPr sz="1600" b="0">
                <a:solidFill>
                  <a:srgbClr val="161B26"/>
                </a:solidFill>
                <a:latin typeface="Arial"/>
              </a:rPr>
              <a:t>•  Used for CA root keys, payment processing and code signing.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OBFUSCATION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Obfuscation: Steganography, Tokenization, Masking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Steganography</a:t>
            </a:r>
          </a:p>
          <a:p>
            <a:pPr algn="l">
              <a:spcAft>
                <a:spcPts val="300"/>
              </a:spcAft>
            </a:pPr>
            <a:r>
              <a:rPr sz="1200" b="0">
                <a:solidFill>
                  <a:srgbClr val="5B6372"/>
                </a:solidFill>
                <a:latin typeface="Arial"/>
              </a:rPr>
              <a:t>Hides data inside other data, such as a message in image pixels. It conceals that a secret exists at 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Tokenization</a:t>
            </a:r>
          </a:p>
          <a:p>
            <a:pPr algn="l">
              <a:spcAft>
                <a:spcPts val="300"/>
              </a:spcAft>
            </a:pPr>
            <a:r>
              <a:rPr sz="1200" b="0">
                <a:solidFill>
                  <a:srgbClr val="5B6372"/>
                </a:solidFill>
                <a:latin typeface="Arial"/>
              </a:rPr>
              <a:t>Replaces sensitive data with a random token, while the real value sits in a secure vault. Common for card payments.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masking</a:t>
            </a:r>
          </a:p>
          <a:p>
            <a:pPr algn="l">
              <a:spcAft>
                <a:spcPts val="300"/>
              </a:spcAft>
            </a:pPr>
            <a:r>
              <a:rPr sz="1200" b="0">
                <a:solidFill>
                  <a:srgbClr val="5B6372"/>
                </a:solidFill>
                <a:latin typeface="Arial"/>
              </a:rPr>
              <a:t>Hides part of a value, such as showing only the last four card digits. Often used for test data and support staff.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Obfuscation</a:t>
            </a:r>
          </a:p>
          <a:p>
            <a:pPr algn="l">
              <a:spcAft>
                <a:spcPts val="300"/>
              </a:spcAft>
            </a:pPr>
            <a:r>
              <a:rPr sz="1200" b="0">
                <a:solidFill>
                  <a:srgbClr val="5B6372"/>
                </a:solidFill>
                <a:latin typeface="Arial"/>
              </a:rPr>
              <a:t>Makes code or data hard to understand without strong cryptography. It slows attackers but is not encryption.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TOKENIZATION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Tokenization versus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Tokenization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Encryption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token has no mathematical link to the original value.</a:t>
            </a:r>
          </a:p>
          <a:p>
            <a:pPr>
              <a:spcAft>
                <a:spcPts val="1000"/>
              </a:spcAft>
            </a:pPr>
            <a:r>
              <a:rPr sz="1600" b="0">
                <a:solidFill>
                  <a:srgbClr val="161B26"/>
                </a:solidFill>
                <a:latin typeface="Arial"/>
              </a:rPr>
              <a:t>•  The real data lives only in a tightly controlled token vault.</a:t>
            </a:r>
          </a:p>
          <a:p>
            <a:pPr>
              <a:spcAft>
                <a:spcPts val="1000"/>
              </a:spcAft>
            </a:pPr>
            <a:r>
              <a:rPr sz="1600" b="0">
                <a:solidFill>
                  <a:srgbClr val="161B26"/>
                </a:solidFill>
                <a:latin typeface="Arial"/>
              </a:rPr>
              <a:t>•  Stolen tokens are useless without access to the vault.</a:t>
            </a:r>
          </a:p>
          <a:p>
            <a:pPr>
              <a:spcAft>
                <a:spcPts val="1000"/>
              </a:spcAft>
            </a:pPr>
            <a:r>
              <a:rPr sz="1600" b="0">
                <a:solidFill>
                  <a:srgbClr val="161B26"/>
                </a:solidFill>
                <a:latin typeface="Arial"/>
              </a:rPr>
              <a:t>•  It shrinks PCI DSS scope because most systems hold only tokens.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Ciphertext is mathematically derived from the plaintext and a key.</a:t>
            </a:r>
          </a:p>
          <a:p>
            <a:pPr>
              <a:spcAft>
                <a:spcPts val="1000"/>
              </a:spcAft>
            </a:pPr>
            <a:r>
              <a:rPr sz="1600" b="0">
                <a:solidFill>
                  <a:srgbClr val="161B26"/>
                </a:solidFill>
                <a:latin typeface="Arial"/>
              </a:rPr>
              <a:t>•  Anyone holding the key can decrypt the data anywhere.</a:t>
            </a:r>
          </a:p>
          <a:p>
            <a:pPr>
              <a:spcAft>
                <a:spcPts val="1000"/>
              </a:spcAft>
            </a:pPr>
            <a:r>
              <a:rPr sz="1600" b="0">
                <a:solidFill>
                  <a:srgbClr val="161B26"/>
                </a:solidFill>
                <a:latin typeface="Arial"/>
              </a:rPr>
              <a:t>•  Format-preserving encryption can keep the data length and type.</a:t>
            </a:r>
          </a:p>
          <a:p>
            <a:pPr>
              <a:spcAft>
                <a:spcPts val="1000"/>
              </a:spcAft>
            </a:pPr>
            <a:r>
              <a:rPr sz="1600" b="0">
                <a:solidFill>
                  <a:srgbClr val="161B26"/>
                </a:solidFill>
                <a:latin typeface="Arial"/>
              </a:rPr>
              <a:t>•  The key itself becomes the asset that must be protected.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HASHING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Properties of a Cryptographic Hash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way</a:t>
            </a:r>
          </a:p>
          <a:p>
            <a:pPr algn="l">
              <a:spcAft>
                <a:spcPts val="300"/>
              </a:spcAft>
            </a:pPr>
            <a:r>
              <a:rPr sz="1200" b="0">
                <a:solidFill>
                  <a:srgbClr val="5B6372"/>
                </a:solidFill>
                <a:latin typeface="Arial"/>
              </a:rPr>
              <a:t>Given the digest you cannot feasibly recover the input. Hashing is not encryption: there is no key and no decryption.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Fixed length</a:t>
            </a:r>
          </a:p>
          <a:p>
            <a:pPr algn="l">
              <a:spcAft>
                <a:spcPts val="300"/>
              </a:spcAft>
            </a:pPr>
            <a:r>
              <a:rPr sz="1200" b="0">
                <a:solidFill>
                  <a:srgbClr val="5B6372"/>
                </a:solidFill>
                <a:latin typeface="Arial"/>
              </a:rPr>
              <a:t>SHA-256 always produces 256 bits, or 64 hex characters, whether the input is one byte or one gigabyte.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Collision resistant</a:t>
            </a:r>
          </a:p>
          <a:p>
            <a:pPr algn="l">
              <a:spcAft>
                <a:spcPts val="300"/>
              </a:spcAft>
            </a:pPr>
            <a:r>
              <a:rPr sz="1200" b="0">
                <a:solidFill>
                  <a:srgbClr val="5B6372"/>
                </a:solidFill>
                <a:latin typeface="Arial"/>
              </a:rPr>
              <a:t>Finding two inputs with the same digest must be infeasible. MD5 and SHA-1 fail here and must not be used.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Avalanche effect</a:t>
            </a:r>
          </a:p>
          <a:p>
            <a:pPr algn="l">
              <a:spcAft>
                <a:spcPts val="300"/>
              </a:spcAft>
            </a:pPr>
            <a:r>
              <a:rPr sz="1200" b="0">
                <a:solidFill>
                  <a:srgbClr val="5B6372"/>
                </a:solidFill>
                <a:latin typeface="Arial"/>
              </a:rPr>
              <a:t>Flipping a single input bit changes about half the output bits, so similar files give unrelated digests.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Algorithms</a:t>
            </a:r>
          </a:p>
          <a:p>
            <a:pPr algn="l">
              <a:spcAft>
                <a:spcPts val="300"/>
              </a:spcAft>
            </a:pPr>
            <a:r>
              <a:rPr sz="1200" b="0">
                <a:solidFill>
                  <a:srgbClr val="5B6372"/>
                </a:solidFill>
                <a:latin typeface="Arial"/>
              </a:rPr>
              <a:t>Use SHA-256, SHA-384 or SHA-3. MD5 and SHA-1 survive only as non-security checksums.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SALTING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Salting and Key Stretching for Passwords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Salt</a:t>
            </a:r>
          </a:p>
          <a:p>
            <a:pPr algn="l">
              <a:spcAft>
                <a:spcPts val="300"/>
              </a:spcAft>
            </a:pPr>
            <a:r>
              <a:rPr sz="1100" b="0">
                <a:solidFill>
                  <a:srgbClr val="5B6372"/>
                </a:solidFill>
                <a:latin typeface="Arial"/>
              </a:rPr>
              <a:t>A unique random value added to each password before hashing. Defeats rainbow tables and hides duplicate passwords.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Pepper</a:t>
            </a:r>
          </a:p>
          <a:p>
            <a:pPr algn="l">
              <a:spcAft>
                <a:spcPts val="300"/>
              </a:spcAft>
            </a:pPr>
            <a:r>
              <a:rPr sz="1100" b="0">
                <a:solidFill>
                  <a:srgbClr val="5B6372"/>
                </a:solidFill>
                <a:latin typeface="Arial"/>
              </a:rPr>
              <a:t>A secret value shared by all hashes and stored outside the database, for example in an HSM or KMS.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stretching</a:t>
            </a:r>
          </a:p>
          <a:p>
            <a:pPr algn="l">
              <a:spcAft>
                <a:spcPts val="300"/>
              </a:spcAft>
            </a:pPr>
            <a:r>
              <a:rPr sz="1100" b="0">
                <a:solidFill>
                  <a:srgbClr val="5B6372"/>
                </a:solidFill>
                <a:latin typeface="Arial"/>
              </a:rPr>
              <a:t>Repeats the hashing work thousands of times so each guess is slow, turning a fast hash into an expensive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PBKDF2</a:t>
            </a:r>
          </a:p>
          <a:p>
            <a:pPr algn="l">
              <a:spcAft>
                <a:spcPts val="300"/>
              </a:spcAft>
            </a:pPr>
            <a:r>
              <a:rPr sz="1100" b="0">
                <a:solidFill>
                  <a:srgbClr val="5B6372"/>
                </a:solidFill>
                <a:latin typeface="Arial"/>
              </a:rPr>
              <a:t>HMAC-based with a configurable iteration count. Current guidance is hundreds of thousands of iterations.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bcrypt</a:t>
            </a:r>
          </a:p>
          <a:p>
            <a:pPr algn="l">
              <a:spcAft>
                <a:spcPts val="300"/>
              </a:spcAft>
            </a:pPr>
            <a:r>
              <a:rPr sz="1100" b="0">
                <a:solidFill>
                  <a:srgbClr val="5B6372"/>
                </a:solidFill>
                <a:latin typeface="Arial"/>
              </a:rPr>
              <a:t>Blowfish-based with a cost factor, and each increment of the cost doubles the work required.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Argon2id and scrypt</a:t>
            </a:r>
          </a:p>
          <a:p>
            <a:pPr algn="l">
              <a:spcAft>
                <a:spcPts val="300"/>
              </a:spcAft>
            </a:pPr>
            <a:r>
              <a:rPr sz="1100" b="0">
                <a:solidFill>
                  <a:srgbClr val="5B6372"/>
                </a:solidFill>
                <a:latin typeface="Arial"/>
              </a:rPr>
              <a:t>Memory-hard functions that also consume RAM, which blunts GPU and ASIC cracking rigs.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DIGITAL SIGNATURES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Creating and Verifying a Digital Signature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Sender hashes the message, for example with SHA-256</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Sender signs the hash with their private key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signature travels with the message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Receiver checks it with the sender public key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Matching digests prove integrity and origin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BLOCKCHAIN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Blockchain and the Open Public Ledger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Blockchain</a:t>
            </a:r>
          </a:p>
          <a:p>
            <a:pPr algn="l">
              <a:spcAft>
                <a:spcPts val="300"/>
              </a:spcAft>
            </a:pPr>
            <a:r>
              <a:rPr sz="1200" b="0">
                <a:solidFill>
                  <a:srgbClr val="5B6372"/>
                </a:solidFill>
                <a:latin typeface="Arial"/>
              </a:rPr>
              <a:t>A chain of blocks, each holding transactions, a timestamp and the hash of the previous block.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Tamper evidence</a:t>
            </a:r>
          </a:p>
          <a:p>
            <a:pPr algn="l">
              <a:spcAft>
                <a:spcPts val="300"/>
              </a:spcAft>
            </a:pPr>
            <a:r>
              <a:rPr sz="1200" b="0">
                <a:solidFill>
                  <a:srgbClr val="5B6372"/>
                </a:solidFill>
                <a:latin typeface="Arial"/>
              </a:rPr>
              <a:t>Changing any block changes its hash and breaks every later link, so alterations are obvious.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public ledger</a:t>
            </a:r>
          </a:p>
          <a:p>
            <a:pPr algn="l">
              <a:spcAft>
                <a:spcPts val="300"/>
              </a:spcAft>
            </a:pPr>
            <a:r>
              <a:rPr sz="1200" b="0">
                <a:solidFill>
                  <a:srgbClr val="5B6372"/>
                </a:solidFill>
                <a:latin typeface="Arial"/>
              </a:rPr>
              <a:t>The ledger is copied across a decentralised peer-to-peer network, so there is no single point of failure.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Uses</a:t>
            </a:r>
          </a:p>
          <a:p>
            <a:pPr algn="l">
              <a:spcAft>
                <a:spcPts val="300"/>
              </a:spcAft>
            </a:pPr>
            <a:r>
              <a:rPr sz="1200" b="0">
                <a:solidFill>
                  <a:srgbClr val="5B6372"/>
                </a:solidFill>
                <a:latin typeface="Arial"/>
              </a:rPr>
              <a:t>Cryptocurrency, supply-chain tracking and smart contracts. Integrity comes from hashing plus consensus.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CERTIFICATES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Certificates and Certificate Authorities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Certificate authority</a:t>
            </a:r>
          </a:p>
          <a:p>
            <a:pPr algn="l">
              <a:spcAft>
                <a:spcPts val="300"/>
              </a:spcAft>
            </a:pPr>
            <a:r>
              <a:rPr sz="1100" b="0">
                <a:solidFill>
                  <a:srgbClr val="5B6372"/>
                </a:solidFill>
                <a:latin typeface="Arial"/>
              </a:rPr>
              <a:t>A trusted entity that verifies identity and signs certificates binding a public key to a subject.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Root of trust</a:t>
            </a:r>
          </a:p>
          <a:p>
            <a:pPr algn="l">
              <a:spcAft>
                <a:spcPts val="300"/>
              </a:spcAft>
            </a:pPr>
            <a:r>
              <a:rPr sz="1100" b="0">
                <a:solidFill>
                  <a:srgbClr val="5B6372"/>
                </a:solidFill>
                <a:latin typeface="Arial"/>
              </a:rPr>
              <a:t>The root CA certificate in your trust store. Everything it signs, directly or via intermediates, is trusted.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Third-party CA</a:t>
            </a:r>
          </a:p>
          <a:p>
            <a:pPr algn="l">
              <a:spcAft>
                <a:spcPts val="300"/>
              </a:spcAft>
            </a:pPr>
            <a:r>
              <a:rPr sz="1100" b="0">
                <a:solidFill>
                  <a:srgbClr val="5B6372"/>
                </a:solidFill>
                <a:latin typeface="Arial"/>
              </a:rPr>
              <a:t>A public CA such as Let's Encrypt or DigiCert, whose roots browsers and operating systems trust by default.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Self-signed</a:t>
            </a:r>
          </a:p>
          <a:p>
            <a:pPr algn="l">
              <a:spcAft>
                <a:spcPts val="300"/>
              </a:spcAft>
            </a:pPr>
            <a:r>
              <a:rPr sz="1100" b="0">
                <a:solidFill>
                  <a:srgbClr val="5B6372"/>
                </a:solidFill>
                <a:latin typeface="Arial"/>
              </a:rPr>
              <a:t>Signed by its own key. Fine for labs and internal use, but browsers warn because no trusted CA vouches for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CSR generation</a:t>
            </a:r>
          </a:p>
          <a:p>
            <a:pPr algn="l">
              <a:spcAft>
                <a:spcPts val="300"/>
              </a:spcAft>
            </a:pPr>
            <a:r>
              <a:rPr sz="1100" b="0">
                <a:solidFill>
                  <a:srgbClr val="5B6372"/>
                </a:solidFill>
                <a:latin typeface="Arial"/>
              </a:rPr>
              <a:t>The requester creates a key pair and sends a CSR with the public key and subject. The private key stays home.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Wildcard</a:t>
            </a:r>
          </a:p>
          <a:p>
            <a:pPr algn="l">
              <a:spcAft>
                <a:spcPts val="300"/>
              </a:spcAft>
            </a:pPr>
            <a:r>
              <a:rPr sz="1100" b="0">
                <a:solidFill>
                  <a:srgbClr val="5B6372"/>
                </a:solidFill>
                <a:latin typeface="Arial"/>
              </a:rPr>
              <a:t>A certificate for *.example.com covers every first-level subdomain, but one stolen key exposes them 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REVOCATION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CRL versus OCSP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Certificate revocation list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OCSP</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signed list of revoked serial numbers published by the CA.</a:t>
            </a:r>
          </a:p>
          <a:p>
            <a:pPr>
              <a:spcAft>
                <a:spcPts val="1000"/>
              </a:spcAft>
            </a:pPr>
            <a:r>
              <a:rPr sz="1600" b="0">
                <a:solidFill>
                  <a:srgbClr val="161B26"/>
                </a:solidFill>
                <a:latin typeface="Arial"/>
              </a:rPr>
              <a:t>•  Clients download it periodically, so it can be out of date.</a:t>
            </a:r>
          </a:p>
          <a:p>
            <a:pPr>
              <a:spcAft>
                <a:spcPts val="1000"/>
              </a:spcAft>
            </a:pPr>
            <a:r>
              <a:rPr sz="1600" b="0">
                <a:solidFill>
                  <a:srgbClr val="161B26"/>
                </a:solidFill>
                <a:latin typeface="Arial"/>
              </a:rPr>
              <a:t>•  Large lists waste bandwidth on constrained devices.</a:t>
            </a:r>
          </a:p>
          <a:p>
            <a:pPr>
              <a:spcAft>
                <a:spcPts val="1000"/>
              </a:spcAft>
            </a:pPr>
            <a:r>
              <a:rPr sz="1600" b="0">
                <a:solidFill>
                  <a:srgbClr val="161B26"/>
                </a:solidFill>
                <a:latin typeface="Arial"/>
              </a:rPr>
              <a:t>•  Its location is in the CRL Distribution Points extension.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client asks a responder about one certificate in real time.</a:t>
            </a:r>
          </a:p>
          <a:p>
            <a:pPr>
              <a:spcAft>
                <a:spcPts val="1000"/>
              </a:spcAft>
            </a:pPr>
            <a:r>
              <a:rPr sz="1600" b="0">
                <a:solidFill>
                  <a:srgbClr val="161B26"/>
                </a:solidFill>
                <a:latin typeface="Arial"/>
              </a:rPr>
              <a:t>•  The answer is good, revoked or unknown, signed by the responder.</a:t>
            </a:r>
          </a:p>
          <a:p>
            <a:pPr>
              <a:spcAft>
                <a:spcPts val="1000"/>
              </a:spcAft>
            </a:pPr>
            <a:r>
              <a:rPr sz="1600" b="0">
                <a:solidFill>
                  <a:srgbClr val="161B26"/>
                </a:solidFill>
                <a:latin typeface="Arial"/>
              </a:rPr>
              <a:t>•  OCSP stapling lets the server attach a fresh signed response.</a:t>
            </a:r>
          </a:p>
          <a:p>
            <a:pPr>
              <a:spcAft>
                <a:spcPts val="1000"/>
              </a:spcAft>
            </a:pPr>
            <a:r>
              <a:rPr sz="1600" b="0">
                <a:solidFill>
                  <a:srgbClr val="161B26"/>
                </a:solidFill>
                <a:latin typeface="Arial"/>
              </a:rPr>
              <a:t>•  The responder URL is in the Authority Information Access extension.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OBJ 1.4 · CERT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Certificate Lifecycle from Key to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private key and keep it protected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CSR with the public key and subject details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 validates the request and signs the certificate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Install the certificate and intermediates on the server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 expiry, then renew, rekey or revoke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1.4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Cryptographic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Encrypt with the recipient's public key; sign with your own private key. Swapping these is the classic exam trap.</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Hashing is one-way (integrity); encryption is reversible (confidentiality); tokenization swaps data for a vault-backed token.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Salt defeats rainbow tables; key stretching such as PBKDF2 or bcrypt slows brute force. Use both for passwords.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TPM = per-device chip; HSM = dedicated high-volume key appliance; secure enclave = protects data in use.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OCSP gives real-time revocation status; a CRL is a periodically published list. Stapling moves the OCSP check to the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proves integrity with a checksum manifest, salts and stretches password hashes, adds authenticity with an HMAC, and signs and verifies a purchase order with RSA-3072.</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SHA256SUMS manifest, salted hashes, a PBKDF2 timing test, an HMAC tag and a verified signature.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sha256sum, openssl passwd, openssl kdf, openssl dgst, openssl genpkey, chpasswd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openssl coreutils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Hash data and observe fixed length and the avalanche effect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-n 'Pay Bob 100 SGD' | sha256sum; echo -n 'Pay Bob 900 SGD' | sha256sum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file integrity with a checksum manifest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SHA256SUMS || echo "INTEGRITY FAILED - do not install"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See why unsalted password hashes are weak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cut -d: -f2 unsalted.txt | sort | uniq -d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Salt the hash the way /etc/shadow does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passwd -6 -salt "$(openssl rand -hex 8)" 'Summer2026!'</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Slow attackers down with key stretching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openssl kdf -keylen 32 -kdfopt digest:SHA256 -kdfopt iter:600000 ... PBKDF2</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authenticity with an HMAC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-sha256 -hmac 'SharedLabKey-2026' invoice.txt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a document with a private key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-sha256 -sign signer.key -out order.sig order.txt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Tamper with the document and watch verification fail</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openssl dgst -sha256 -verify signer.pub -signature order.sig order.txt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Hashing, Salting, and Digital Signatures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sha256sum flags the altered installer, the same password gives two different salted hashes, and the signature shows Verified OK on the original and Verification failure after tampering.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encrypts with AES-256, sees ECB leak patterns, compares RSA and ECC key sizes and speed, derives a shared secret with X25519, and inspects the hybrid structure of a GPG message.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AES-encrypted file, an ECB vs CBC comparison, an X25519 shared secret and a GPG hybrid message.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openssl enc, openssl speed, openssl pkeyutl, gnupg, od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gnupg openssl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Encrypt and decrypt with a shared AES-256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enc -aes-256-cbc -pbkdf2 -iter 200000 -salt -in msg.txt -out msg.aes -pass pass:Lab1234!</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ECB and CBC block modes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od -An -tx1 -w16 -v blocks.ecb | sort | uniq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key lengths and speed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speed -seconds 1 rsa3072 ecdsap256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Agree a shared secret with X25519 key exchange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pkeyutl -derive -inkey alice-x.key -peerkey bob-x.pub -out alice-shared.bin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an asymmetric GPG key pair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--passphrase '' --quick-generate-key 'Alice &lt;alice@lab.local&gt;' rsa3072 sign 1y</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Encrypt to the public key and decrypt with the private key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--yes --trust-model always -r alice@lab.local -e -o msg.gpg msg.txt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hybrid structure of the GPG message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--pinentry-mode loopback --passphrase '' --list-packets msg.gpg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Symmetric vs. Asymmetric Encryption and Key Exchange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AES and GPG round trips return the plaintext, ECB shows one block repeated four times, Alice and Bob derive identical secrets, and the dump shows a pubkey enc packet.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1.4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root CA, issues a wildcard certificate from a CSR, adds the root to the trust store, checks status with an OCSP responder, then revokes it and publishes a CRL.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root CA, a signed *.lab.local certificate, a live OCSP responder and a CRL with the revoked serial.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openssl req, openssl ca, openssl verify, openssl ocsp, openssl crl, update-ca-certificates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build the CA layout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/root/ca/{certs,private,newcerts,crl} &amp;&amp; touch /root/ca/index.txt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root CA (the root of trust)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-x509 -new -key private/ca.key -days 3650 -config openssl.cnf -extensions v3_root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key and a wildcard CSR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-new -newkey rsa:2048 -nodes -subj "/CN=*.lab.local" -out web.csr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the CSR as the CA</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ca -batch -config openssl.cnf -in web.csr -out certs/web.crt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chain and add the root to the trust store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verify -CAfile certs/ca.crt certs/web.crt &amp;&amp; update-ca-certificates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certificate status with OCSP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ocsp -issuer certs/ca.crt -cert certs/web.crt -url http://127.0.0.1:2560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Revoke the certificate and publish a CRL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ca -config openssl.cnf -revoke certs/web.crt -crl_reason keyCompromise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self-signed and third-party certificates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verify certs/selfsigned.crt; grep -c 'BEGIN CERT' /etc/ssl/certs/ca-certificates.crt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PKI: Build Your Own Certificate Authority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certificate carries the *.lab.local SAN, OCSP reports good then revoked, the CRL lists serial 1000, and the self-signed certificate fails verification.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firm cannot patch a legacy SCADA host, so it isolates it on its own VLAN. Which control type is this? A) Corrective B) Compensating C) Deterrent D) Directive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of the following is a managerial control? A) Firewall ACL B) Bollard C) Annual risk assessment D) Disk encryption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 Zero Trust architecture, which component decides whether access is granted? A) Policy enforcement point B) Policy engine C) Implicit trust zone D) Subject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Visitors keep following staff through a badge-controlled door. Which control best stops this? A) Bollards B) Access control vestibule C) Lighting D) Honeypot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fake cloud access key is planted in a code repository and raises an alert when used. What is it? A) Honeypot B) Honeynet C) Honeytoken D) Honeyfile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Before approving a firewall change, the CAB asks how the old rules will be restored if it fails. What is this? A) Impact analysis B) Backout plan C) SOP D) Change window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1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provides non-repudiation for an email? A) Hashing it with SHA-256 B) Encrypting it with AES C) Signing it with the sender's private key D) Tokenizing it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browser must check certificate revocation in real time without downloading a full list. Which should it use? A) CRL B) OCSP C) CSR D) Key escrow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Compensating: the isolation substitutes for the patch that cannot be applied.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A risk assessment is a management planning activity; the others are technical or physical.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B — The policy engine evaluates policy and context; the administrator relays it and the PEP enforces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B — An access control vestibule lets one person through at a time, which stops tailgating.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honeytoken is decoy data, such as a credential, whose use reveals an intruder.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A backout plan is the pre-agreed set of steps to return to the previous working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1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C — Only the sender's private key could create the signature, so the sender cannot deny sending it.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B — OCSP queries the status of a single certificate in real time instead of a whole CRL.</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General Security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1.1 Types of Security Controls: Every security control can be described in two ways: its category, which is how it is implemented, and its type, which is what it achieves against a threat.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1.2 Fundamental Security Concepts: The CIA triad of confidentiality, integrity and availability defines what security protects, and non-repudiation adds proof that a subject performed an action.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1.3 Change Management: Unplanned and unauthorised changes are a leading cause of outages and of new vulnerabilities, so change management is itself a security control.</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1.4 Cryptographic Solutions: Public key infrastructure binds public keys to identities through certificates issued by certificate authorities, while private keys stay secret and key escrow allows controlled recovery.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DOMAIN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Threats, Vulnerabilities &amp; Mitigations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2.1 Actors · 2.2 Vectors · 2.3 Vulnerabilities · 2.4 Indicators · 2.5 Mitigations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EXAM WEIGHTING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2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2.1  Threat Actors &amp; Motivations</a:t>
            </a:r>
          </a:p>
          <a:p>
            <a:pPr algn="l">
              <a:spcAft>
                <a:spcPts val="300"/>
              </a:spcAft>
            </a:pPr>
            <a:r>
              <a:rPr sz="1200" b="0">
                <a:solidFill>
                  <a:srgbClr val="5B6372"/>
                </a:solidFill>
                <a:latin typeface="Arial"/>
              </a:rPr>
              <a:t>Compare and contrast common threat actors and motivations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2.2  Threat Vectors &amp; Attack Surfaces</a:t>
            </a:r>
          </a:p>
          <a:p>
            <a:pPr algn="l">
              <a:spcAft>
                <a:spcPts val="300"/>
              </a:spcAft>
            </a:pPr>
            <a:r>
              <a:rPr sz="1200" b="0">
                <a:solidFill>
                  <a:srgbClr val="5B6372"/>
                </a:solidFill>
                <a:latin typeface="Arial"/>
              </a:rPr>
              <a:t>Explain common threat vectors and attack surfaces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2.3  Types of Vulnerabilities</a:t>
            </a:r>
          </a:p>
          <a:p>
            <a:pPr algn="l">
              <a:spcAft>
                <a:spcPts val="300"/>
              </a:spcAft>
            </a:pPr>
            <a:r>
              <a:rPr sz="1200" b="0">
                <a:solidFill>
                  <a:srgbClr val="5B6372"/>
                </a:solidFill>
                <a:latin typeface="Arial"/>
              </a:rPr>
              <a:t>Explain various types of vulnerabilities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Indicators of Malicious Activity</a:t>
            </a:r>
          </a:p>
          <a:p>
            <a:pPr algn="l">
              <a:spcAft>
                <a:spcPts val="300"/>
              </a:spcAft>
            </a:pPr>
            <a:r>
              <a:rPr sz="1200" b="0">
                <a:solidFill>
                  <a:srgbClr val="5B6372"/>
                </a:solidFill>
                <a:latin typeface="Arial"/>
              </a:rPr>
              <a:t>Given a scenario, analyze indicators of malicious activity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2.5  Mitigation Techniques</a:t>
            </a:r>
          </a:p>
          <a:p>
            <a:pPr algn="l">
              <a:spcAft>
                <a:spcPts val="300"/>
              </a:spcAft>
            </a:pPr>
            <a:r>
              <a:rPr sz="1200" b="0">
                <a:solidFill>
                  <a:srgbClr val="5B6372"/>
                </a:solidFill>
                <a:latin typeface="Arial"/>
              </a:rPr>
              <a:t>Explain the purpose of mitigation techniques used to secure the enterprise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Threats, Vulnerabilities &amp;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8–10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8. Threat Actors &amp; the MITRE ATT&amp;CK Framework</a:t>
            </a:r>
          </a:p>
          <a:p>
            <a:pPr>
              <a:spcAft>
                <a:spcPts val="900"/>
              </a:spcAft>
            </a:pPr>
            <a:r>
              <a:rPr sz="1400" b="0">
                <a:solidFill>
                  <a:srgbClr val="161B26"/>
                </a:solidFill>
                <a:latin typeface="Arial"/>
              </a:rPr>
              <a:t>•  9. Phishing Email Analysis (SPF / DKIM / DMARC)</a:t>
            </a:r>
          </a:p>
          <a:p>
            <a:pPr>
              <a:spcAft>
                <a:spcPts val="900"/>
              </a:spcAft>
            </a:pPr>
            <a:r>
              <a:rPr sz="1400" b="0">
                <a:solidFill>
                  <a:srgbClr val="161B26"/>
                </a:solidFill>
                <a:latin typeface="Arial"/>
              </a:rPr>
              <a:t>•  10. SQL Injection (SQLi)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11. Cross-Site Scripting (XSS)</a:t>
            </a:r>
          </a:p>
          <a:p>
            <a:pPr>
              <a:spcAft>
                <a:spcPts val="900"/>
              </a:spcAft>
            </a:pPr>
            <a:r>
              <a:rPr sz="1400" b="0">
                <a:solidFill>
                  <a:srgbClr val="161B26"/>
                </a:solidFill>
                <a:latin typeface="Arial"/>
              </a:rPr>
              <a:t>•  12. Memory Vulnerabilities &amp; Exploit Mitigations</a:t>
            </a:r>
          </a:p>
          <a:p>
            <a:pPr>
              <a:spcAft>
                <a:spcPts val="900"/>
              </a:spcAft>
            </a:pPr>
            <a:r>
              <a:rPr sz="1400" b="0">
                <a:solidFill>
                  <a:srgbClr val="161B26"/>
                </a:solidFill>
                <a:latin typeface="Arial"/>
              </a:rPr>
              <a:t>•  13. Password Attacks: Spraying &amp; Brute Force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14–16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14. Malware Static Analysis &amp; Linux IOC Hunting</a:t>
            </a:r>
          </a:p>
          <a:p>
            <a:pPr>
              <a:spcAft>
                <a:spcPts val="900"/>
              </a:spcAft>
            </a:pPr>
            <a:r>
              <a:rPr sz="1400" b="0">
                <a:solidFill>
                  <a:srgbClr val="161B26"/>
                </a:solidFill>
                <a:latin typeface="Arial"/>
              </a:rPr>
              <a:t>•  15. DoS Simulation and Detection</a:t>
            </a:r>
          </a:p>
          <a:p>
            <a:pPr>
              <a:spcAft>
                <a:spcPts val="900"/>
              </a:spcAft>
            </a:pPr>
            <a:r>
              <a:rPr sz="1400" b="0">
                <a:solidFill>
                  <a:srgbClr val="161B26"/>
                </a:solidFill>
                <a:latin typeface="Arial"/>
              </a:rPr>
              <a:t>•  16. Linux Hardening Baseline with Lynis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 Actors &amp; Motivations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Actor types · Attributes · Motivations · Shadow 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ACTOR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Named Threat 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Nation-state</a:t>
            </a:r>
          </a:p>
          <a:p>
            <a:pPr algn="l">
              <a:spcAft>
                <a:spcPts val="300"/>
              </a:spcAft>
            </a:pPr>
            <a:r>
              <a:rPr sz="1200" b="0">
                <a:solidFill>
                  <a:srgbClr val="5B6372"/>
                </a:solidFill>
                <a:latin typeface="Arial"/>
              </a:rPr>
              <a:t>State-sponsored, best funded and most sophisticated; runs long-term APT campaigns for espionage or disruption.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Organized crime</a:t>
            </a:r>
          </a:p>
          <a:p>
            <a:pPr algn="l">
              <a:spcAft>
                <a:spcPts val="300"/>
              </a:spcAft>
            </a:pPr>
            <a:r>
              <a:rPr sz="1200" b="0">
                <a:solidFill>
                  <a:srgbClr val="5B6372"/>
                </a:solidFill>
                <a:latin typeface="Arial"/>
              </a:rPr>
              <a:t>Professional, profit-driven groups behind most ransomware and large-scale fraud; well resourced but money-motivated.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Hacktivist</a:t>
            </a:r>
          </a:p>
          <a:p>
            <a:pPr algn="l">
              <a:spcAft>
                <a:spcPts val="300"/>
              </a:spcAft>
            </a:pPr>
            <a:r>
              <a:rPr sz="1200" b="0">
                <a:solidFill>
                  <a:srgbClr val="5B6372"/>
                </a:solidFill>
                <a:latin typeface="Arial"/>
              </a:rPr>
              <a:t>Ideologically driven; defaces sites, leaks data or runs DDoS to make a political or social statement.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Insider threat</a:t>
            </a:r>
          </a:p>
          <a:p>
            <a:pPr algn="l">
              <a:spcAft>
                <a:spcPts val="300"/>
              </a:spcAft>
            </a:pPr>
            <a:r>
              <a:rPr sz="1200" b="0">
                <a:solidFill>
                  <a:srgbClr val="5B6372"/>
                </a:solidFill>
                <a:latin typeface="Arial"/>
              </a:rPr>
              <a:t>A current or former employee or contractor who already has legitimate access; may act for revenge or money.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Unskilled attacker</a:t>
            </a:r>
          </a:p>
          <a:p>
            <a:pPr algn="l">
              <a:spcAft>
                <a:spcPts val="300"/>
              </a:spcAft>
            </a:pPr>
            <a:r>
              <a:rPr sz="1200" b="0">
                <a:solidFill>
                  <a:srgbClr val="5B6372"/>
                </a:solidFill>
                <a:latin typeface="Arial"/>
              </a:rPr>
              <a:t>Formerly script kiddie; low skill, runs others' tools and exploits without understanding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Shadow IT</a:t>
            </a:r>
          </a:p>
          <a:p>
            <a:pPr algn="l">
              <a:spcAft>
                <a:spcPts val="300"/>
              </a:spcAft>
            </a:pPr>
            <a:r>
              <a:rPr sz="1200" b="0">
                <a:solidFill>
                  <a:srgbClr val="5B6372"/>
                </a:solidFill>
                <a:latin typeface="Arial"/>
              </a:rPr>
              <a:t>Staff deploying unsanctioned apps, cloud accounts or devices; not malicious but creates unmanaged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ATTRIBUTES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Attributes That Classify an Actor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vs external</a:t>
            </a:r>
          </a:p>
          <a:p>
            <a:pPr algn="l">
              <a:spcAft>
                <a:spcPts val="300"/>
              </a:spcAft>
            </a:pPr>
            <a:r>
              <a:rPr sz="1200" b="0">
                <a:solidFill>
                  <a:srgbClr val="5B6372"/>
                </a:solidFill>
                <a:latin typeface="Arial"/>
              </a:rPr>
              <a:t>Internal actors already hold access and trust; external actors must first breach the perimeter.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Resources / funding</a:t>
            </a:r>
          </a:p>
          <a:p>
            <a:pPr algn="l">
              <a:spcAft>
                <a:spcPts val="300"/>
              </a:spcAft>
            </a:pPr>
            <a:r>
              <a:rPr sz="1200" b="0">
                <a:solidFill>
                  <a:srgbClr val="5B6372"/>
                </a:solidFill>
                <a:latin typeface="Arial"/>
              </a:rPr>
              <a:t>Ranges from a lone hobbyist's spare time to a nation-state's budget, tooling and personnel.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Sophistication</a:t>
            </a:r>
          </a:p>
          <a:p>
            <a:pPr algn="l">
              <a:spcAft>
                <a:spcPts val="300"/>
              </a:spcAft>
            </a:pPr>
            <a:r>
              <a:rPr sz="1200" b="0">
                <a:solidFill>
                  <a:srgbClr val="5B6372"/>
                </a:solidFill>
                <a:latin typeface="Arial"/>
              </a:rPr>
              <a:t>Capability from reusing public exploits up to developing custom zero-day malware and living-off-the-land tradecraft.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Intent</a:t>
            </a:r>
          </a:p>
          <a:p>
            <a:pPr algn="l">
              <a:spcAft>
                <a:spcPts val="300"/>
              </a:spcAft>
            </a:pPr>
            <a:r>
              <a:rPr sz="1200" b="0">
                <a:solidFill>
                  <a:srgbClr val="5B6372"/>
                </a:solidFill>
                <a:latin typeface="Arial"/>
              </a:rPr>
              <a:t>Whether the actor seeks money, information, disruption, or simply notoriety shapes the targets they pick.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MOTIVATIONS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Motivations the Exam Lists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Financial gain</a:t>
            </a:r>
          </a:p>
          <a:p>
            <a:pPr algn="l">
              <a:spcAft>
                <a:spcPts val="300"/>
              </a:spcAft>
            </a:pPr>
            <a:r>
              <a:rPr sz="1100" b="0">
                <a:solidFill>
                  <a:srgbClr val="5B6372"/>
                </a:solidFill>
                <a:latin typeface="Arial"/>
              </a:rPr>
              <a:t>Ransomware, fraud and theft for money; the dominant driver behind organized crime.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Espionage</a:t>
            </a:r>
          </a:p>
          <a:p>
            <a:pPr algn="l">
              <a:spcAft>
                <a:spcPts val="300"/>
              </a:spcAft>
            </a:pPr>
            <a:r>
              <a:rPr sz="1100" b="0">
                <a:solidFill>
                  <a:srgbClr val="5B6372"/>
                </a:solidFill>
                <a:latin typeface="Arial"/>
              </a:rPr>
              <a:t>Stealing secrets or intellectual property, typically a nation-state or competitor goal.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exfiltration</a:t>
            </a:r>
          </a:p>
          <a:p>
            <a:pPr algn="l">
              <a:spcAft>
                <a:spcPts val="300"/>
              </a:spcAft>
            </a:pPr>
            <a:r>
              <a:rPr sz="1100" b="0">
                <a:solidFill>
                  <a:srgbClr val="5B6372"/>
                </a:solidFill>
                <a:latin typeface="Arial"/>
              </a:rPr>
              <a:t>Copying sensitive data out of the organisation, often paired with espionage or extortion.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Service disruption</a:t>
            </a:r>
          </a:p>
          <a:p>
            <a:pPr algn="l">
              <a:spcAft>
                <a:spcPts val="300"/>
              </a:spcAft>
            </a:pPr>
            <a:r>
              <a:rPr sz="1100" b="0">
                <a:solidFill>
                  <a:srgbClr val="5B6372"/>
                </a:solidFill>
                <a:latin typeface="Arial"/>
              </a:rPr>
              <a:t>Taking systems offline via DDoS or wiper malware; a hacktivist or nation-state 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Blackmail</a:t>
            </a:r>
          </a:p>
          <a:p>
            <a:pPr algn="l">
              <a:spcAft>
                <a:spcPts val="300"/>
              </a:spcAft>
            </a:pPr>
            <a:r>
              <a:rPr sz="1100" b="0">
                <a:solidFill>
                  <a:srgbClr val="5B6372"/>
                </a:solidFill>
                <a:latin typeface="Arial"/>
              </a:rPr>
              <a:t>Threatening to release stolen data unless paid, as in ransomware double extortion.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Philosophical / political</a:t>
            </a:r>
          </a:p>
          <a:p>
            <a:pPr algn="l">
              <a:spcAft>
                <a:spcPts val="300"/>
              </a:spcAft>
            </a:pPr>
            <a:r>
              <a:rPr sz="1100" b="0">
                <a:solidFill>
                  <a:srgbClr val="5B6372"/>
                </a:solidFill>
                <a:latin typeface="Arial"/>
              </a:rPr>
              <a:t>Ideological belief driving hacktivism; closely tied to disruption and chaos.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MOTIVATIONS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Motivations the Exam Lists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Revenge</a:t>
            </a:r>
          </a:p>
          <a:p>
            <a:pPr algn="l">
              <a:spcAft>
                <a:spcPts val="300"/>
              </a:spcAft>
            </a:pPr>
            <a:r>
              <a:rPr sz="1100" b="0">
                <a:solidFill>
                  <a:srgbClr val="5B6372"/>
                </a:solidFill>
                <a:latin typeface="Arial"/>
              </a:rPr>
              <a:t>A disgruntled insider or ex-employee acting to harm the organisation.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War / chaos</a:t>
            </a:r>
          </a:p>
          <a:p>
            <a:pPr algn="l">
              <a:spcAft>
                <a:spcPts val="300"/>
              </a:spcAft>
            </a:pPr>
            <a:r>
              <a:rPr sz="1100" b="0">
                <a:solidFill>
                  <a:srgbClr val="5B6372"/>
                </a:solidFill>
                <a:latin typeface="Arial"/>
              </a:rPr>
              <a:t>Cyber operations supporting armed conflict, or disruption purely to cause chaos.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2.1 · INTERNAL vs EXTERNAL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Insider Threat versus External Attacker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Insider threat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External attacker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Already has valid credentials and physical or network access.</a:t>
            </a:r>
          </a:p>
          <a:p>
            <a:pPr>
              <a:spcAft>
                <a:spcPts val="1000"/>
              </a:spcAft>
            </a:pPr>
            <a:r>
              <a:rPr sz="1600" b="0">
                <a:solidFill>
                  <a:srgbClr val="161B26"/>
                </a:solidFill>
                <a:latin typeface="Arial"/>
              </a:rPr>
              <a:t>•  Knows where the valuable data lives and which controls are weak.</a:t>
            </a:r>
          </a:p>
          <a:p>
            <a:pPr>
              <a:spcAft>
                <a:spcPts val="1000"/>
              </a:spcAft>
            </a:pPr>
            <a:r>
              <a:rPr sz="1600" b="0">
                <a:solidFill>
                  <a:srgbClr val="161B26"/>
                </a:solidFill>
                <a:latin typeface="Arial"/>
              </a:rPr>
              <a:t>•  Hardest to detect because the activity looks authorised.</a:t>
            </a:r>
          </a:p>
          <a:p>
            <a:pPr>
              <a:spcAft>
                <a:spcPts val="1000"/>
              </a:spcAft>
            </a:pPr>
            <a:r>
              <a:rPr sz="1600" b="0">
                <a:solidFill>
                  <a:srgbClr val="161B26"/>
                </a:solidFill>
                <a:latin typeface="Arial"/>
              </a:rPr>
              <a:t>•  Countered by least privilege, separation of duties and user-behaviour analytics.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Must first find a way through the perimeter or social-engineer a user.</a:t>
            </a:r>
          </a:p>
          <a:p>
            <a:pPr>
              <a:spcAft>
                <a:spcPts val="1000"/>
              </a:spcAft>
            </a:pPr>
            <a:r>
              <a:rPr sz="1600" b="0">
                <a:solidFill>
                  <a:srgbClr val="161B26"/>
                </a:solidFill>
                <a:latin typeface="Arial"/>
              </a:rPr>
              <a:t>•  Learns the environment only after gaining a foothold.</a:t>
            </a:r>
          </a:p>
          <a:p>
            <a:pPr>
              <a:spcAft>
                <a:spcPts val="1000"/>
              </a:spcAft>
            </a:pPr>
            <a:r>
              <a:rPr sz="1600" b="0">
                <a:solidFill>
                  <a:srgbClr val="161B26"/>
                </a:solidFill>
                <a:latin typeface="Arial"/>
              </a:rPr>
              <a:t>•  Leaves more noise: scanning, failed logins, new connections.</a:t>
            </a:r>
          </a:p>
          <a:p>
            <a:pPr>
              <a:spcAft>
                <a:spcPts val="1000"/>
              </a:spcAft>
            </a:pPr>
            <a:r>
              <a:rPr sz="1600" b="0">
                <a:solidFill>
                  <a:srgbClr val="161B26"/>
                </a:solidFill>
                <a:latin typeface="Arial"/>
              </a:rPr>
              <a:t>•  Countered by patching, MFA, email filtering and network monitoring.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2.1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APT is a campaign, not a single tool.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Advanced Persistent Threat describes a well-funded actor, usually a nation-state, that quietly maintains long-term access to pursue espionage or sabotage.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2.1 · SHADOW 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Shadow IT Is a Threat Source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Unmanaged assets</a:t>
            </a:r>
          </a:p>
          <a:p>
            <a:pPr algn="l">
              <a:spcAft>
                <a:spcPts val="300"/>
              </a:spcAft>
            </a:pPr>
            <a:r>
              <a:rPr sz="1200" b="0">
                <a:solidFill>
                  <a:srgbClr val="5B6372"/>
                </a:solidFill>
                <a:latin typeface="Arial"/>
              </a:rPr>
              <a:t>Apps and cloud accounts bought outside IT bypass patching, logging and access reviews.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visibility</a:t>
            </a:r>
          </a:p>
          <a:p>
            <a:pPr algn="l">
              <a:spcAft>
                <a:spcPts val="300"/>
              </a:spcAft>
            </a:pPr>
            <a:r>
              <a:rPr sz="1200" b="0">
                <a:solidFill>
                  <a:srgbClr val="5B6372"/>
                </a:solidFill>
                <a:latin typeface="Arial"/>
              </a:rPr>
              <a:t>Security cannot defend what it does not know exists, so shadow IT widens the attack surface silently.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leakage</a:t>
            </a:r>
          </a:p>
          <a:p>
            <a:pPr algn="l">
              <a:spcAft>
                <a:spcPts val="300"/>
              </a:spcAft>
            </a:pPr>
            <a:r>
              <a:rPr sz="1200" b="0">
                <a:solidFill>
                  <a:srgbClr val="5B6372"/>
                </a:solidFill>
                <a:latin typeface="Arial"/>
              </a:rPr>
              <a:t>Corporate data moved into unsanctioned SaaS escapes DLP and backup controls.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 malicious</a:t>
            </a:r>
          </a:p>
          <a:p>
            <a:pPr algn="l">
              <a:spcAft>
                <a:spcPts val="300"/>
              </a:spcAft>
            </a:pPr>
            <a:r>
              <a:rPr sz="1200" b="0">
                <a:solidFill>
                  <a:srgbClr val="5B6372"/>
                </a:solidFill>
                <a:latin typeface="Arial"/>
              </a:rPr>
              <a:t>Staff usually adopt shadow IT for convenience, which is why policy and sanctioned alternatives beat punishment.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Threat Actors &amp; Motivations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Unskilled attacker = the old script kiddie: low skill, borrowed tools, not low impact.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Nation-state = most resources and sophistication; organized crime = most financially motivated.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Shadow IT is unsanctioned but usually not malicious; the risk is lack of oversight.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Match motivation to actor: hacktivist to ideology, insider to revenge, crime to money, nation-state to espionage.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downloads the MITRE ATT&amp;CK Enterprise JSON and uses jq to profile a real APT group, mapping its actor type, likely motivation and known techniques.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JSON-driven threat-actor profile tying one APT group to its ATT&amp;CK techniques.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jq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the ATT&amp;CK Enterprise dataset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-sLo attack.json https://raw.githubusercontent.com/mitre/cti/master/enterprise-attack/enterprise-attack.json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dataset loaded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'.objects | length' attack.json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List the intrusion sets (threat groups)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select(.type=="intrusion-set") | .name' attack.json | sort | head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Profile one group's aliases and description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select(.type=="intrusion-set" and .name=="APT29") | {name,aliases,description}' attack.json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Extract the techniques attributed to the group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'.objects[] | select(.type=="attack-pattern") | .name' attack.json | sort -u | head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Classify the actor type and motivation</a:t>
            </a:r>
          </a:p>
        </p:txBody>
      </p:sp>
      <p:sp>
        <p:nvSpPr>
          <p:cNvPr id="21" name="Oval 20"/>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3" name="TextBox 22"/>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Record the profile as a threat note</a:t>
            </a:r>
          </a:p>
        </p:txBody>
      </p:sp>
      <p:sp>
        <p:nvSpPr>
          <p:cNvPr id="24" name="Rectangle 23"/>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profile.txt &lt;&lt;'EOF'  …</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Threat Actors &amp; the MITRE ATT&amp;CK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produces a profile naming the group's actor type (nation-state), its motivation (espionage) and three mapped ATT&amp;CK technique IDs.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Threat Vectors &amp; Attack Surfaces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Message · File · Network · Supply chain · Social engineering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VECTORS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Technical Threat Vectors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Message-based</a:t>
            </a:r>
          </a:p>
          <a:p>
            <a:pPr algn="l">
              <a:spcAft>
                <a:spcPts val="300"/>
              </a:spcAft>
            </a:pPr>
            <a:r>
              <a:rPr sz="1200" b="0">
                <a:solidFill>
                  <a:srgbClr val="5B6372"/>
                </a:solidFill>
                <a:latin typeface="Arial"/>
              </a:rPr>
              <a:t>Email, SMS and instant messaging carrying malicious links or attachments; the most common delivery route.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Image / file-based</a:t>
            </a:r>
          </a:p>
          <a:p>
            <a:pPr algn="l">
              <a:spcAft>
                <a:spcPts val="300"/>
              </a:spcAft>
            </a:pPr>
            <a:r>
              <a:rPr sz="1200" b="0">
                <a:solidFill>
                  <a:srgbClr val="5B6372"/>
                </a:solidFill>
                <a:latin typeface="Arial"/>
              </a:rPr>
              <a:t>Malware hidden in a document, PDF, macro or image; executes when the file is opened.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call</a:t>
            </a:r>
          </a:p>
          <a:p>
            <a:pPr algn="l">
              <a:spcAft>
                <a:spcPts val="300"/>
              </a:spcAft>
            </a:pPr>
            <a:r>
              <a:rPr sz="1200" b="0">
                <a:solidFill>
                  <a:srgbClr val="5B6372"/>
                </a:solidFill>
                <a:latin typeface="Arial"/>
              </a:rPr>
              <a:t>Phone-based attacks (vishing) and fraudulent support calls that trick a user into acting.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Removable device</a:t>
            </a:r>
          </a:p>
          <a:p>
            <a:pPr algn="l">
              <a:spcAft>
                <a:spcPts val="300"/>
              </a:spcAft>
            </a:pPr>
            <a:r>
              <a:rPr sz="1200" b="0">
                <a:solidFill>
                  <a:srgbClr val="5B6372"/>
                </a:solidFill>
                <a:latin typeface="Arial"/>
              </a:rPr>
              <a:t>A dropped or infected USB drive that auto-runs code or exfiltrates data when plugged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Vulnerable software</a:t>
            </a:r>
          </a:p>
          <a:p>
            <a:pPr algn="l">
              <a:spcAft>
                <a:spcPts val="300"/>
              </a:spcAft>
            </a:pPr>
            <a:r>
              <a:rPr sz="1200" b="0">
                <a:solidFill>
                  <a:srgbClr val="5B6372"/>
                </a:solidFill>
                <a:latin typeface="Arial"/>
              </a:rPr>
              <a:t>Unpatched client or agentless software with exploitable flaws.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Unsupported systems</a:t>
            </a:r>
          </a:p>
          <a:p>
            <a:pPr algn="l">
              <a:spcAft>
                <a:spcPts val="300"/>
              </a:spcAft>
            </a:pPr>
            <a:r>
              <a:rPr sz="1200" b="0">
                <a:solidFill>
                  <a:srgbClr val="5B6372"/>
                </a:solidFill>
                <a:latin typeface="Arial"/>
              </a:rPr>
              <a:t>End-of-life operating systems and apps that no longer receive security patches.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ATTACK SURFACE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Enlarges the Attack Surface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service ports</a:t>
            </a:r>
          </a:p>
          <a:p>
            <a:pPr algn="l">
              <a:spcAft>
                <a:spcPts val="300"/>
              </a:spcAft>
            </a:pPr>
            <a:r>
              <a:rPr sz="1200" b="0">
                <a:solidFill>
                  <a:srgbClr val="5B6372"/>
                </a:solidFill>
                <a:latin typeface="Arial"/>
              </a:rPr>
              <a:t>Every listening port is a potential entry point; unused services should be closed.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Default credentials</a:t>
            </a:r>
          </a:p>
          <a:p>
            <a:pPr algn="l">
              <a:spcAft>
                <a:spcPts val="300"/>
              </a:spcAft>
            </a:pPr>
            <a:r>
              <a:rPr sz="1200" b="0">
                <a:solidFill>
                  <a:srgbClr val="5B6372"/>
                </a:solidFill>
                <a:latin typeface="Arial"/>
              </a:rPr>
              <a:t>Factory usernames and passwords left unchanged are trivially looked up and abused.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Unsecure networks</a:t>
            </a:r>
          </a:p>
          <a:p>
            <a:pPr algn="l">
              <a:spcAft>
                <a:spcPts val="300"/>
              </a:spcAft>
            </a:pPr>
            <a:r>
              <a:rPr sz="1200" b="0">
                <a:solidFill>
                  <a:srgbClr val="5B6372"/>
                </a:solidFill>
                <a:latin typeface="Arial"/>
              </a:rPr>
              <a:t>Open or weak wireless, exposed wired jacks and unmanaged Bluetooth all offer a way 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Client vs agentless</a:t>
            </a:r>
          </a:p>
          <a:p>
            <a:pPr algn="l">
              <a:spcAft>
                <a:spcPts val="300"/>
              </a:spcAft>
            </a:pPr>
            <a:r>
              <a:rPr sz="1200" b="0">
                <a:solidFill>
                  <a:srgbClr val="5B6372"/>
                </a:solidFill>
                <a:latin typeface="Arial"/>
              </a:rPr>
              <a:t>Client-based software runs an installed agent; agentless runs in the browser or via a protocol, with different exposure.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SUPPLY CHAIN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Supply-Chain Threat Vectors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Managed service provider</a:t>
            </a:r>
          </a:p>
          <a:p>
            <a:pPr algn="l">
              <a:spcAft>
                <a:spcPts val="300"/>
              </a:spcAft>
            </a:pPr>
            <a:r>
              <a:rPr sz="1100" b="0">
                <a:solidFill>
                  <a:srgbClr val="5B6372"/>
                </a:solidFill>
                <a:latin typeface="Arial"/>
              </a:rPr>
              <a:t>An MSP with broad remote access becomes a single point an attacker can use to reach many clients.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Vendors</a:t>
            </a:r>
          </a:p>
          <a:p>
            <a:pPr algn="l">
              <a:spcAft>
                <a:spcPts val="300"/>
              </a:spcAft>
            </a:pPr>
            <a:r>
              <a:rPr sz="1100" b="0">
                <a:solidFill>
                  <a:srgbClr val="5B6372"/>
                </a:solidFill>
                <a:latin typeface="Arial"/>
              </a:rPr>
              <a:t>Third-party software updates can be poisoned, as in the SolarWinds and 3CX compromises.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Suppliers</a:t>
            </a:r>
          </a:p>
          <a:p>
            <a:pPr algn="l">
              <a:spcAft>
                <a:spcPts val="300"/>
              </a:spcAft>
            </a:pPr>
            <a:r>
              <a:rPr sz="1100" b="0">
                <a:solidFill>
                  <a:srgbClr val="5B6372"/>
                </a:solidFill>
                <a:latin typeface="Arial"/>
              </a:rPr>
              <a:t>Tampered hardware or components introduce backdoors before the device ever ships.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inherit the security posture of everyone you trust; vet and monitor the whole chain.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SOCIAL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 Vectors: Phishing Family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Phishing</a:t>
            </a:r>
          </a:p>
          <a:p>
            <a:pPr algn="l">
              <a:spcAft>
                <a:spcPts val="300"/>
              </a:spcAft>
            </a:pPr>
            <a:r>
              <a:rPr sz="1200" b="0">
                <a:solidFill>
                  <a:srgbClr val="5B6372"/>
                </a:solidFill>
                <a:latin typeface="Arial"/>
              </a:rPr>
              <a:t>Fraudulent email luring the victim to a fake site or malicious attachment to harvest credentials.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Vishing</a:t>
            </a:r>
          </a:p>
          <a:p>
            <a:pPr algn="l">
              <a:spcAft>
                <a:spcPts val="300"/>
              </a:spcAft>
            </a:pPr>
            <a:r>
              <a:rPr sz="1200" b="0">
                <a:solidFill>
                  <a:srgbClr val="5B6372"/>
                </a:solidFill>
                <a:latin typeface="Arial"/>
              </a:rPr>
              <a:t>Voice phishing over the phone, often impersonating a bank, help desk or executive.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Smishing</a:t>
            </a:r>
          </a:p>
          <a:p>
            <a:pPr algn="l">
              <a:spcAft>
                <a:spcPts val="300"/>
              </a:spcAft>
            </a:pPr>
            <a:r>
              <a:rPr sz="1200" b="0">
                <a:solidFill>
                  <a:srgbClr val="5B6372"/>
                </a:solidFill>
                <a:latin typeface="Arial"/>
              </a:rPr>
              <a:t>Phishing over SMS text, commonly a fake parcel-delivery or bank-alert link.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Spear phishing</a:t>
            </a:r>
          </a:p>
          <a:p>
            <a:pPr algn="l">
              <a:spcAft>
                <a:spcPts val="300"/>
              </a:spcAft>
            </a:pPr>
            <a:r>
              <a:rPr sz="1200" b="0">
                <a:solidFill>
                  <a:srgbClr val="5B6372"/>
                </a:solidFill>
                <a:latin typeface="Arial"/>
              </a:rPr>
              <a:t>A targeted phish tailored to one person or role using researched detail.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Whaling</a:t>
            </a:r>
          </a:p>
          <a:p>
            <a:pPr algn="l">
              <a:spcAft>
                <a:spcPts val="300"/>
              </a:spcAft>
            </a:pPr>
            <a:r>
              <a:rPr sz="1200" b="0">
                <a:solidFill>
                  <a:srgbClr val="5B6372"/>
                </a:solidFill>
                <a:latin typeface="Arial"/>
              </a:rPr>
              <a:t>Spear phishing aimed at a high-value target such as a CEO or CFO.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email compromise</a:t>
            </a:r>
          </a:p>
          <a:p>
            <a:pPr algn="l">
              <a:spcAft>
                <a:spcPts val="300"/>
              </a:spcAft>
            </a:pPr>
            <a:r>
              <a:rPr sz="1200" b="0">
                <a:solidFill>
                  <a:srgbClr val="5B6372"/>
                </a:solidFill>
                <a:latin typeface="Arial"/>
              </a:rPr>
              <a:t>A hijacked or spoofed executive account used to order fraudulent wire transfers.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2.2 · SOCIAL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Human Vectors: Deception &amp; Manipulation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Pretexting</a:t>
            </a:r>
          </a:p>
          <a:p>
            <a:pPr algn="l">
              <a:spcAft>
                <a:spcPts val="300"/>
              </a:spcAft>
            </a:pPr>
            <a:r>
              <a:rPr sz="1200" b="0">
                <a:solidFill>
                  <a:srgbClr val="5B6372"/>
                </a:solidFill>
                <a:latin typeface="Arial"/>
              </a:rPr>
              <a:t>Inventing a believable scenario or role to justify the request and lower the victim's guard.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Impersonation</a:t>
            </a:r>
          </a:p>
          <a:p>
            <a:pPr algn="l">
              <a:spcAft>
                <a:spcPts val="300"/>
              </a:spcAft>
            </a:pPr>
            <a:r>
              <a:rPr sz="1200" b="0">
                <a:solidFill>
                  <a:srgbClr val="5B6372"/>
                </a:solidFill>
                <a:latin typeface="Arial"/>
              </a:rPr>
              <a:t>Pretending to be someone trusted, such as IT support, a courier or a colleague.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Watering hole</a:t>
            </a:r>
          </a:p>
          <a:p>
            <a:pPr algn="l">
              <a:spcAft>
                <a:spcPts val="300"/>
              </a:spcAft>
            </a:pPr>
            <a:r>
              <a:rPr sz="1200" b="0">
                <a:solidFill>
                  <a:srgbClr val="5B6372"/>
                </a:solidFill>
                <a:latin typeface="Arial"/>
              </a:rPr>
              <a:t>Compromising a site the target group is known to visit so victims infect themselves.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impersonation</a:t>
            </a:r>
          </a:p>
          <a:p>
            <a:pPr algn="l">
              <a:spcAft>
                <a:spcPts val="300"/>
              </a:spcAft>
            </a:pPr>
            <a:r>
              <a:rPr sz="1200" b="0">
                <a:solidFill>
                  <a:srgbClr val="5B6372"/>
                </a:solidFill>
                <a:latin typeface="Arial"/>
              </a:rPr>
              <a:t>Cloning a trusted brand's look in emails or sites to make the lure convincing.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Typosquatting</a:t>
            </a:r>
          </a:p>
          <a:p>
            <a:pPr algn="l">
              <a:spcAft>
                <a:spcPts val="300"/>
              </a:spcAft>
            </a:pPr>
            <a:r>
              <a:rPr sz="1200" b="0">
                <a:solidFill>
                  <a:srgbClr val="5B6372"/>
                </a:solidFill>
                <a:latin typeface="Arial"/>
              </a:rPr>
              <a:t>Registering look-alike domains (paypa1.com) to catch mistyped URLs and host phishing pages.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Misinformation</a:t>
            </a:r>
          </a:p>
          <a:p>
            <a:pPr algn="l">
              <a:spcAft>
                <a:spcPts val="300"/>
              </a:spcAft>
            </a:pPr>
            <a:r>
              <a:rPr sz="1200" b="0">
                <a:solidFill>
                  <a:srgbClr val="5B6372"/>
                </a:solidFill>
                <a:latin typeface="Arial"/>
              </a:rPr>
              <a:t>Seeding false or deliberately deceptive content to manipulate opinion or hide an attack.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2.2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People are the largest attack surface.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Most breaches begin with social engineering because it bypasses technical controls entirely; awareness training is the primary defence against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2.2 · PRINCIPLES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Social Engineering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Authority &amp; urgency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Posing as a boss or the law.</a:t>
            </a:r>
          </a:p>
          <a:p>
            <a:pPr>
              <a:spcAft>
                <a:spcPts val="900"/>
              </a:spcAft>
            </a:pPr>
            <a:r>
              <a:rPr sz="1400" b="0">
                <a:solidFill>
                  <a:srgbClr val="161B26"/>
                </a:solidFill>
                <a:latin typeface="Arial"/>
              </a:rPr>
              <a:t>•  A deadline rushes the victim.</a:t>
            </a:r>
          </a:p>
          <a:p>
            <a:pPr>
              <a:spcAft>
                <a:spcPts val="900"/>
              </a:spcAft>
            </a:pPr>
            <a:r>
              <a:rPr sz="1400" b="0">
                <a:solidFill>
                  <a:srgbClr val="161B26"/>
                </a:solidFill>
                <a:latin typeface="Arial"/>
              </a:rPr>
              <a:t>•  Fear short-circuits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Trust &amp; familiarity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Known brands and logos.</a:t>
            </a:r>
          </a:p>
          <a:p>
            <a:pPr>
              <a:spcAft>
                <a:spcPts val="900"/>
              </a:spcAft>
            </a:pPr>
            <a:r>
              <a:rPr sz="1400" b="0">
                <a:solidFill>
                  <a:srgbClr val="161B26"/>
                </a:solidFill>
                <a:latin typeface="Arial"/>
              </a:rPr>
              <a:t>•  A helpful, friendly tone.</a:t>
            </a:r>
          </a:p>
          <a:p>
            <a:pPr>
              <a:spcAft>
                <a:spcPts val="900"/>
              </a:spcAft>
            </a:pPr>
            <a:r>
              <a:rPr sz="1400" b="0">
                <a:solidFill>
                  <a:srgbClr val="161B26"/>
                </a:solidFill>
                <a:latin typeface="Arial"/>
              </a:rPr>
              <a:t>•  Shared context from research.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Scarcity &amp; greed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Limited-time offers.</a:t>
            </a:r>
          </a:p>
          <a:p>
            <a:pPr>
              <a:spcAft>
                <a:spcPts val="900"/>
              </a:spcAft>
            </a:pPr>
            <a:r>
              <a:rPr sz="1400" b="0">
                <a:solidFill>
                  <a:srgbClr val="161B26"/>
                </a:solidFill>
                <a:latin typeface="Arial"/>
              </a:rPr>
              <a:t>•  Promised reward or refund.</a:t>
            </a:r>
          </a:p>
          <a:p>
            <a:pPr>
              <a:spcAft>
                <a:spcPts val="900"/>
              </a:spcAft>
            </a:pPr>
            <a:r>
              <a:rPr sz="1400" b="0">
                <a:solidFill>
                  <a:srgbClr val="161B26"/>
                </a:solidFill>
                <a:latin typeface="Arial"/>
              </a:rPr>
              <a:t>•  Fear of missing out drives clicks.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Threat Vectors &amp; Attack Surfaces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Vector = the route in; attack surface = every route added together.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Vishing is voice, smishing is SMS, phishing is email; whaling targets executives.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Pretexting is the fabricated story; impersonation is the fake identity used to tell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Typosquatting relies on mistyped URLs; a watering hole poisons a site the victims already trust.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Supply-chain attacks exploit the trust you place in MSPs, vendors and suppliers.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dissects a spoofed email header and queries the claimed sender's SPF, DKIM and DMARC DNS records to prove the message was forged.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header-analysis workflow that exposes SPF/DKIM/DMARC spoofing.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dnsutils, dig, swaks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DNS and mail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dnsutils swaks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Save a suspicious email header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mail.eml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Received and Return-Path lines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-Ei 'received|return-path|from' mail.eml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claimed sender's SPF record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paypal.com | grep spf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the DMARC policy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_dmarc.paypal.com</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a DKIM selector key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TXT selector1._domainkey.paypal.com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Compare the sending IP to the SPF list</a:t>
            </a:r>
          </a:p>
        </p:txBody>
      </p:sp>
      <p:sp>
        <p:nvSpPr>
          <p:cNvPr id="21" name="Oval 20"/>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3" name="TextBox 22"/>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Summarise the verdict</a:t>
            </a:r>
          </a:p>
        </p:txBody>
      </p:sp>
      <p:sp>
        <p:nvSpPr>
          <p:cNvPr id="24" name="Rectangle 23"/>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'spf=fail dkim=none dmarc=fail -&gt; spoofed'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Phishing Email Analysis (SPF / DKIM / DMARC)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shows the sending IP is absent from the real SPF record and concludes spf/dkim/dmarc fail, proving the message is spoofed.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Types of Vulnerabilities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Application · OS · Web · Hardware · Cloud · Supply chain · Mobile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APPLICATION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Application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 injection</a:t>
            </a:r>
          </a:p>
          <a:p>
            <a:pPr algn="l">
              <a:spcAft>
                <a:spcPts val="300"/>
              </a:spcAft>
            </a:pPr>
            <a:r>
              <a:rPr sz="1200" b="0">
                <a:solidFill>
                  <a:srgbClr val="5B6372"/>
                </a:solidFill>
                <a:latin typeface="Arial"/>
              </a:rPr>
              <a:t>Hostile code or data written into a running process's memory to hijack its execution.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Buffer overflow</a:t>
            </a:r>
          </a:p>
          <a:p>
            <a:pPr algn="l">
              <a:spcAft>
                <a:spcPts val="300"/>
              </a:spcAft>
            </a:pPr>
            <a:r>
              <a:rPr sz="1200" b="0">
                <a:solidFill>
                  <a:srgbClr val="5B6372"/>
                </a:solidFill>
                <a:latin typeface="Arial"/>
              </a:rPr>
              <a:t>Writing past a buffer's bounds overwrites adjacent memory, often the return address, to run attacker code.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Race condition</a:t>
            </a:r>
          </a:p>
          <a:p>
            <a:pPr algn="l">
              <a:spcAft>
                <a:spcPts val="300"/>
              </a:spcAft>
            </a:pPr>
            <a:r>
              <a:rPr sz="1200" b="0">
                <a:solidFill>
                  <a:srgbClr val="5B6372"/>
                </a:solidFill>
                <a:latin typeface="Arial"/>
              </a:rPr>
              <a:t>A flaw where the result depends on timing between two operations that should be atomic.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TOC/TOU</a:t>
            </a:r>
          </a:p>
          <a:p>
            <a:pPr algn="l">
              <a:spcAft>
                <a:spcPts val="300"/>
              </a:spcAft>
            </a:pPr>
            <a:r>
              <a:rPr sz="1200" b="0">
                <a:solidFill>
                  <a:srgbClr val="5B6372"/>
                </a:solidFill>
                <a:latin typeface="Arial"/>
              </a:rPr>
              <a:t>Time-of-check to time-of-use: state is validated, then changed before it is used, defeating the check.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Malicious update</a:t>
            </a:r>
          </a:p>
          <a:p>
            <a:pPr algn="l">
              <a:spcAft>
                <a:spcPts val="300"/>
              </a:spcAft>
            </a:pPr>
            <a:r>
              <a:rPr sz="1200" b="0">
                <a:solidFill>
                  <a:srgbClr val="5B6372"/>
                </a:solidFill>
                <a:latin typeface="Arial"/>
              </a:rPr>
              <a:t>A poisoned patch or dependency that installs the attacker's code through a trusted update channel.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cause</a:t>
            </a:r>
          </a:p>
          <a:p>
            <a:pPr algn="l">
              <a:spcAft>
                <a:spcPts val="300"/>
              </a:spcAft>
            </a:pPr>
            <a:r>
              <a:rPr sz="1200" b="0">
                <a:solidFill>
                  <a:srgbClr val="5B6372"/>
                </a:solidFill>
                <a:latin typeface="Arial"/>
              </a:rPr>
              <a:t>Most trace back to unvalidated input or unsafe memory handling in native code.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WEB &amp; OS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 and Operating-System Flaws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SQL injection (SQLi)</a:t>
            </a:r>
          </a:p>
          <a:p>
            <a:pPr algn="l">
              <a:spcAft>
                <a:spcPts val="300"/>
              </a:spcAft>
            </a:pPr>
            <a:r>
              <a:rPr sz="1100" b="0">
                <a:solidFill>
                  <a:srgbClr val="5B6372"/>
                </a:solidFill>
                <a:latin typeface="Arial"/>
              </a:rPr>
              <a:t>Untrusted input reaches a database query so it is parsed as SQL syntax, not as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Cross-site scripting (XSS)</a:t>
            </a:r>
          </a:p>
          <a:p>
            <a:pPr algn="l">
              <a:spcAft>
                <a:spcPts val="300"/>
              </a:spcAft>
            </a:pPr>
            <a:r>
              <a:rPr sz="1100" b="0">
                <a:solidFill>
                  <a:srgbClr val="5B6372"/>
                </a:solidFill>
                <a:latin typeface="Arial"/>
              </a:rPr>
              <a:t>Injected script runs in another user's browser inside the trusted site's origin.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OS-based</a:t>
            </a:r>
          </a:p>
          <a:p>
            <a:pPr algn="l">
              <a:spcAft>
                <a:spcPts val="300"/>
              </a:spcAft>
            </a:pPr>
            <a:r>
              <a:rPr sz="1100" b="0">
                <a:solidFill>
                  <a:srgbClr val="5B6372"/>
                </a:solidFill>
                <a:latin typeface="Arial"/>
              </a:rPr>
              <a:t>Kernel, driver or service flaws in the operating system itself, fixed by vendor patches.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Misconfiguration</a:t>
            </a:r>
          </a:p>
          <a:p>
            <a:pPr algn="l">
              <a:spcAft>
                <a:spcPts val="300"/>
              </a:spcAft>
            </a:pPr>
            <a:r>
              <a:rPr sz="1100" b="0">
                <a:solidFill>
                  <a:srgbClr val="5B6372"/>
                </a:solidFill>
                <a:latin typeface="Arial"/>
              </a:rPr>
              <a:t>Default settings, open shares, weak permissions or verbose errors left exposed.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Firmware</a:t>
            </a:r>
          </a:p>
          <a:p>
            <a:pPr algn="l">
              <a:spcAft>
                <a:spcPts val="300"/>
              </a:spcAft>
            </a:pPr>
            <a:r>
              <a:rPr sz="1100" b="0">
                <a:solidFill>
                  <a:srgbClr val="5B6372"/>
                </a:solidFill>
                <a:latin typeface="Arial"/>
              </a:rPr>
              <a:t>Low-level code in the BIOS/UEFI or device chips that is rarely updated and hard to inspect.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HARDWARE &amp;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Hardware and End-of-Life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Firmware</a:t>
            </a:r>
          </a:p>
          <a:p>
            <a:pPr algn="l">
              <a:spcAft>
                <a:spcPts val="300"/>
              </a:spcAft>
            </a:pPr>
            <a:r>
              <a:rPr sz="1200" b="0">
                <a:solidFill>
                  <a:srgbClr val="5B6372"/>
                </a:solidFill>
                <a:latin typeface="Arial"/>
              </a:rPr>
              <a:t>Exploitable code beneath the OS; a firmware rootkit survives a disk wipe and OS reinstall.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End-of-life (EOL)</a:t>
            </a:r>
          </a:p>
          <a:p>
            <a:pPr algn="l">
              <a:spcAft>
                <a:spcPts val="300"/>
              </a:spcAft>
            </a:pPr>
            <a:r>
              <a:rPr sz="1200" b="0">
                <a:solidFill>
                  <a:srgbClr val="5B6372"/>
                </a:solidFill>
                <a:latin typeface="Arial"/>
              </a:rPr>
              <a:t>Products past vendor support receive no more security patches, so every new flaw is permanent.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Legacy</a:t>
            </a:r>
          </a:p>
          <a:p>
            <a:pPr algn="l">
              <a:spcAft>
                <a:spcPts val="300"/>
              </a:spcAft>
            </a:pPr>
            <a:r>
              <a:rPr sz="1200" b="0">
                <a:solidFill>
                  <a:srgbClr val="5B6372"/>
                </a:solidFill>
                <a:latin typeface="Arial"/>
              </a:rPr>
              <a:t>Old systems kept running for business reasons; often unpatchable and must be isolated and compensated.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access</a:t>
            </a:r>
          </a:p>
          <a:p>
            <a:pPr algn="l">
              <a:spcAft>
                <a:spcPts val="300"/>
              </a:spcAft>
            </a:pPr>
            <a:r>
              <a:rPr sz="1200" b="0">
                <a:solidFill>
                  <a:srgbClr val="5B6372"/>
                </a:solidFill>
                <a:latin typeface="Arial"/>
              </a:rPr>
              <a:t>Hardware an attacker can touch can be tampered with, reset to defaults or have components swapped.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VIRTUALIZATION &amp; CLOUD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Virtualization and Cloud Weaknesses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VM escape</a:t>
            </a:r>
          </a:p>
          <a:p>
            <a:pPr algn="l">
              <a:spcAft>
                <a:spcPts val="300"/>
              </a:spcAft>
            </a:pPr>
            <a:r>
              <a:rPr sz="1200" b="0">
                <a:solidFill>
                  <a:srgbClr val="5B6372"/>
                </a:solidFill>
                <a:latin typeface="Arial"/>
              </a:rPr>
              <a:t>Breaking out of a guest VM to execute code on the host hypervisor, compromising every VM on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 reuse</a:t>
            </a:r>
          </a:p>
          <a:p>
            <a:pPr algn="l">
              <a:spcAft>
                <a:spcPts val="300"/>
              </a:spcAft>
            </a:pPr>
            <a:r>
              <a:rPr sz="1200" b="0">
                <a:solidFill>
                  <a:srgbClr val="5B6372"/>
                </a:solidFill>
                <a:latin typeface="Arial"/>
              </a:rPr>
              <a:t>Memory or storage freed by one tenant handed to another without clearing leaks residual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Cloud-specific</a:t>
            </a:r>
          </a:p>
          <a:p>
            <a:pPr algn="l">
              <a:spcAft>
                <a:spcPts val="300"/>
              </a:spcAft>
            </a:pPr>
            <a:r>
              <a:rPr sz="1200" b="0">
                <a:solidFill>
                  <a:srgbClr val="5B6372"/>
                </a:solidFill>
                <a:latin typeface="Arial"/>
              </a:rPr>
              <a:t>Misconfigured storage buckets, over-broad IAM roles and exposed management APIs are the common cloud flaws.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responsibility</a:t>
            </a:r>
          </a:p>
          <a:p>
            <a:pPr algn="l">
              <a:spcAft>
                <a:spcPts val="300"/>
              </a:spcAft>
            </a:pPr>
            <a:r>
              <a:rPr sz="1200" b="0">
                <a:solidFill>
                  <a:srgbClr val="5B6372"/>
                </a:solidFill>
                <a:latin typeface="Arial"/>
              </a:rPr>
              <a:t>Mis-drawing the line between provider and customer duties leaves security gaps uncovered.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MOBILE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Device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Side loading</a:t>
            </a:r>
          </a:p>
          <a:p>
            <a:pPr algn="l">
              <a:spcAft>
                <a:spcPts val="300"/>
              </a:spcAft>
            </a:pPr>
            <a:r>
              <a:rPr sz="1200" b="0">
                <a:solidFill>
                  <a:srgbClr val="5B6372"/>
                </a:solidFill>
                <a:latin typeface="Arial"/>
              </a:rPr>
              <a:t>Installing apps from outside the official store bypasses vendor vetting and can deliver malware.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Jailbreaking / rooting</a:t>
            </a:r>
          </a:p>
          <a:p>
            <a:pPr algn="l">
              <a:spcAft>
                <a:spcPts val="300"/>
              </a:spcAft>
            </a:pPr>
            <a:r>
              <a:rPr sz="1200" b="0">
                <a:solidFill>
                  <a:srgbClr val="5B6372"/>
                </a:solidFill>
                <a:latin typeface="Arial"/>
              </a:rPr>
              <a:t>Removing vendor restrictions disables the device's built-in security model and sandbox.</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Lost device</a:t>
            </a:r>
          </a:p>
          <a:p>
            <a:pPr algn="l">
              <a:spcAft>
                <a:spcPts val="300"/>
              </a:spcAft>
            </a:pPr>
            <a:r>
              <a:rPr sz="1200" b="0">
                <a:solidFill>
                  <a:srgbClr val="5B6372"/>
                </a:solidFill>
                <a:latin typeface="Arial"/>
              </a:rPr>
              <a:t>A stolen phone exposes data unless encryption, screen lock and remote wipe are enforced.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Mitigation</a:t>
            </a:r>
          </a:p>
          <a:p>
            <a:pPr algn="l">
              <a:spcAft>
                <a:spcPts val="300"/>
              </a:spcAft>
            </a:pPr>
            <a:r>
              <a:rPr sz="1200" b="0">
                <a:solidFill>
                  <a:srgbClr val="5B6372"/>
                </a:solidFill>
                <a:latin typeface="Arial"/>
              </a:rPr>
              <a:t>MDM policy, encryption and blocking side-loading restore the controls these actions remove.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2.3 · SUPPLY CHAIN &amp; CRYPTO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Supply-Chain and Cryptographic Flaws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Service provider</a:t>
            </a:r>
          </a:p>
          <a:p>
            <a:pPr algn="l">
              <a:spcAft>
                <a:spcPts val="300"/>
              </a:spcAft>
            </a:pPr>
            <a:r>
              <a:rPr sz="1100" b="0">
                <a:solidFill>
                  <a:srgbClr val="5B6372"/>
                </a:solidFill>
                <a:latin typeface="Arial"/>
              </a:rPr>
              <a:t>A compromised MSP or SaaS provider becomes your vulnerability by proxy.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Hardware provider</a:t>
            </a:r>
          </a:p>
          <a:p>
            <a:pPr algn="l">
              <a:spcAft>
                <a:spcPts val="300"/>
              </a:spcAft>
            </a:pPr>
            <a:r>
              <a:rPr sz="1100" b="0">
                <a:solidFill>
                  <a:srgbClr val="5B6372"/>
                </a:solidFill>
                <a:latin typeface="Arial"/>
              </a:rPr>
              <a:t>Tampered or counterfeit components introduce backdoors before delivery.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Software provider</a:t>
            </a:r>
          </a:p>
          <a:p>
            <a:pPr algn="l">
              <a:spcAft>
                <a:spcPts val="300"/>
              </a:spcAft>
            </a:pPr>
            <a:r>
              <a:rPr sz="1100" b="0">
                <a:solidFill>
                  <a:srgbClr val="5B6372"/>
                </a:solidFill>
                <a:latin typeface="Arial"/>
              </a:rPr>
              <a:t>A poisoned build pipeline or dependency ships malware inside a trusted product.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Cryptographic</a:t>
            </a:r>
          </a:p>
          <a:p>
            <a:pPr algn="l">
              <a:spcAft>
                <a:spcPts val="300"/>
              </a:spcAft>
            </a:pPr>
            <a:r>
              <a:rPr sz="1100" b="0">
                <a:solidFill>
                  <a:srgbClr val="5B6372"/>
                </a:solidFill>
                <a:latin typeface="Arial"/>
              </a:rPr>
              <a:t>Weak or deprecated algorithms (MD5, SSL, RC4), short keys, or poor key management.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zero-day has no patch and no signature yet.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Because the vendor has not yet released a fix, signature-based defences cannot see it; behavioural detection and defence in depth are the only early countermeasures.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Types of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Buffer overflow overwrites adjacent memory; memory injection writes code into a running process.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Race condition keyword is TOCTOU: time-of-check versus time-of-use.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VM escape breaks guest-to-host; resource reuse leaks one tenant's data to another.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Zero-day = no patch available yet; legacy/EOL = patch will never come.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SQLi and XSS are the two web-based flaws named explicitly in the objective.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deliberately vulnerable PHP/SQLite login on localhost, bypasses authentication with a manual injection, then fixes it with prepared statements.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login app plus its prepared-statement patch.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sqlite3, php-cli, php-sqlite3,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PHP/SQLite stack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sqlite3 php-cli php-sqlite3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database and a vulnerable login page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login.php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the local PHP server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php -S 127.0.0.1:8080 -t . &gt;/tmp/php.log 2&gt;&amp;1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a normal login works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'http://127.0.0.1:8080/login.php?u=admin&amp;p=s3cret'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Bypass authentication with an injection</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"http://127.0.0.1:8080/login.php?u=admin'--&amp;p=x"</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Patch with a parameterised query</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login.php &lt;&lt;'EOF'  …</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injection now fails</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"http://127.0.0.1:8080/login.php?u=admin'--&amp;p=x"</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SQL Injection (SQLi)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injection logs in before the patch and is rejected after switching to bound parameters.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triggers reflected XSS in a tiny PHP page on localhost, then defends with htmlspecialchars output encoding and a Content-Security-Policy header.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search page plus its encoding and CSP mitigations.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php-cli,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PHP</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php-cli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vulnerable reflected page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search.php &lt;&lt;'EOF'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the local server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php -S 127.0.0.1:8080 -t . &gt;/tmp/php.log 2&gt;&amp;1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the reflected payload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'http://127.0.0.1:8080/search.php?q=&lt;b&gt;hi&lt;/b&gt;'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Mitigate with output encoding</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search.php &lt;&lt;'EOF'  …</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 Content-Security-Policy header</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router.php &lt;&lt;'EOF'  …</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Confirm encoding and the CSP header</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-sD - 'http://127.0.0.1:8080/search.php?q=&lt;b&gt;hi&lt;/b&gt;' | 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sees the markup render before the fix, then appear escaped with a CSP header served after the fix.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compiles a tiny vulnerable C program, observes a stack-based buffer-overflow crash, then rebuilds it with stack canaries, FORTIFY, PIE and ASLR enabled.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before/after demo of a buffer overflow and the compiler mitigations that stop it.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gcc, gdb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gcc gdb</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tiny vulnerable program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'#include &lt;string.h&gt;\nint main(int c,char**v){char b[16];strcpy(b,v[1]);return 0;}\n' &gt; vuln.c</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Compile it with protections disabled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gcc -fno-stack-protector -z execstack -no-pie -O0 -o vuln_off vuln.c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the overflow crash</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./vuln_off $(python3 -c 'print("A"*64)'); echo exit=$?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the system ASLR setting</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/proc/sys/kernel/randomize_va_space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Rebuild with the mitigations 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gcc -fstack-protector-strong -D_FORTIFY_SOURCE=2 -O2 -pie -fPIE -o vuln_on vuln.c</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canary now catches the overflow</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./vuln_on $(python3 -c 'print("A"*64)') 2&gt;&amp;1 | head -1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binary's protections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readelf -d vuln_on | grep -i bind; file vuln_on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Vulnerabilities &amp; Exploit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sees a segfault in the unprotected build and a 'stack smashing detected' abort in the hardened build with PIE and ASLR confirmed 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Indicators of Malicious Activity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Malware · Physical · Network · Application · Crypto · Password · Indicators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MALWARE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Malware Types by Behaviour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Ransomware</a:t>
            </a:r>
          </a:p>
          <a:p>
            <a:pPr algn="l">
              <a:spcAft>
                <a:spcPts val="300"/>
              </a:spcAft>
            </a:pPr>
            <a:r>
              <a:rPr sz="1100" b="0">
                <a:solidFill>
                  <a:srgbClr val="5B6372"/>
                </a:solidFill>
                <a:latin typeface="Arial"/>
              </a:rPr>
              <a:t>Encrypts (and often first exfiltrates) data, then demands payment; double extortion adds a leak threat.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Trojan</a:t>
            </a:r>
          </a:p>
          <a:p>
            <a:pPr algn="l">
              <a:spcAft>
                <a:spcPts val="300"/>
              </a:spcAft>
            </a:pPr>
            <a:r>
              <a:rPr sz="1100" b="0">
                <a:solidFill>
                  <a:srgbClr val="5B6372"/>
                </a:solidFill>
                <a:latin typeface="Arial"/>
              </a:rPr>
              <a:t>Poses as legitimate software; a RAT variant gives the attacker remote interactive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Worm</a:t>
            </a:r>
          </a:p>
          <a:p>
            <a:pPr algn="l">
              <a:spcAft>
                <a:spcPts val="300"/>
              </a:spcAft>
            </a:pPr>
            <a:r>
              <a:rPr sz="1100" b="0">
                <a:solidFill>
                  <a:srgbClr val="5B6372"/>
                </a:solidFill>
                <a:latin typeface="Arial"/>
              </a:rPr>
              <a:t>Self-propagates across the network with no user action, as WannaCry did over SMB.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Virus</a:t>
            </a:r>
          </a:p>
          <a:p>
            <a:pPr algn="l">
              <a:spcAft>
                <a:spcPts val="300"/>
              </a:spcAft>
            </a:pPr>
            <a:r>
              <a:rPr sz="1100" b="0">
                <a:solidFill>
                  <a:srgbClr val="5B6372"/>
                </a:solidFill>
                <a:latin typeface="Arial"/>
              </a:rPr>
              <a:t>Attaches to a host file and needs a user to run it before it spreads.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Spyware</a:t>
            </a:r>
          </a:p>
          <a:p>
            <a:pPr algn="l">
              <a:spcAft>
                <a:spcPts val="300"/>
              </a:spcAft>
            </a:pPr>
            <a:r>
              <a:rPr sz="1100" b="0">
                <a:solidFill>
                  <a:srgbClr val="5B6372"/>
                </a:solidFill>
                <a:latin typeface="Arial"/>
              </a:rPr>
              <a:t>Secretly collects user activity and data; keyloggers are a spyware subtype.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Keylogger</a:t>
            </a:r>
          </a:p>
          <a:p>
            <a:pPr algn="l">
              <a:spcAft>
                <a:spcPts val="300"/>
              </a:spcAft>
            </a:pPr>
            <a:r>
              <a:rPr sz="1100" b="0">
                <a:solidFill>
                  <a:srgbClr val="5B6372"/>
                </a:solidFill>
                <a:latin typeface="Arial"/>
              </a:rPr>
              <a:t>Records keystrokes to capture passwords and messages.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MALWARE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More Malware the Exam Names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Bloatware</a:t>
            </a:r>
          </a:p>
          <a:p>
            <a:pPr algn="l">
              <a:spcAft>
                <a:spcPts val="300"/>
              </a:spcAft>
            </a:pPr>
            <a:r>
              <a:rPr sz="1100" b="0">
                <a:solidFill>
                  <a:srgbClr val="5B6372"/>
                </a:solidFill>
                <a:latin typeface="Arial"/>
              </a:rPr>
              <a:t>Unwanted pre-installed software; not malicious by design but enlarges the attack surface and wastes resources.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Logic bomb</a:t>
            </a:r>
          </a:p>
          <a:p>
            <a:pPr algn="l">
              <a:spcAft>
                <a:spcPts val="300"/>
              </a:spcAft>
            </a:pPr>
            <a:r>
              <a:rPr sz="1100" b="0">
                <a:solidFill>
                  <a:srgbClr val="5B6372"/>
                </a:solidFill>
                <a:latin typeface="Arial"/>
              </a:rPr>
              <a:t>Dormant code that triggers on a date or condition, such as an admin's account being disabled.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Rootkit</a:t>
            </a:r>
          </a:p>
          <a:p>
            <a:pPr algn="l">
              <a:spcAft>
                <a:spcPts val="300"/>
              </a:spcAft>
            </a:pPr>
            <a:r>
              <a:rPr sz="1100" b="0">
                <a:solidFill>
                  <a:srgbClr val="5B6372"/>
                </a:solidFill>
                <a:latin typeface="Arial"/>
              </a:rPr>
              <a:t>Hides at kernel or firmware level to subvert the OS's own reporting and persist stealthily.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Fileless malware</a:t>
            </a:r>
          </a:p>
          <a:p>
            <a:pPr algn="l">
              <a:spcAft>
                <a:spcPts val="300"/>
              </a:spcAft>
            </a:pPr>
            <a:r>
              <a:rPr sz="1100" b="0">
                <a:solidFill>
                  <a:srgbClr val="5B6372"/>
                </a:solidFill>
                <a:latin typeface="Arial"/>
              </a:rPr>
              <a:t>Runs in memory using built-in tools (PowerShell, WMI) to avoid leaving a file to scan.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PHYSICAL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Brute force (physical)</a:t>
            </a:r>
          </a:p>
          <a:p>
            <a:pPr algn="l">
              <a:spcAft>
                <a:spcPts val="300"/>
              </a:spcAft>
            </a:pPr>
            <a:r>
              <a:rPr sz="1200" b="0">
                <a:solidFill>
                  <a:srgbClr val="5B6372"/>
                </a:solidFill>
                <a:latin typeface="Arial"/>
              </a:rPr>
              <a:t>Forcing a physical barrier such as kicking in a door or prying a lock, not password guessing.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RFID cloning</a:t>
            </a:r>
          </a:p>
          <a:p>
            <a:pPr algn="l">
              <a:spcAft>
                <a:spcPts val="300"/>
              </a:spcAft>
            </a:pPr>
            <a:r>
              <a:rPr sz="1200" b="0">
                <a:solidFill>
                  <a:srgbClr val="5B6372"/>
                </a:solidFill>
                <a:latin typeface="Arial"/>
              </a:rPr>
              <a:t>Copying an access badge's RFID data onto a blank card to impersonate the holder.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Environmental</a:t>
            </a:r>
          </a:p>
          <a:p>
            <a:pPr algn="l">
              <a:spcAft>
                <a:spcPts val="300"/>
              </a:spcAft>
            </a:pPr>
            <a:r>
              <a:rPr sz="1200" b="0">
                <a:solidFill>
                  <a:srgbClr val="5B6372"/>
                </a:solidFill>
                <a:latin typeface="Arial"/>
              </a:rPr>
              <a:t>Attacking power, cooling or fire suppression to damage equipment or force an outage.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a:t>
            </a:r>
          </a:p>
          <a:p>
            <a:pPr algn="l">
              <a:spcAft>
                <a:spcPts val="300"/>
              </a:spcAft>
            </a:pPr>
            <a:r>
              <a:rPr sz="1200" b="0">
                <a:solidFill>
                  <a:srgbClr val="5B6372"/>
                </a:solidFill>
                <a:latin typeface="Arial"/>
              </a:rPr>
              <a:t>Physical controls: locks, mantraps, guards, surveillance and environmental monitoring.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NETWORK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A distributed botnet floods a target so blocking one source IP achieves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Amplified / reflected</a:t>
            </a:r>
          </a:p>
          <a:p>
            <a:pPr algn="l">
              <a:spcAft>
                <a:spcPts val="300"/>
              </a:spcAft>
            </a:pPr>
            <a:r>
              <a:rPr sz="1100" b="0">
                <a:solidFill>
                  <a:srgbClr val="5B6372"/>
                </a:solidFill>
                <a:latin typeface="Arial"/>
              </a:rPr>
              <a:t>Spoofs the victim's IP to a reflector (DNS, NTP, memcached) that returns a far larger response.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DNS attacks</a:t>
            </a:r>
          </a:p>
          <a:p>
            <a:pPr algn="l">
              <a:spcAft>
                <a:spcPts val="300"/>
              </a:spcAft>
            </a:pPr>
            <a:r>
              <a:rPr sz="1100" b="0">
                <a:solidFill>
                  <a:srgbClr val="5B6372"/>
                </a:solidFill>
                <a:latin typeface="Arial"/>
              </a:rPr>
              <a:t>Cache poisoning, hijacking or spoofing to redirect victims to attacker-controlled hosts.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On-path</a:t>
            </a:r>
          </a:p>
          <a:p>
            <a:pPr algn="l">
              <a:spcAft>
                <a:spcPts val="300"/>
              </a:spcAft>
            </a:pPr>
            <a:r>
              <a:rPr sz="1100" b="0">
                <a:solidFill>
                  <a:srgbClr val="5B6372"/>
                </a:solidFill>
                <a:latin typeface="Arial"/>
              </a:rPr>
              <a:t>Formerly man-in-the-middle: the attacker sits between two parties to read or alter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replay</a:t>
            </a:r>
          </a:p>
          <a:p>
            <a:pPr algn="l">
              <a:spcAft>
                <a:spcPts val="300"/>
              </a:spcAft>
            </a:pPr>
            <a:r>
              <a:rPr sz="1100" b="0">
                <a:solidFill>
                  <a:srgbClr val="5B6372"/>
                </a:solidFill>
                <a:latin typeface="Arial"/>
              </a:rPr>
              <a:t>Captured authentication data (a hash or token) is resent to impersonate the user.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Wireless / malicious code</a:t>
            </a:r>
          </a:p>
          <a:p>
            <a:pPr algn="l">
              <a:spcAft>
                <a:spcPts val="300"/>
              </a:spcAft>
            </a:pPr>
            <a:r>
              <a:rPr sz="1100" b="0">
                <a:solidFill>
                  <a:srgbClr val="5B6372"/>
                </a:solidFill>
                <a:latin typeface="Arial"/>
              </a:rPr>
              <a:t>Rogue APs, evil twins and deauth attacks; malicious code injected over the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APPLICATION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Application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Injection</a:t>
            </a:r>
          </a:p>
          <a:p>
            <a:pPr algn="l">
              <a:spcAft>
                <a:spcPts val="300"/>
              </a:spcAft>
            </a:pPr>
            <a:r>
              <a:rPr sz="1100" b="0">
                <a:solidFill>
                  <a:srgbClr val="5B6372"/>
                </a:solidFill>
                <a:latin typeface="Arial"/>
              </a:rPr>
              <a:t>Untrusted input is parsed as code: SQL, OS command, LDAP or XPath injection.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Buffer overflow</a:t>
            </a:r>
          </a:p>
          <a:p>
            <a:pPr algn="l">
              <a:spcAft>
                <a:spcPts val="300"/>
              </a:spcAft>
            </a:pPr>
            <a:r>
              <a:rPr sz="1100" b="0">
                <a:solidFill>
                  <a:srgbClr val="5B6372"/>
                </a:solidFill>
                <a:latin typeface="Arial"/>
              </a:rPr>
              <a:t>Overflows a buffer to overwrite memory and redirect execution to attacker code.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Replay</a:t>
            </a:r>
          </a:p>
          <a:p>
            <a:pPr algn="l">
              <a:spcAft>
                <a:spcPts val="300"/>
              </a:spcAft>
            </a:pPr>
            <a:r>
              <a:rPr sz="1100" b="0">
                <a:solidFill>
                  <a:srgbClr val="5B6372"/>
                </a:solidFill>
                <a:latin typeface="Arial"/>
              </a:rPr>
              <a:t>A valid request or token is captured and resent to repeat an authorised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Privilege escalation</a:t>
            </a:r>
          </a:p>
          <a:p>
            <a:pPr algn="l">
              <a:spcAft>
                <a:spcPts val="300"/>
              </a:spcAft>
            </a:pPr>
            <a:r>
              <a:rPr sz="1100" b="0">
                <a:solidFill>
                  <a:srgbClr val="5B6372"/>
                </a:solidFill>
                <a:latin typeface="Arial"/>
              </a:rPr>
              <a:t>Gaining higher rights than granted: vertical to admin, or horizontal to another user.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Forgery</a:t>
            </a:r>
          </a:p>
          <a:p>
            <a:pPr algn="l">
              <a:spcAft>
                <a:spcPts val="300"/>
              </a:spcAft>
            </a:pPr>
            <a:r>
              <a:rPr sz="1100" b="0">
                <a:solidFill>
                  <a:srgbClr val="5B6372"/>
                </a:solidFill>
                <a:latin typeface="Arial"/>
              </a:rPr>
              <a:t>CSRF forces a logged-in user's browser to submit an action; SSRF makes the server fetch a hostile URL.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Directory traversal</a:t>
            </a:r>
          </a:p>
          <a:p>
            <a:pPr algn="l">
              <a:spcAft>
                <a:spcPts val="300"/>
              </a:spcAft>
            </a:pPr>
            <a:r>
              <a:rPr sz="1100" b="0">
                <a:solidFill>
                  <a:srgbClr val="5B6372"/>
                </a:solidFill>
                <a:latin typeface="Arial"/>
              </a:rPr>
              <a:t>Using ../ sequences to read files outside the web root, such as /etc/passwd.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2.4 · PASSWORD &amp; CRYPTO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and Cryptographic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Password attacks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Cryptographic attacks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Spraying: one common password tried across many accounts to dodge lockout.</a:t>
            </a:r>
          </a:p>
          <a:p>
            <a:pPr>
              <a:spcAft>
                <a:spcPts val="1000"/>
              </a:spcAft>
            </a:pPr>
            <a:r>
              <a:rPr sz="1600" b="0">
                <a:solidFill>
                  <a:srgbClr val="161B26"/>
                </a:solidFill>
                <a:latin typeface="Arial"/>
              </a:rPr>
              <a:t>•  Brute force: every combination tried; offline against a stolen hash is fastest.</a:t>
            </a:r>
          </a:p>
          <a:p>
            <a:pPr>
              <a:spcAft>
                <a:spcPts val="1000"/>
              </a:spcAft>
            </a:pPr>
            <a:r>
              <a:rPr sz="1600" b="0">
                <a:solidFill>
                  <a:srgbClr val="161B26"/>
                </a:solidFill>
                <a:latin typeface="Arial"/>
              </a:rPr>
              <a:t>•  Dictionary and credential stuffing reuse wordlists and breached pairs.</a:t>
            </a:r>
          </a:p>
          <a:p>
            <a:pPr>
              <a:spcAft>
                <a:spcPts val="1000"/>
              </a:spcAft>
            </a:pPr>
            <a:r>
              <a:rPr sz="1600" b="0">
                <a:solidFill>
                  <a:srgbClr val="161B26"/>
                </a:solidFill>
                <a:latin typeface="Arial"/>
              </a:rPr>
              <a:t>•  Defences: lockout, MFA, length over complexity, and breach-list screening.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Downgrade: force a weaker protocol or cipher, as in a TLS-to-SSL downgrade.</a:t>
            </a:r>
          </a:p>
          <a:p>
            <a:pPr>
              <a:spcAft>
                <a:spcPts val="1000"/>
              </a:spcAft>
            </a:pPr>
            <a:r>
              <a:rPr sz="1600" b="0">
                <a:solidFill>
                  <a:srgbClr val="161B26"/>
                </a:solidFill>
                <a:latin typeface="Arial"/>
              </a:rPr>
              <a:t>•  Collision: find two inputs with the same hash; breaks MD5 and SHA-1.</a:t>
            </a:r>
          </a:p>
          <a:p>
            <a:pPr>
              <a:spcAft>
                <a:spcPts val="1000"/>
              </a:spcAft>
            </a:pPr>
            <a:r>
              <a:rPr sz="1600" b="0">
                <a:solidFill>
                  <a:srgbClr val="161B26"/>
                </a:solidFill>
                <a:latin typeface="Arial"/>
              </a:rPr>
              <a:t>•  Birthday: the probability maths that makes collisions easier than intuition suggests.</a:t>
            </a:r>
          </a:p>
          <a:p>
            <a:pPr>
              <a:spcAft>
                <a:spcPts val="1000"/>
              </a:spcAft>
            </a:pPr>
            <a:r>
              <a:rPr sz="1600" b="0">
                <a:solidFill>
                  <a:srgbClr val="161B26"/>
                </a:solidFill>
                <a:latin typeface="Arial"/>
              </a:rPr>
              <a:t>•  Defences: strong modern algorithms, long keys and disabling legacy ciphers.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INDICATORS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Indicators of an Incident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Account lockout</a:t>
            </a:r>
          </a:p>
          <a:p>
            <a:pPr algn="l">
              <a:spcAft>
                <a:spcPts val="300"/>
              </a:spcAft>
            </a:pPr>
            <a:r>
              <a:rPr sz="1200" b="0">
                <a:solidFill>
                  <a:srgbClr val="5B6372"/>
                </a:solidFill>
                <a:latin typeface="Arial"/>
              </a:rPr>
              <a:t>A burst of lockouts across many accounts signals password spraying or brute force.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Concurrent session usage</a:t>
            </a:r>
          </a:p>
          <a:p>
            <a:pPr algn="l">
              <a:spcAft>
                <a:spcPts val="300"/>
              </a:spcAft>
            </a:pPr>
            <a:r>
              <a:rPr sz="1200" b="0">
                <a:solidFill>
                  <a:srgbClr val="5B6372"/>
                </a:solidFill>
                <a:latin typeface="Arial"/>
              </a:rPr>
              <a:t>The same account active from two places at once suggests credential theft.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Impossible travel</a:t>
            </a:r>
          </a:p>
          <a:p>
            <a:pPr algn="l">
              <a:spcAft>
                <a:spcPts val="300"/>
              </a:spcAft>
            </a:pPr>
            <a:r>
              <a:rPr sz="1200" b="0">
                <a:solidFill>
                  <a:srgbClr val="5B6372"/>
                </a:solidFill>
                <a:latin typeface="Arial"/>
              </a:rPr>
              <a:t>Logins from distant locations closer in time than travel allows mean stolen credentials.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Blocked content</a:t>
            </a:r>
          </a:p>
          <a:p>
            <a:pPr algn="l">
              <a:spcAft>
                <a:spcPts val="300"/>
              </a:spcAft>
            </a:pPr>
            <a:r>
              <a:rPr sz="1200" b="0">
                <a:solidFill>
                  <a:srgbClr val="5B6372"/>
                </a:solidFill>
                <a:latin typeface="Arial"/>
              </a:rPr>
              <a:t>Security tools blocking URLs or files repeatedly points to an active lure or payload.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consumption</a:t>
            </a:r>
          </a:p>
          <a:p>
            <a:pPr algn="l">
              <a:spcAft>
                <a:spcPts val="300"/>
              </a:spcAft>
            </a:pPr>
            <a:r>
              <a:rPr sz="1200" b="0">
                <a:solidFill>
                  <a:srgbClr val="5B6372"/>
                </a:solidFill>
                <a:latin typeface="Arial"/>
              </a:rPr>
              <a:t>Sudden CPU, memory, disk or bandwidth spikes can indicate crypto-mining or exfiltration.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inaccessibility</a:t>
            </a:r>
          </a:p>
          <a:p>
            <a:pPr algn="l">
              <a:spcAft>
                <a:spcPts val="300"/>
              </a:spcAft>
            </a:pPr>
            <a:r>
              <a:rPr sz="1200" b="0">
                <a:solidFill>
                  <a:srgbClr val="5B6372"/>
                </a:solidFill>
                <a:latin typeface="Arial"/>
              </a:rPr>
              <a:t>Files or services suddenly unavailable may mean ransomware encryption or a DoS.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2.4 · INDICATORS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Indicators of an Incident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Out-of-cycle logging</a:t>
            </a:r>
          </a:p>
          <a:p>
            <a:pPr algn="l">
              <a:spcAft>
                <a:spcPts val="300"/>
              </a:spcAft>
            </a:pPr>
            <a:r>
              <a:rPr sz="1200" b="0">
                <a:solidFill>
                  <a:srgbClr val="5B6372"/>
                </a:solidFill>
                <a:latin typeface="Arial"/>
              </a:rPr>
              <a:t>Log entries at unusual times, such as 3 a.m. admin activity, flag unauthorised use.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Published / documented</a:t>
            </a:r>
          </a:p>
          <a:p>
            <a:pPr algn="l">
              <a:spcAft>
                <a:spcPts val="300"/>
              </a:spcAft>
            </a:pPr>
            <a:r>
              <a:rPr sz="1200" b="0">
                <a:solidFill>
                  <a:srgbClr val="5B6372"/>
                </a:solidFill>
                <a:latin typeface="Arial"/>
              </a:rPr>
              <a:t>The attack is already described in threat intel or the vendor confirms active exploitation.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logs</a:t>
            </a:r>
          </a:p>
          <a:p>
            <a:pPr algn="l">
              <a:spcAft>
                <a:spcPts val="300"/>
              </a:spcAft>
            </a:pPr>
            <a:r>
              <a:rPr sz="1200" b="0">
                <a:solidFill>
                  <a:srgbClr val="5B6372"/>
                </a:solidFill>
                <a:latin typeface="Arial"/>
              </a:rPr>
              <a:t>Gaps or cleared logs suggest an attacker is covering their tracks; a strong tamper indicator.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Correlation matters</a:t>
            </a:r>
          </a:p>
          <a:p>
            <a:pPr algn="l">
              <a:spcAft>
                <a:spcPts val="300"/>
              </a:spcAft>
            </a:pPr>
            <a:r>
              <a:rPr sz="1200" b="0">
                <a:solidFill>
                  <a:srgbClr val="5B6372"/>
                </a:solidFill>
                <a:latin typeface="Arial"/>
              </a:rPr>
              <a:t>No single indicator is proof; a SIEM correlates several into a high-confidence alert.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Indicators of Malicious Activity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Worm self-spreads, virus needs a host file and a user, trojan is disguised, rootkit hides at kernel/firmware level.</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Physical brute force breaks a barrier; password brute force guesses credentials; read the scenario.</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Amplified/reflected DDoS spoofs the victim's IP so a reflector floods it with oversized replies.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Impossible travel and concurrent sessions are classic stolen-credential indicators; missing logs mean track-covering.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Downgrade forces weaker crypto; collision/birthday attacks target hash functions.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brute-forces a local SSH account with hydra, cracks a shadow hash with John, demonstrates spraying, then reads the auth-log signatures each attack leaves.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attack-and-detect chain covering brute force, cracking and spraying with their log signs.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hydra, john,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SSH server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hydra john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target account with a weak password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useradd -m victim &amp;&amp; echo 'victim:password123' | chpasswd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small wordlist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'letmein\npassword123\nadmin\n' &gt; words.txt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Brute force SSH against localhost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hydra -l victim -P words.txt -t 4 -f ssh://127.0.0.1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the attack in the auth log</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/var/log/auth.log | tail || journalctl -u ssh | grep 'Failed' | tail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Crack the shadow hash offline with John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getent shadow victim &gt; hash.txt &amp;&amp; john --wordlist=words.txt hash.txt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Demonstrate password spraying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u in alice bob carol; do hydra -l "$u" -p 'Spring2026!' -t 1 -f ssh://127.0.0.1;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Spot the spraying signature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/var/log/auth.log | awk '{print $9}' | sort | uniq -c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Attacks: Spraying &amp; Brute 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hydra reports the weak password, John reveals the cracked hash, and the log shows many users failing one password (spraying).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triages the harmless EICAR test file with file, strings, hashing and YARA, then hunts Linux indicators: a suspicious process, cron persistence and an unusual listening port.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static-analysis workflow and a Linux IOC-hunting checklist producing hash and YARA indicators.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file, binutils, yara, procps, net-tools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analysis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yara binutils file procps iproute2</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safe EICAR test sample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'%s' 'X5O!P%@AP[4\PZX54(P^)7CC)7}$EICAR-STANDARD-ANTIVIRUS-TEST-FILE!$H+H*' &gt; sample.txt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Identify the file type and compute the IOC hash</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file sample.txt &amp;&amp; sha256sum sample.txt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printable strings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strings sample.txt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YARA rule and scan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'rule eicar { strings: $s="EICAR-STANDARD" condition: $s }\n' &gt; r.yar &amp;&amp; yara r.yar sample.txt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and hunt a suspicious process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nohup sleep 6000 &gt;/dev/null 2&gt;&amp;1 &amp; ps -ef | sort -nrk4 | head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cron persistence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ls -la /etc/cron.* /var/spool/cron/crontabs 2&gt;/dev/null; crontab -l 2&gt;/dev/null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unusual listening ports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tail -n +2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Malware Static Analysis &amp; Linux IOC Hunting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YARA rule matches the sample, records its SHA-256 as an IOC, and lists the suspicious process, cron entry and listening port found during the hunt.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floods their own loopback with hping3, watches the connection table fill with half-open sockets, then mitigates with SYN cookies and iptables rate-limiting.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SYN-flood detection-and-mitigation exercise on a local nginx target.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hping3, nginx, iptables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attacker and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hping3 nginx iptables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Baseline the connection states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Launch a loopback-only SYN flood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timeout 10 hping3 -S -p 80 --flood 127.0.0.1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Watch the half-open connections grow</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watch -n1 'ss -tan state syn-recv | wc -l' &amp;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Enable SYN cookies</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sysctl -w net.ipv4.tcp_syncookies=1</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an iptables rate limit</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-I INPUT -p tcp --syn --dport 80 -m limit --limit 25/s --limit-burst 50 -j ACCEPT</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Re-run the flood and compare</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timeout 10 hping3 -S -p 80 --flood 127.0.0.1; ss -s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DoS Simulation and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verifies the SYN-RECV count spikes during the flood and stays bounded after enabling SYN cookies and rate-limiting.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OBJECTIVE 2.5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Mitigation Techniques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Segmentation · Access control · Hardening · Least privilege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CONTAINMENT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Limiting Attacker Movement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Segmentation</a:t>
            </a:r>
          </a:p>
          <a:p>
            <a:pPr algn="l">
              <a:spcAft>
                <a:spcPts val="300"/>
              </a:spcAft>
            </a:pPr>
            <a:r>
              <a:rPr sz="1200" b="0">
                <a:solidFill>
                  <a:srgbClr val="5B6372"/>
                </a:solidFill>
                <a:latin typeface="Arial"/>
              </a:rPr>
              <a:t>Dividing the network into zones so a breach in one cannot spread freely to the rest.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Isolation</a:t>
            </a:r>
          </a:p>
          <a:p>
            <a:pPr algn="l">
              <a:spcAft>
                <a:spcPts val="300"/>
              </a:spcAft>
            </a:pPr>
            <a:r>
              <a:rPr sz="1200" b="0">
                <a:solidFill>
                  <a:srgbClr val="5B6372"/>
                </a:solidFill>
                <a:latin typeface="Arial"/>
              </a:rPr>
              <a:t>Cutting a host or workload off entirely, for example quarantining an infected machine.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 control</a:t>
            </a:r>
          </a:p>
          <a:p>
            <a:pPr algn="l">
              <a:spcAft>
                <a:spcPts val="300"/>
              </a:spcAft>
            </a:pPr>
            <a:r>
              <a:rPr sz="1200" b="0">
                <a:solidFill>
                  <a:srgbClr val="5B6372"/>
                </a:solidFill>
                <a:latin typeface="Arial"/>
              </a:rPr>
              <a:t>Enforcing who may reach what via ACLs and permissions at each boundary.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Granting each user and process only the rights needed, shrinking the blast radius of any compromise.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ACCESS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Access-Control Mechanisms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Access control list (ACL)</a:t>
            </a:r>
          </a:p>
          <a:p>
            <a:pPr algn="l">
              <a:spcAft>
                <a:spcPts val="300"/>
              </a:spcAft>
            </a:pPr>
            <a:r>
              <a:rPr sz="1100" b="0">
                <a:solidFill>
                  <a:srgbClr val="5B6372"/>
                </a:solidFill>
                <a:latin typeface="Arial"/>
              </a:rPr>
              <a:t>An ordered rule set on a firewall, router or file that permits or denies by source, destination or identity.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Permissions</a:t>
            </a:r>
          </a:p>
          <a:p>
            <a:pPr algn="l">
              <a:spcAft>
                <a:spcPts val="300"/>
              </a:spcAft>
            </a:pPr>
            <a:r>
              <a:rPr sz="1100" b="0">
                <a:solidFill>
                  <a:srgbClr val="5B6372"/>
                </a:solidFill>
                <a:latin typeface="Arial"/>
              </a:rPr>
              <a:t>Read, write and execute rights on files and resources, assigned to users, groups or roles.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Application allow list</a:t>
            </a:r>
          </a:p>
          <a:p>
            <a:pPr algn="l">
              <a:spcAft>
                <a:spcPts val="300"/>
              </a:spcAft>
            </a:pPr>
            <a:r>
              <a:rPr sz="1100" b="0">
                <a:solidFill>
                  <a:srgbClr val="5B6372"/>
                </a:solidFill>
                <a:latin typeface="Arial"/>
              </a:rPr>
              <a:t>Only explicitly approved programs may run; everything else is blocked by default (strongest).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Deny list</a:t>
            </a:r>
          </a:p>
          <a:p>
            <a:pPr algn="l">
              <a:spcAft>
                <a:spcPts val="300"/>
              </a:spcAft>
            </a:pPr>
            <a:r>
              <a:rPr sz="1100" b="0">
                <a:solidFill>
                  <a:srgbClr val="5B6372"/>
                </a:solidFill>
                <a:latin typeface="Arial"/>
              </a:rPr>
              <a:t>Blocks known-bad programs but allows everything else; weaker because it misses the unknown.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HARDENING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Hardening Techniques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Patching</a:t>
            </a:r>
          </a:p>
          <a:p>
            <a:pPr algn="l">
              <a:spcAft>
                <a:spcPts val="300"/>
              </a:spcAft>
            </a:pPr>
            <a:r>
              <a:rPr sz="1200" b="0">
                <a:solidFill>
                  <a:srgbClr val="5B6372"/>
                </a:solidFill>
                <a:latin typeface="Arial"/>
              </a:rPr>
              <a:t>Applying vendor updates promptly closes known vulnerabilities before they are exploited.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Encryption</a:t>
            </a:r>
          </a:p>
          <a:p>
            <a:pPr algn="l">
              <a:spcAft>
                <a:spcPts val="300"/>
              </a:spcAft>
            </a:pPr>
            <a:r>
              <a:rPr sz="1200" b="0">
                <a:solidFill>
                  <a:srgbClr val="5B6372"/>
                </a:solidFill>
                <a:latin typeface="Arial"/>
              </a:rPr>
              <a:t>Protecting data at rest and in transit so stolen media or captured traffic is unreadable.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protection</a:t>
            </a:r>
          </a:p>
          <a:p>
            <a:pPr algn="l">
              <a:spcAft>
                <a:spcPts val="300"/>
              </a:spcAft>
            </a:pPr>
            <a:r>
              <a:rPr sz="1200" b="0">
                <a:solidFill>
                  <a:srgbClr val="5B6372"/>
                </a:solidFill>
                <a:latin typeface="Arial"/>
              </a:rPr>
              <a:t>Installing anti-malware and EDR to detect and stop malicious behaviour on hosts.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Host-based firewall</a:t>
            </a:r>
          </a:p>
          <a:p>
            <a:pPr algn="l">
              <a:spcAft>
                <a:spcPts val="300"/>
              </a:spcAft>
            </a:pPr>
            <a:r>
              <a:rPr sz="1200" b="0">
                <a:solidFill>
                  <a:srgbClr val="5B6372"/>
                </a:solidFill>
                <a:latin typeface="Arial"/>
              </a:rPr>
              <a:t>A per-host firewall filters traffic even inside a trusted network segment.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HIPS</a:t>
            </a:r>
          </a:p>
          <a:p>
            <a:pPr algn="l">
              <a:spcAft>
                <a:spcPts val="300"/>
              </a:spcAft>
            </a:pPr>
            <a:r>
              <a:rPr sz="1200" b="0">
                <a:solidFill>
                  <a:srgbClr val="5B6372"/>
                </a:solidFill>
                <a:latin typeface="Arial"/>
              </a:rPr>
              <a:t>Host-based intrusion prevention detects and blocks malicious activity on the endpoint itself.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ports / protocols</a:t>
            </a:r>
          </a:p>
          <a:p>
            <a:pPr algn="l">
              <a:spcAft>
                <a:spcPts val="300"/>
              </a:spcAft>
            </a:pPr>
            <a:r>
              <a:rPr sz="1200" b="0">
                <a:solidFill>
                  <a:srgbClr val="5B6372"/>
                </a:solidFill>
                <a:latin typeface="Arial"/>
              </a:rPr>
              <a:t>Turning off unused services and legacy protocols removes entry points.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HARDENING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Baseline and Default Hygiene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Default password changes</a:t>
            </a:r>
          </a:p>
          <a:p>
            <a:pPr algn="l">
              <a:spcAft>
                <a:spcPts val="300"/>
              </a:spcAft>
            </a:pPr>
            <a:r>
              <a:rPr sz="1200" b="0">
                <a:solidFill>
                  <a:srgbClr val="5B6372"/>
                </a:solidFill>
                <a:latin typeface="Arial"/>
              </a:rPr>
              <a:t>Replacing factory credentials removes the easiest and most-exploited entry 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Remove unnecessary software</a:t>
            </a:r>
          </a:p>
          <a:p>
            <a:pPr algn="l">
              <a:spcAft>
                <a:spcPts val="300"/>
              </a:spcAft>
            </a:pPr>
            <a:r>
              <a:rPr sz="1200" b="0">
                <a:solidFill>
                  <a:srgbClr val="5B6372"/>
                </a:solidFill>
                <a:latin typeface="Arial"/>
              </a:rPr>
              <a:t>Every uninstalled package is one less thing to patch and one less potential flaw.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Configuration enforcement</a:t>
            </a:r>
          </a:p>
          <a:p>
            <a:pPr algn="l">
              <a:spcAft>
                <a:spcPts val="300"/>
              </a:spcAft>
            </a:pPr>
            <a:r>
              <a:rPr sz="1200" b="0">
                <a:solidFill>
                  <a:srgbClr val="5B6372"/>
                </a:solidFill>
                <a:latin typeface="Arial"/>
              </a:rPr>
              <a:t>Automated tools keep every host at the approved secure baseline and flag drift.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Decommissioning</a:t>
            </a:r>
          </a:p>
          <a:p>
            <a:pPr algn="l">
              <a:spcAft>
                <a:spcPts val="300"/>
              </a:spcAft>
            </a:pPr>
            <a:r>
              <a:rPr sz="1200" b="0">
                <a:solidFill>
                  <a:srgbClr val="5B6372"/>
                </a:solidFill>
                <a:latin typeface="Arial"/>
              </a:rPr>
              <a:t>Securely retiring and wiping end-of-life assets so they stop being an unmanaged risk.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Applying a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Audit the host against a CIS or STIG benchmark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Remove unused software, ports and services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patches, encryption and endpoint protection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Enforce the baseline with configuration tooling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 continuously and re-audit for drift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OBJ 2.5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Defence in depth layers independent controls.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 single mitigation is enough; segmentation, least privilege, hardening and monitoring overlap so one failure does not expose everything.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OBJ 2.5 · VISIBILITY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Monitoring as a Mitigation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Continuous monitoring</a:t>
            </a:r>
          </a:p>
          <a:p>
            <a:pPr algn="l">
              <a:spcAft>
                <a:spcPts val="300"/>
              </a:spcAft>
            </a:pPr>
            <a:r>
              <a:rPr sz="1200" b="0">
                <a:solidFill>
                  <a:srgbClr val="5B6372"/>
                </a:solidFill>
                <a:latin typeface="Arial"/>
              </a:rPr>
              <a:t>Collecting and reviewing logs and telemetry so an attack is caught early, not months later.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Baselines</a:t>
            </a:r>
          </a:p>
          <a:p>
            <a:pPr algn="l">
              <a:spcAft>
                <a:spcPts val="300"/>
              </a:spcAft>
            </a:pPr>
            <a:r>
              <a:rPr sz="1200" b="0">
                <a:solidFill>
                  <a:srgbClr val="5B6372"/>
                </a:solidFill>
                <a:latin typeface="Arial"/>
              </a:rPr>
              <a:t>A known-good baseline makes anomalies visible against normal behaviour.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A SIEM correlates events and raises alerts on indicators of compromise.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loop</a:t>
            </a:r>
          </a:p>
          <a:p>
            <a:pPr algn="l">
              <a:spcAft>
                <a:spcPts val="300"/>
              </a:spcAft>
            </a:pPr>
            <a:r>
              <a:rPr sz="1200" b="0">
                <a:solidFill>
                  <a:srgbClr val="5B6372"/>
                </a:solidFill>
                <a:latin typeface="Arial"/>
              </a:rPr>
              <a:t>Monitoring findings feed back into patching, segmentation and policy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2.5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Mitigation Techniques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Application allow list is default-deny (strongest); a deny/block list is default-allow and weaker.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Least privilege and segmentation both shrink the blast radius of a compromise.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Hardening = patch, encrypt, remove software, disable ports, change defaults, add host firewall/HIPS.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Configuration enforcement keeps hosts on the secure baseline and detects drift automatically.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Decommissioning securely retires EOL assets so they do not linger as unmanaged risk.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2.5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audits an Ubuntu host with Lynis, applies SSH, sysctl, permission and auto-update hardening, then re-audits to measure the improved hardening index.</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before/after hardening score with CIS-aligned baseline fixes applied.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lynis, unattended-upgrades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Lynis and automatic updates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lynis unattended-upgrades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initial audit and note the score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lynis audit system --quick 2&gt;/dev/null | tee lynis-before.txt | grep -i 'hardening index'</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unused services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disable --now avahi-daemon cups 2&gt;/dev/null; true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the SSH configuration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's/^#*PermitRootLogin.*/PermitRootLogin no/' /etc/ssh/sshd_config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Set a directive login banner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'Authorised use only. Activity is logged.\n' &gt; /etc/issue.net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kernel sysctl hardening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'kernel.dmesg_restrict=1\n' &gt; /etc/sysctl.d/99-hardening.conf &amp;&amp; sysctl --system &gt;/dev/null</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Enable automatic security updates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dpkg-reconfigure -f noninteractive unattended-upgrades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Re-audit and compare the hardening index</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lynis audit system --quick 2&gt;/dev/null | tee lynis-after.txt; grep -i 'hardening index' lynis-*.txt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Linux Hardening Baseline with Lynis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learner confirms the Lynis hardening index climbs 10-15 points between the before and after audits.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well-funded group keeps stealthy access to a government network for years to steal secrets. Best fit? A) Hacktivist B) Insider C) Nation-state D) Unskilled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employee adopts an unapproved cloud file-sharing app to work faster. BEST described as: A) Insider threat B) Shadow IT C) Hacktivism D) Organized crime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user receives a text message with a link to 'reconfirm' a parcel delivery. This vector is: A) Vishing B) Phishing C) Smishing D) Pretexting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Attackers poison an industry news site their target's staff read daily. This is a: A) Watering hole B) Typosquatting C) Whaling D) Pretexting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finance clerk gets an email from the 'CEO' urgently demanding a wire transfer. This is MOST specifically: A) Spam B) Business email compromise C) Smishing D) Bloatware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program checks a file's permissions, then opens it; an attacker swaps the file in between. This is a: A) Buffer overflow B) Race condition C) SQLi D) Zero-day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2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attacker runs code on the hypervisor by breaking out of a guest VM. This is: A) Resource reuse B) VM escape C) Side loading D) Credential replay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One account logs in from Singapore and Germany eight minutes apart. This indicator is: A) Out-of-cycle logging B) Impossible travel C) Resource use D) Missing logs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Malware spreads across the network by itself with no user action. It is a: A) Virus B) Trojan C) Worm D) Logic bomb</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One password is tried once against hundreds of accounts to avoid lockouts. This is: A) Brute force B) Credential stuffing C) Password spraying D) Rainbow table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Only explicitly approved programs may execute on a host; all others are blocked. This control is an: A) Deny list B) Application allow list C) ACL D) HIPS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team divides the network so a breach in the guest Wi-Fi cannot reach servers. This mitigation is: A) Patching B) Segmentation C) Encryption D) Decommissioning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C — A long-term, well-resourced espionage campaign is the hallmark of a nation-state APT.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B — Shadow IT: unsanctioned but not malicious; the risk is lack of oversight.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C — Smishing is phishing delivered over SMS text messages.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A — A watering-hole attack poisons a site the target group is known to visit.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B — Business email compromise uses a spoofed or hijacked executive account to order fraudulent transfers.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A time-of-check to time-of-use race condition: state changes between the check and the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2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Q7: B — VM escape breaks guest isolation to compromise the host and every other VM.</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Q8: B — Impossible travel: the two logins are closer in time than any real travel allows.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Q9: C — A worm self-propagates without user interaction; a virus needs a host file and a user.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Q10: C — Password spraying uses one common password across many accounts to stay under lockout thresholds.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Q11: B — An application allow list is default-deny and stronger than a deny list.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Q12: B — Segmentation limits lateral movement and shrinks the blast radius of a compromise.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Threats, Vulnerabilities &amp; Mitigations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2.1 Threat Actors &amp; Motivations: A threat actor is any entity that can cause a security event, from a bored teenager to a nation-state intelligence agency.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2.2 Threat Vectors &amp; Attack Surfaces: A threat vector is the path or means an attacker uses to reach and exploit a target; the attack surface is the sum of all those paths.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2.3 Types of Vulnerabilities: A vulnerability is a weakness that a threat can exploit; this objective catalogues where weaknesses live.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2.4 Indicators of Malicious Activity: This large objective is about reading the signs of an attack across malware, physical, network, application and cryptographic categories.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2.5 Mitigation Techniques: Mitigations reduce the likelihood or impact of a threat; this objective lists the enterprise techniques you must know.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Architecture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3.1 Architecture models · 3.2 Enterprise infrastructure · 3.3 Data protection · 3.4 Resilience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3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3.1  Architecture Models</a:t>
            </a:r>
          </a:p>
          <a:p>
            <a:pPr algn="l">
              <a:spcAft>
                <a:spcPts val="300"/>
              </a:spcAft>
            </a:pPr>
            <a:r>
              <a:rPr sz="1200" b="0">
                <a:solidFill>
                  <a:srgbClr val="5B6372"/>
                </a:solidFill>
                <a:latin typeface="Arial"/>
              </a:rPr>
              <a:t>Compare and contrast security implications of different architecture models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3.2  Securing Enterprise Infrastructure</a:t>
            </a:r>
          </a:p>
          <a:p>
            <a:pPr algn="l">
              <a:spcAft>
                <a:spcPts val="300"/>
              </a:spcAft>
            </a:pPr>
            <a:r>
              <a:rPr sz="1200" b="0">
                <a:solidFill>
                  <a:srgbClr val="5B6372"/>
                </a:solidFill>
                <a:latin typeface="Arial"/>
              </a:rPr>
              <a:t>Given a scenario, apply security principles to secure enterprise infrastructure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3.3  Protecting Data</a:t>
            </a:r>
          </a:p>
          <a:p>
            <a:pPr algn="l">
              <a:spcAft>
                <a:spcPts val="300"/>
              </a:spcAft>
            </a:pPr>
            <a:r>
              <a:rPr sz="1200" b="0">
                <a:solidFill>
                  <a:srgbClr val="5B6372"/>
                </a:solidFill>
                <a:latin typeface="Arial"/>
              </a:rPr>
              <a:t>Compare and contrast concepts and strategies to protect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3.4  Resilience and Recovery</a:t>
            </a:r>
          </a:p>
          <a:p>
            <a:pPr algn="l">
              <a:spcAft>
                <a:spcPts val="300"/>
              </a:spcAft>
            </a:pPr>
            <a:r>
              <a:rPr sz="1200" b="0">
                <a:solidFill>
                  <a:srgbClr val="5B6372"/>
                </a:solidFill>
                <a:latin typeface="Arial"/>
              </a:rPr>
              <a:t>Explain the importance of resilience and recovery in security architecture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17–20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17. Cloud Shared Responsibility and IAM Least Privilege</a:t>
            </a:r>
          </a:p>
          <a:p>
            <a:pPr>
              <a:spcAft>
                <a:spcPts val="900"/>
              </a:spcAft>
            </a:pPr>
            <a:r>
              <a:rPr sz="1400" b="0">
                <a:solidFill>
                  <a:srgbClr val="161B26"/>
                </a:solidFill>
                <a:latin typeface="Arial"/>
              </a:rPr>
              <a:t>•  18. Container Security with Docker</a:t>
            </a:r>
          </a:p>
          <a:p>
            <a:pPr>
              <a:spcAft>
                <a:spcPts val="900"/>
              </a:spcAft>
            </a:pPr>
            <a:r>
              <a:rPr sz="1400" b="0">
                <a:solidFill>
                  <a:srgbClr val="161B26"/>
                </a:solidFill>
                <a:latin typeface="Arial"/>
              </a:rPr>
              <a:t>•  19. Network Segmentation and Security Zones</a:t>
            </a:r>
          </a:p>
          <a:p>
            <a:pPr>
              <a:spcAft>
                <a:spcPts val="900"/>
              </a:spcAft>
            </a:pPr>
            <a:r>
              <a:rPr sz="1400" b="0">
                <a:solidFill>
                  <a:srgbClr val="161B26"/>
                </a:solidFill>
                <a:latin typeface="Arial"/>
              </a:rPr>
              <a:t>•  20. Stateful Firewall with UFW and nftables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21–24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21. Web Application Firewall with ModSecurity and the OWASP CRS</a:t>
            </a:r>
          </a:p>
          <a:p>
            <a:pPr>
              <a:spcAft>
                <a:spcPts val="900"/>
              </a:spcAft>
            </a:pPr>
            <a:r>
              <a:rPr sz="1400" b="0">
                <a:solidFill>
                  <a:srgbClr val="161B26"/>
                </a:solidFill>
                <a:latin typeface="Arial"/>
              </a:rPr>
              <a:t>•  22. Site-to-Site VPN with WireGuard</a:t>
            </a:r>
          </a:p>
          <a:p>
            <a:pPr>
              <a:spcAft>
                <a:spcPts val="900"/>
              </a:spcAft>
            </a:pPr>
            <a:r>
              <a:rPr sz="1400" b="0">
                <a:solidFill>
                  <a:srgbClr val="161B26"/>
                </a:solidFill>
                <a:latin typeface="Arial"/>
              </a:rPr>
              <a:t>•  23. Data Classification and Data Loss Prevention</a:t>
            </a:r>
          </a:p>
          <a:p>
            <a:pPr>
              <a:spcAft>
                <a:spcPts val="900"/>
              </a:spcAft>
            </a:pPr>
            <a:r>
              <a:rPr sz="1400" b="0">
                <a:solidFill>
                  <a:srgbClr val="161B26"/>
                </a:solidFill>
                <a:latin typeface="Arial"/>
              </a:rPr>
              <a:t>•  24. Data at Rest: LUKS2 Disk Encryption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25–27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25. Data in Transit: TLS Hardening and Cipher Audit</a:t>
            </a:r>
          </a:p>
          <a:p>
            <a:pPr>
              <a:spcAft>
                <a:spcPts val="900"/>
              </a:spcAft>
            </a:pPr>
            <a:r>
              <a:rPr sz="1400" b="0">
                <a:solidFill>
                  <a:srgbClr val="161B26"/>
                </a:solidFill>
                <a:latin typeface="Arial"/>
              </a:rPr>
              <a:t>•  26. Backup and Recovery with restic</a:t>
            </a:r>
          </a:p>
          <a:p>
            <a:pPr>
              <a:spcAft>
                <a:spcPts val="900"/>
              </a:spcAft>
            </a:pPr>
            <a:r>
              <a:rPr sz="1400" b="0">
                <a:solidFill>
                  <a:srgbClr val="161B26"/>
                </a:solidFill>
                <a:latin typeface="Arial"/>
              </a:rPr>
              <a:t>•  27. Storage Resilience with Software RAID (mdadm)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Architecture Models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 IaC · Serverless · Microservices · Isolation · ICS/IoT · Trade-offs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RESPONSIBILITY MATRIX</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Cloud Responsibility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On-premises</a:t>
            </a:r>
          </a:p>
          <a:p>
            <a:pPr algn="l">
              <a:spcAft>
                <a:spcPts val="300"/>
              </a:spcAft>
            </a:pPr>
            <a:r>
              <a:rPr sz="1100" b="0">
                <a:solidFill>
                  <a:srgbClr val="5B6372"/>
                </a:solidFill>
                <a:latin typeface="Arial"/>
              </a:rPr>
              <a:t>The organisation owns everything from the building, power and hardware up to the application, data and identities.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IaaS</a:t>
            </a:r>
          </a:p>
          <a:p>
            <a:pPr algn="l">
              <a:spcAft>
                <a:spcPts val="300"/>
              </a:spcAft>
            </a:pPr>
            <a:r>
              <a:rPr sz="1100" b="0">
                <a:solidFill>
                  <a:srgbClr val="5B6372"/>
                </a:solidFill>
                <a:latin typeface="Arial"/>
              </a:rPr>
              <a:t>The provider runs facilities, hardware and hypervisor. You still patch the guest OS, set network rules and protect the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PaaS</a:t>
            </a:r>
          </a:p>
          <a:p>
            <a:pPr algn="l">
              <a:spcAft>
                <a:spcPts val="300"/>
              </a:spcAft>
            </a:pPr>
            <a:r>
              <a:rPr sz="1100" b="0">
                <a:solidFill>
                  <a:srgbClr val="5B6372"/>
                </a:solidFill>
                <a:latin typeface="Arial"/>
              </a:rPr>
              <a:t>The provider also manages the OS and runtime. You remain responsible for your code, its configuration, identities and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SaaS</a:t>
            </a:r>
          </a:p>
          <a:p>
            <a:pPr algn="l">
              <a:spcAft>
                <a:spcPts val="300"/>
              </a:spcAft>
            </a:pPr>
            <a:r>
              <a:rPr sz="1100" b="0">
                <a:solidFill>
                  <a:srgbClr val="5B6372"/>
                </a:solidFill>
                <a:latin typeface="Arial"/>
              </a:rPr>
              <a:t>The provider runs the whole application. You still own your data, user accounts, access permissions and service settings.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Always the customer</a:t>
            </a:r>
          </a:p>
          <a:p>
            <a:pPr algn="l">
              <a:spcAft>
                <a:spcPts val="300"/>
              </a:spcAft>
            </a:pPr>
            <a:r>
              <a:rPr sz="1100" b="0">
                <a:solidFill>
                  <a:srgbClr val="5B6372"/>
                </a:solidFill>
                <a:latin typeface="Arial"/>
              </a:rPr>
              <a:t>In every model the customer keeps data classification, identity and access management and account security.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CLOUD DEPLOYMENT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Models and Hybrid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cloud</a:t>
            </a:r>
          </a:p>
          <a:p>
            <a:pPr algn="l">
              <a:spcAft>
                <a:spcPts val="300"/>
              </a:spcAft>
            </a:pPr>
            <a:r>
              <a:rPr sz="1200" b="0">
                <a:solidFill>
                  <a:srgbClr val="5B6372"/>
                </a:solidFill>
                <a:latin typeface="Arial"/>
              </a:rPr>
              <a:t>Multi-tenant infrastructure shared by many customers. It scales instantly, but you rely on the provider to isolate tenants.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Private cloud</a:t>
            </a:r>
          </a:p>
          <a:p>
            <a:pPr algn="l">
              <a:spcAft>
                <a:spcPts val="300"/>
              </a:spcAft>
            </a:pPr>
            <a:r>
              <a:rPr sz="1200" b="0">
                <a:solidFill>
                  <a:srgbClr val="5B6372"/>
                </a:solidFill>
                <a:latin typeface="Arial"/>
              </a:rPr>
              <a:t>Infrastructure dedicated to one organisation, on site or hosted. It gives more control and assurance at a higher cost.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 cloud</a:t>
            </a:r>
          </a:p>
          <a:p>
            <a:pPr algn="l">
              <a:spcAft>
                <a:spcPts val="300"/>
              </a:spcAft>
            </a:pPr>
            <a:r>
              <a:rPr sz="1200" b="0">
                <a:solidFill>
                  <a:srgbClr val="5B6372"/>
                </a:solidFill>
                <a:latin typeface="Arial"/>
              </a:rPr>
              <a:t>Mixes on-premises and cloud. Watch for inconsistent policies, identity federation gaps and data flowing between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Community cloud</a:t>
            </a:r>
          </a:p>
          <a:p>
            <a:pPr algn="l">
              <a:spcAft>
                <a:spcPts val="300"/>
              </a:spcAft>
            </a:pPr>
            <a:r>
              <a:rPr sz="1200" b="0">
                <a:solidFill>
                  <a:srgbClr val="5B6372"/>
                </a:solidFill>
                <a:latin typeface="Arial"/>
              </a:rPr>
              <a:t>Shared by organisations with common needs, such as hospitals or agencies, which split cost and compliance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Third-party vendors</a:t>
            </a:r>
          </a:p>
          <a:p>
            <a:pPr algn="l">
              <a:spcAft>
                <a:spcPts val="300"/>
              </a:spcAft>
            </a:pPr>
            <a:r>
              <a:rPr sz="1200" b="0">
                <a:solidFill>
                  <a:srgbClr val="5B6372"/>
                </a:solidFill>
                <a:latin typeface="Arial"/>
              </a:rPr>
              <a:t>Every provider and managed service partner joins your attack surface. Assess them, agree SLAs and keep a right to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Multi-tenancy risk</a:t>
            </a:r>
          </a:p>
          <a:p>
            <a:pPr algn="l">
              <a:spcAft>
                <a:spcPts val="300"/>
              </a:spcAft>
            </a:pPr>
            <a:r>
              <a:rPr sz="1200" b="0">
                <a:solidFill>
                  <a:srgbClr val="5B6372"/>
                </a:solidFill>
                <a:latin typeface="Arial"/>
              </a:rPr>
              <a:t>A flaw in tenant isolation could expose one customer's data to another, so encrypt data with keys you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MODERN ARCHITECTURE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IaC, Serverless and Microservices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Infrastructure as code</a:t>
            </a:r>
          </a:p>
          <a:p>
            <a:pPr algn="l">
              <a:spcAft>
                <a:spcPts val="300"/>
              </a:spcAft>
            </a:pPr>
            <a:r>
              <a:rPr sz="1200" b="0">
                <a:solidFill>
                  <a:srgbClr val="5B6372"/>
                </a:solidFill>
                <a:latin typeface="Arial"/>
              </a:rPr>
              <a:t>Servers, networks and policies are defined in version-controlled templates, giving repeatable builds and no drift.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IaC security</a:t>
            </a:r>
          </a:p>
          <a:p>
            <a:pPr algn="l">
              <a:spcAft>
                <a:spcPts val="300"/>
              </a:spcAft>
            </a:pPr>
            <a:r>
              <a:rPr sz="1200" b="0">
                <a:solidFill>
                  <a:srgbClr val="5B6372"/>
                </a:solidFill>
                <a:latin typeface="Arial"/>
              </a:rPr>
              <a:t>One template error is copied into every deployment. Scan templates before deploying and keep secrets out of the repo.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Serverless</a:t>
            </a:r>
          </a:p>
          <a:p>
            <a:pPr algn="l">
              <a:spcAft>
                <a:spcPts val="300"/>
              </a:spcAft>
            </a:pPr>
            <a:r>
              <a:rPr sz="1200" b="0">
                <a:solidFill>
                  <a:srgbClr val="5B6372"/>
                </a:solidFill>
                <a:latin typeface="Arial"/>
              </a:rPr>
              <a:t>Code runs as on-demand functions with no server to manage. The provider patches the platform; you secure code and permissions.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Microservices</a:t>
            </a:r>
          </a:p>
          <a:p>
            <a:pPr algn="l">
              <a:spcAft>
                <a:spcPts val="300"/>
              </a:spcAft>
            </a:pPr>
            <a:r>
              <a:rPr sz="1200" b="0">
                <a:solidFill>
                  <a:srgbClr val="5B6372"/>
                </a:solidFill>
                <a:latin typeface="Arial"/>
              </a:rPr>
              <a:t>An application split into small independent services that talk over APIs. Each scales alone, but every API is an entry point.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Monolith contrast</a:t>
            </a:r>
          </a:p>
          <a:p>
            <a:pPr algn="l">
              <a:spcAft>
                <a:spcPts val="300"/>
              </a:spcAft>
            </a:pPr>
            <a:r>
              <a:rPr sz="1200" b="0">
                <a:solidFill>
                  <a:srgbClr val="5B6372"/>
                </a:solidFill>
                <a:latin typeface="Arial"/>
              </a:rPr>
              <a:t>A monolith is one large deployable unit. It has fewer interfaces, but one flaw or crash can take down the whole application.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protection</a:t>
            </a:r>
          </a:p>
          <a:p>
            <a:pPr algn="l">
              <a:spcAft>
                <a:spcPts val="300"/>
              </a:spcAft>
            </a:pPr>
            <a:r>
              <a:rPr sz="1200" b="0">
                <a:solidFill>
                  <a:srgbClr val="5B6372"/>
                </a:solidFill>
                <a:latin typeface="Arial"/>
              </a:rPr>
              <a:t>Microservices need service-to-service authentication, rate limiting, input validation and a gateway to enforce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VIRTUALISATION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Virtualisation versus Containerisation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hypervisor runs complete guest operating systems, each with its own kernel.</a:t>
            </a:r>
          </a:p>
          <a:p>
            <a:pPr>
              <a:spcAft>
                <a:spcPts val="1000"/>
              </a:spcAft>
            </a:pPr>
            <a:r>
              <a:rPr sz="1600" b="0">
                <a:solidFill>
                  <a:srgbClr val="161B26"/>
                </a:solidFill>
                <a:latin typeface="Arial"/>
              </a:rPr>
              <a:t>•  Isolation is strong because every VM has a separate kernel and virtual hardware.</a:t>
            </a:r>
          </a:p>
          <a:p>
            <a:pPr>
              <a:spcAft>
                <a:spcPts val="1000"/>
              </a:spcAft>
            </a:pPr>
            <a:r>
              <a:rPr sz="1600" b="0">
                <a:solidFill>
                  <a:srgbClr val="161B26"/>
                </a:solidFill>
                <a:latin typeface="Arial"/>
              </a:rPr>
              <a:t>•  VM escape, where code breaks out of a guest into the hypervisor, is the worst case.</a:t>
            </a:r>
          </a:p>
          <a:p>
            <a:pPr>
              <a:spcAft>
                <a:spcPts val="1000"/>
              </a:spcAft>
            </a:pPr>
            <a:r>
              <a:rPr sz="1600" b="0">
                <a:solidFill>
                  <a:srgbClr val="161B26"/>
                </a:solidFill>
                <a:latin typeface="Arial"/>
              </a:rPr>
              <a:t>•  VM sprawl leaves forgotten, unpatched machines running on the host.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Containers share the host kernel and isolate processes with namespaces and cgroups.</a:t>
            </a:r>
          </a:p>
          <a:p>
            <a:pPr>
              <a:spcAft>
                <a:spcPts val="1000"/>
              </a:spcAft>
            </a:pPr>
            <a:r>
              <a:rPr sz="1600" b="0">
                <a:solidFill>
                  <a:srgbClr val="161B26"/>
                </a:solidFill>
                <a:latin typeface="Arial"/>
              </a:rPr>
              <a:t>•  They start in seconds and are small, which makes them ideal for microservices.</a:t>
            </a:r>
          </a:p>
          <a:p>
            <a:pPr>
              <a:spcAft>
                <a:spcPts val="1000"/>
              </a:spcAft>
            </a:pPr>
            <a:r>
              <a:rPr sz="1600" b="0">
                <a:solidFill>
                  <a:srgbClr val="161B26"/>
                </a:solidFill>
                <a:latin typeface="Arial"/>
              </a:rPr>
              <a:t>•  A kernel flaw or a privileged container can let an attacker reach the host.</a:t>
            </a:r>
          </a:p>
          <a:p>
            <a:pPr>
              <a:spcAft>
                <a:spcPts val="1000"/>
              </a:spcAft>
            </a:pPr>
            <a:r>
              <a:rPr sz="1600" b="0">
                <a:solidFill>
                  <a:srgbClr val="161B26"/>
                </a:solidFill>
                <a:latin typeface="Arial"/>
              </a:rPr>
              <a:t>•  Scan images, run as non-root and grant only the capabilities the process needs.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CONTROL MODELS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Centralised versus Decentralised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Centralised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Decentralised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Control, data and decisions sit in one place, such as one data centre or directory.</a:t>
            </a:r>
          </a:p>
          <a:p>
            <a:pPr>
              <a:spcAft>
                <a:spcPts val="1000"/>
              </a:spcAft>
            </a:pPr>
            <a:r>
              <a:rPr sz="1600" b="0">
                <a:solidFill>
                  <a:srgbClr val="161B26"/>
                </a:solidFill>
                <a:latin typeface="Arial"/>
              </a:rPr>
              <a:t>•  It is easier to manage, monitor and apply one consistent security policy.</a:t>
            </a:r>
          </a:p>
          <a:p>
            <a:pPr>
              <a:spcAft>
                <a:spcPts val="1000"/>
              </a:spcAft>
            </a:pPr>
            <a:r>
              <a:rPr sz="1600" b="0">
                <a:solidFill>
                  <a:srgbClr val="161B26"/>
                </a:solidFill>
                <a:latin typeface="Arial"/>
              </a:rPr>
              <a:t>•  It creates a single point of failure and a high-value target for attackers.</a:t>
            </a:r>
          </a:p>
          <a:p>
            <a:pPr>
              <a:spcAft>
                <a:spcPts val="1000"/>
              </a:spcAft>
            </a:pPr>
            <a:r>
              <a:rPr sz="1600" b="0">
                <a:solidFill>
                  <a:srgbClr val="161B26"/>
                </a:solidFill>
                <a:latin typeface="Arial"/>
              </a:rPr>
              <a:t>•  Example: one on-premises data centre with a single identity provider.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Processing and control are spread across many sites, nodes or business units.</a:t>
            </a:r>
          </a:p>
          <a:p>
            <a:pPr>
              <a:spcAft>
                <a:spcPts val="1000"/>
              </a:spcAft>
            </a:pPr>
            <a:r>
              <a:rPr sz="1600" b="0">
                <a:solidFill>
                  <a:srgbClr val="161B26"/>
                </a:solidFill>
                <a:latin typeface="Arial"/>
              </a:rPr>
              <a:t>•  It is more resilient because one failed node does not stop the whole system.</a:t>
            </a:r>
          </a:p>
          <a:p>
            <a:pPr>
              <a:spcAft>
                <a:spcPts val="1000"/>
              </a:spcAft>
            </a:pPr>
            <a:r>
              <a:rPr sz="1600" b="0">
                <a:solidFill>
                  <a:srgbClr val="161B26"/>
                </a:solidFill>
                <a:latin typeface="Arial"/>
              </a:rPr>
              <a:t>•  Policy is harder to keep consistent and visibility is split across many teams.</a:t>
            </a:r>
          </a:p>
          <a:p>
            <a:pPr>
              <a:spcAft>
                <a:spcPts val="1000"/>
              </a:spcAft>
            </a:pPr>
            <a:r>
              <a:rPr sz="1600" b="0">
                <a:solidFill>
                  <a:srgbClr val="161B26"/>
                </a:solidFill>
                <a:latin typeface="Arial"/>
              </a:rPr>
              <a:t>•  Examples: blockchain ledgers, edge computing and branches with local services.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NETWORK INFRASTRUCTURE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Physical Isolation, Segmentation and SDN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isolation</a:t>
            </a:r>
          </a:p>
          <a:p>
            <a:pPr algn="l">
              <a:spcAft>
                <a:spcPts val="300"/>
              </a:spcAft>
            </a:pPr>
            <a:r>
              <a:rPr sz="1200" b="0">
                <a:solidFill>
                  <a:srgbClr val="5B6372"/>
                </a:solidFill>
                <a:latin typeface="Arial"/>
              </a:rPr>
              <a:t>Systems run on separate hardware with no shared cabling. It is the strongest separation and also the most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Air-gapped network</a:t>
            </a:r>
          </a:p>
          <a:p>
            <a:pPr algn="l">
              <a:spcAft>
                <a:spcPts val="300"/>
              </a:spcAft>
            </a:pPr>
            <a:r>
              <a:rPr sz="1200" b="0">
                <a:solidFill>
                  <a:srgbClr val="5B6372"/>
                </a:solidFill>
                <a:latin typeface="Arial"/>
              </a:rPr>
              <a:t>A network with no connection to any other network. Data moves on removable media, which becomes the main threat vector.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Logical segmentation</a:t>
            </a:r>
          </a:p>
          <a:p>
            <a:pPr algn="l">
              <a:spcAft>
                <a:spcPts val="300"/>
              </a:spcAft>
            </a:pPr>
            <a:r>
              <a:rPr sz="1200" b="0">
                <a:solidFill>
                  <a:srgbClr val="5B6372"/>
                </a:solidFill>
                <a:latin typeface="Arial"/>
              </a:rPr>
              <a:t>VLANs, subnets and firewall rules divide one physical network into separate zones, each with its own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Software-defined networking</a:t>
            </a:r>
          </a:p>
          <a:p>
            <a:pPr algn="l">
              <a:spcAft>
                <a:spcPts val="300"/>
              </a:spcAft>
            </a:pPr>
            <a:r>
              <a:rPr sz="1200" b="0">
                <a:solidFill>
                  <a:srgbClr val="5B6372"/>
                </a:solidFill>
                <a:latin typeface="Arial"/>
              </a:rPr>
              <a:t>SDN separates the control plane from the data plane, so a central controller programs every switch in software.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SDN planes</a:t>
            </a:r>
          </a:p>
          <a:p>
            <a:pPr algn="l">
              <a:spcAft>
                <a:spcPts val="300"/>
              </a:spcAft>
            </a:pPr>
            <a:r>
              <a:rPr sz="1200" b="0">
                <a:solidFill>
                  <a:srgbClr val="5B6372"/>
                </a:solidFill>
                <a:latin typeface="Arial"/>
              </a:rPr>
              <a:t>The control plane decides where traffic goes, the data plane forwards it and the management plane configures devices.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SDN risk</a:t>
            </a:r>
          </a:p>
          <a:p>
            <a:pPr algn="l">
              <a:spcAft>
                <a:spcPts val="300"/>
              </a:spcAft>
            </a:pPr>
            <a:r>
              <a:rPr sz="1200" b="0">
                <a:solidFill>
                  <a:srgbClr val="5B6372"/>
                </a:solidFill>
                <a:latin typeface="Arial"/>
              </a:rPr>
              <a:t>The controller becomes a single high-value target. Protect it with strong authentication, segmentation and redundancy.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SPECIALISED SYSTEMS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ICS/SCADA, IoT, RTOS and Embedded Systems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IoT</a:t>
            </a:r>
          </a:p>
          <a:p>
            <a:pPr algn="l">
              <a:spcAft>
                <a:spcPts val="300"/>
              </a:spcAft>
            </a:pPr>
            <a:r>
              <a:rPr sz="1200" b="0">
                <a:solidFill>
                  <a:srgbClr val="5B6372"/>
                </a:solidFill>
                <a:latin typeface="Arial"/>
              </a:rPr>
              <a:t>Connected devices often ship with default passwords, weak update paths and long lives. Isolate them on their own segment.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ICS and SCADA</a:t>
            </a:r>
          </a:p>
          <a:p>
            <a:pPr algn="l">
              <a:spcAft>
                <a:spcPts val="300"/>
              </a:spcAft>
            </a:pPr>
            <a:r>
              <a:rPr sz="1200" b="0">
                <a:solidFill>
                  <a:srgbClr val="5B6372"/>
                </a:solidFill>
                <a:latin typeface="Arial"/>
              </a:rPr>
              <a:t>Industrial control systems run physical processes such as power and water. SCADA supervises them across wide areas.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OT priorities</a:t>
            </a:r>
          </a:p>
          <a:p>
            <a:pPr algn="l">
              <a:spcAft>
                <a:spcPts val="300"/>
              </a:spcAft>
            </a:pPr>
            <a:r>
              <a:rPr sz="1200" b="0">
                <a:solidFill>
                  <a:srgbClr val="5B6372"/>
                </a:solidFill>
                <a:latin typeface="Arial"/>
              </a:rPr>
              <a:t>Availability and safety come first in operational technology, so patching is rare and every change is carefully planned.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RTOS</a:t>
            </a:r>
          </a:p>
          <a:p>
            <a:pPr algn="l">
              <a:spcAft>
                <a:spcPts val="300"/>
              </a:spcAft>
            </a:pPr>
            <a:r>
              <a:rPr sz="1200" b="0">
                <a:solidFill>
                  <a:srgbClr val="5B6372"/>
                </a:solidFill>
                <a:latin typeface="Arial"/>
              </a:rPr>
              <a:t>A real-time operating system guarantees a response within strict deadlines, as in vehicles, infusion pumps and robots.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Embedded systems</a:t>
            </a:r>
          </a:p>
          <a:p>
            <a:pPr algn="l">
              <a:spcAft>
                <a:spcPts val="300"/>
              </a:spcAft>
            </a:pPr>
            <a:r>
              <a:rPr sz="1200" b="0">
                <a:solidFill>
                  <a:srgbClr val="5B6372"/>
                </a:solidFill>
                <a:latin typeface="Arial"/>
              </a:rPr>
              <a:t>Purpose-built computers inside devices, often with firmware that is hard or impossible to patch after release.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High availability</a:t>
            </a:r>
          </a:p>
          <a:p>
            <a:pPr algn="l">
              <a:spcAft>
                <a:spcPts val="300"/>
              </a:spcAft>
            </a:pPr>
            <a:r>
              <a:rPr sz="1200" b="0">
                <a:solidFill>
                  <a:srgbClr val="5B6372"/>
                </a:solidFill>
                <a:latin typeface="Arial"/>
              </a:rPr>
              <a:t>Critical platforms are built with redundant components so that a single failure does not stop the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Architecture Considerations and Trade-offs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Availability</a:t>
            </a:r>
          </a:p>
          <a:p>
            <a:pPr algn="l">
              <a:spcAft>
                <a:spcPts val="300"/>
              </a:spcAft>
            </a:pPr>
            <a:r>
              <a:rPr sz="1100" b="0">
                <a:solidFill>
                  <a:srgbClr val="5B6372"/>
                </a:solidFill>
                <a:latin typeface="Arial"/>
              </a:rPr>
              <a:t>How reliably the system is reachable, expressed as uptime targets such as 99.99 percent, called four nines.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a:t>
            </a:r>
          </a:p>
          <a:p>
            <a:pPr algn="l">
              <a:spcAft>
                <a:spcPts val="300"/>
              </a:spcAft>
            </a:pPr>
            <a:r>
              <a:rPr sz="1100" b="0">
                <a:solidFill>
                  <a:srgbClr val="5B6372"/>
                </a:solidFill>
                <a:latin typeface="Arial"/>
              </a:rPr>
              <a:t>How well the system withstands and recovers from failure without losing service, for example through redundancy.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a:t>
            </a:r>
          </a:p>
          <a:p>
            <a:pPr algn="l">
              <a:spcAft>
                <a:spcPts val="300"/>
              </a:spcAft>
            </a:pPr>
            <a:r>
              <a:rPr sz="1100" b="0">
                <a:solidFill>
                  <a:srgbClr val="5B6372"/>
                </a:solidFill>
                <a:latin typeface="Arial"/>
              </a:rPr>
              <a:t>Capital and operating expense. Cloud swaps up-front hardware spending for an ongoing subscription.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Responsiveness</a:t>
            </a:r>
          </a:p>
          <a:p>
            <a:pPr algn="l">
              <a:spcAft>
                <a:spcPts val="300"/>
              </a:spcAft>
            </a:pPr>
            <a:r>
              <a:rPr sz="1100" b="0">
                <a:solidFill>
                  <a:srgbClr val="5B6372"/>
                </a:solidFill>
                <a:latin typeface="Arial"/>
              </a:rPr>
              <a:t>How quickly the system answers under load. Latency matters most for real-time and user-facing services.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Scalability</a:t>
            </a:r>
          </a:p>
          <a:p>
            <a:pPr algn="l">
              <a:spcAft>
                <a:spcPts val="300"/>
              </a:spcAft>
            </a:pPr>
            <a:r>
              <a:rPr sz="1100" b="0">
                <a:solidFill>
                  <a:srgbClr val="5B6372"/>
                </a:solidFill>
                <a:latin typeface="Arial"/>
              </a:rPr>
              <a:t>The ability to grow or shrink with demand. Cloud scales out automatically; on premises needs new hardware.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Ease of deployment</a:t>
            </a:r>
          </a:p>
          <a:p>
            <a:pPr algn="l">
              <a:spcAft>
                <a:spcPts val="300"/>
              </a:spcAft>
            </a:pPr>
            <a:r>
              <a:rPr sz="1100" b="0">
                <a:solidFill>
                  <a:srgbClr val="5B6372"/>
                </a:solidFill>
                <a:latin typeface="Arial"/>
              </a:rPr>
              <a:t>How fast environments can be built. IaC templates and containers make deployment quick and repeatable.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Architecture Considerations and Trade-offs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transference</a:t>
            </a:r>
          </a:p>
          <a:p>
            <a:pPr algn="l">
              <a:spcAft>
                <a:spcPts val="300"/>
              </a:spcAft>
            </a:pPr>
            <a:r>
              <a:rPr sz="1100" b="0">
                <a:solidFill>
                  <a:srgbClr val="5B6372"/>
                </a:solidFill>
                <a:latin typeface="Arial"/>
              </a:rPr>
              <a:t>Shifting some risk to another party, such as a provider or insurer. Accountability for the data stays with you.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Ease of recovery</a:t>
            </a:r>
          </a:p>
          <a:p>
            <a:pPr algn="l">
              <a:spcAft>
                <a:spcPts val="300"/>
              </a:spcAft>
            </a:pPr>
            <a:r>
              <a:rPr sz="1100" b="0">
                <a:solidFill>
                  <a:srgbClr val="5B6372"/>
                </a:solidFill>
                <a:latin typeface="Arial"/>
              </a:rPr>
              <a:t>How fast service is restored after an incident. Snapshots, IaC rebuilds and backups all shorten recovery.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Patch availability</a:t>
            </a:r>
          </a:p>
          <a:p>
            <a:pPr algn="l">
              <a:spcAft>
                <a:spcPts val="300"/>
              </a:spcAft>
            </a:pPr>
            <a:r>
              <a:rPr sz="1100" b="0">
                <a:solidFill>
                  <a:srgbClr val="5B6372"/>
                </a:solidFill>
                <a:latin typeface="Arial"/>
              </a:rPr>
              <a:t>Whether the vendor still releases fixes. End-of-life products get no patches and stay permanently vulnerable.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Inability to patch</a:t>
            </a:r>
          </a:p>
          <a:p>
            <a:pPr algn="l">
              <a:spcAft>
                <a:spcPts val="300"/>
              </a:spcAft>
            </a:pPr>
            <a:r>
              <a:rPr sz="1100" b="0">
                <a:solidFill>
                  <a:srgbClr val="5B6372"/>
                </a:solidFill>
                <a:latin typeface="Arial"/>
              </a:rPr>
              <a:t>Some ICS, medical and embedded systems cannot be patched safely, so compensating controls must reduce the risk.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a:t>
            </a:r>
          </a:p>
          <a:p>
            <a:pPr algn="l">
              <a:spcAft>
                <a:spcPts val="300"/>
              </a:spcAft>
            </a:pPr>
            <a:r>
              <a:rPr sz="1100" b="0">
                <a:solidFill>
                  <a:srgbClr val="5B6372"/>
                </a:solidFill>
                <a:latin typeface="Arial"/>
              </a:rPr>
              <a:t>Electrical draw and supply limits. Small embedded and IoT devices often cannot run heavy security agents.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Compute</a:t>
            </a:r>
          </a:p>
          <a:p>
            <a:pPr algn="l">
              <a:spcAft>
                <a:spcPts val="300"/>
              </a:spcAft>
            </a:pPr>
            <a:r>
              <a:rPr sz="1100" b="0">
                <a:solidFill>
                  <a:srgbClr val="5B6372"/>
                </a:solidFill>
                <a:latin typeface="Arial"/>
              </a:rPr>
              <a:t>Available processing capacity. Constrained devices may lack the CPU for strong encryption or endpoint protection.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3.1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can outsource the infrastructure, never the accountability.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Whatever the cloud model, the customer still owns its data, identities and configuration choices. Read the responsibility matrix before you sign.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Architecture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IaaS: you patch the guest OS. PaaS: you secure code and data. SaaS: you still own data, users and access settings.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Air-gapped means no network connection at all, so removable media such as USB drives becomes the main infection route.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SDN splits the control plane, which decides the path, from the data plane, which forwards the packets.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Containers share the host kernel while each VM has its own kernel, so container isolation is weaker by design.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For an ICS or embedded device that cannot be patched, the answer is usually a compensating control: segment and monitor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an on-prem/IaaS/PaaS/SaaS responsibility matrix, simulates IAM policy evaluation, replaces a wildcard policy with least privilege, and scans an IaC template for misconfigurations.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responsibility matrix, an IAM simulator, a least-privilege policy and a clean IaC scan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python3, awk, column (bsdextrautils)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jq python3 bsdextrautils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shared responsibility matrix</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-s, -t matrix.csv</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matrix for who owns each control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awk -F, 'NR&gt;1 &amp;&amp; $3=="customer" {print "  " $1}' matrix.csv</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 over-permissive IAM policy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'.Statement[] | select(.Effect=="Allow") | ...' policy-v1.json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Evaluate requests with a policy simulator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read -r act res; do python3 evaluate.py policy-v1.json "$act" "$res"; done &lt; requests.txt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Rewrite the policy to least privilege and re-evaluate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read -r act res; do python3 evaluate.py policy-v2.json "$act" "$res"; done &lt; requests.txt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an IaC template for misconfigurations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./iac-scan.sh template-v1.json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Fix the template and confirm a clean scan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./iac-scan.sh template-v2.json &amp;&amp; echo "Template approved for deployment"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Cloud Shared Responsibility and IAM Least Privilege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template-v1 reports 5 findings and template-v2 reports Findings: 0; the v2 policy returns EXPLICIT DENY for s3:DeleteObject and IMPLICIT DENY for iam:CreateUser.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inspects a default root container, builds a non-root image, runs it read-only with all capabilities dropped and resource limits applied, and scans images for known CVEs with Trivy.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non-root image, a hardened container, a pids-capped container and a Trivy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docker.io, capsh (libcap2-bin), trivy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Docker and check the engine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command -v docker &gt;/dev/null 2&gt;&amp;1 || apt-get install -y docker.io</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default container and inspect its privileges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capsh --decode=$(docker exec web-default awk '/CapEff/{print $2}' /proc/1/status)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container isolation with the host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readlink /proc/1/ns/pid /proc/$PID/ns/pid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an image that runs as a non-root user</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build -q -t lab18/app:1.0 . &amp;&amp; docker run --rm lab18/app:1.0 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the container: read-only, no capabilities, no new privileges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app-hardened --read-only --cap-drop ALL --security-opt no-new-privileges:true lab18/app:1.0</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resource limits and survive a fork bomb</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app-capped --memory 64m --cpus 0.5 --pids-limit 30 lab18/app:1.0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Audit default versus hardened settings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inspect -f '{{.Name}}: user={{.Config.User}} readonly={{.HostConfig.ReadonlyRootfs}} ...'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images for known vulnerabilities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image --quiet --scanners vuln --severity HIGH,CRITICAL nginx:1.21-alpine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Container Security with Docker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app-hardened runs as UID 10001, even root gets 'Read-only file system', CapEff is 0, the capped container refuses to fork past 30 processes, and Trivy lists CVEs for the old image.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Securing Enterprise Infrastructure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Placement · Zones · Failure modes · Appliances · 802.1X · Firewalls · VPN · SASE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DESIGN PRINCIPLES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Infrastructure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 placement</a:t>
            </a:r>
          </a:p>
          <a:p>
            <a:pPr algn="l">
              <a:spcAft>
                <a:spcPts val="300"/>
              </a:spcAft>
            </a:pPr>
            <a:r>
              <a:rPr sz="1200" b="0">
                <a:solidFill>
                  <a:srgbClr val="5B6372"/>
                </a:solidFill>
                <a:latin typeface="Arial"/>
              </a:rPr>
              <a:t>Put each control where it sees the traffic it protects, such as a firewall at a zone edge or a sensor at a choke 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zones</a:t>
            </a:r>
          </a:p>
          <a:p>
            <a:pPr algn="l">
              <a:spcAft>
                <a:spcPts val="300"/>
              </a:spcAft>
            </a:pPr>
            <a:r>
              <a:rPr sz="1200" b="0">
                <a:solidFill>
                  <a:srgbClr val="5B6372"/>
                </a:solidFill>
                <a:latin typeface="Arial"/>
              </a:rPr>
              <a:t>Group assets of equal trust, such as internet, screened subnet, internal and management, and police traffic between them.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Attack surface</a:t>
            </a:r>
          </a:p>
          <a:p>
            <a:pPr algn="l">
              <a:spcAft>
                <a:spcPts val="300"/>
              </a:spcAft>
            </a:pPr>
            <a:r>
              <a:rPr sz="1200" b="0">
                <a:solidFill>
                  <a:srgbClr val="5B6372"/>
                </a:solidFill>
                <a:latin typeface="Arial"/>
              </a:rPr>
              <a:t>Every open port, exposed service, account and interface an attacker could use. Shrink it by removing what is not needed.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Connectivity</a:t>
            </a:r>
          </a:p>
          <a:p>
            <a:pPr algn="l">
              <a:spcAft>
                <a:spcPts val="300"/>
              </a:spcAft>
            </a:pPr>
            <a:r>
              <a:rPr sz="1200" b="0">
                <a:solidFill>
                  <a:srgbClr val="5B6372"/>
                </a:solidFill>
                <a:latin typeface="Arial"/>
              </a:rPr>
              <a:t>Every link to sites, clouds and partners is an attack path. Inventory each connection and encrypt and filter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Formerly called a DMZ. It hosts public services such as web servers and is isolated from the trusted internal network.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in depth</a:t>
            </a:r>
          </a:p>
          <a:p>
            <a:pPr algn="l">
              <a:spcAft>
                <a:spcPts val="300"/>
              </a:spcAft>
            </a:pPr>
            <a:r>
              <a:rPr sz="1200" b="0">
                <a:solidFill>
                  <a:srgbClr val="5B6372"/>
                </a:solidFill>
                <a:latin typeface="Arial"/>
              </a:rPr>
              <a:t>Layer controls so that one bypassed or failed device does not expose everything behind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FAILURE MODES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Fail-Open versus Fail-Closed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Fail-open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Fail-closed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When the device fails, traffic keeps flowing without being inspected.</a:t>
            </a:r>
          </a:p>
          <a:p>
            <a:pPr>
              <a:spcAft>
                <a:spcPts val="1000"/>
              </a:spcAft>
            </a:pPr>
            <a:r>
              <a:rPr sz="1600" b="0">
                <a:solidFill>
                  <a:srgbClr val="161B26"/>
                </a:solidFill>
                <a:latin typeface="Arial"/>
              </a:rPr>
              <a:t>•  It preserves availability at the cost of confidentiality and integrity.</a:t>
            </a:r>
          </a:p>
          <a:p>
            <a:pPr>
              <a:spcAft>
                <a:spcPts val="1000"/>
              </a:spcAft>
            </a:pPr>
            <a:r>
              <a:rPr sz="1600" b="0">
                <a:solidFill>
                  <a:srgbClr val="161B26"/>
                </a:solidFill>
                <a:latin typeface="Arial"/>
              </a:rPr>
              <a:t>•  It suits devices where an outage is the bigger risk, such as a monitoring sensor.</a:t>
            </a:r>
          </a:p>
          <a:p>
            <a:pPr>
              <a:spcAft>
                <a:spcPts val="1000"/>
              </a:spcAft>
            </a:pPr>
            <a:r>
              <a:rPr sz="1600" b="0">
                <a:solidFill>
                  <a:srgbClr val="161B26"/>
                </a:solidFill>
                <a:latin typeface="Arial"/>
              </a:rPr>
              <a:t>•  Example: an IPS bypass switch that passes traffic when the IPS crashes.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When the device fails, all traffic through it is blocked.</a:t>
            </a:r>
          </a:p>
          <a:p>
            <a:pPr>
              <a:spcAft>
                <a:spcPts val="1000"/>
              </a:spcAft>
            </a:pPr>
            <a:r>
              <a:rPr sz="1600" b="0">
                <a:solidFill>
                  <a:srgbClr val="161B26"/>
                </a:solidFill>
                <a:latin typeface="Arial"/>
              </a:rPr>
              <a:t>•  It preserves confidentiality and integrity at the cost of availability.</a:t>
            </a:r>
          </a:p>
          <a:p>
            <a:pPr>
              <a:spcAft>
                <a:spcPts val="1000"/>
              </a:spcAft>
            </a:pPr>
            <a:r>
              <a:rPr sz="1600" b="0">
                <a:solidFill>
                  <a:srgbClr val="161B26"/>
                </a:solidFill>
                <a:latin typeface="Arial"/>
              </a:rPr>
              <a:t>•  It suits security-critical boundaries such as the perimeter firewall.</a:t>
            </a:r>
          </a:p>
          <a:p>
            <a:pPr>
              <a:spcAft>
                <a:spcPts val="1000"/>
              </a:spcAft>
            </a:pPr>
            <a:r>
              <a:rPr sz="1600" b="0">
                <a:solidFill>
                  <a:srgbClr val="161B26"/>
                </a:solidFill>
                <a:latin typeface="Arial"/>
              </a:rPr>
              <a:t>•  Example: a firewall that drops every packet when its rule engine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DEVICE ATTRIBUTES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Passive, Inline and Tap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Active</a:t>
            </a:r>
          </a:p>
          <a:p>
            <a:pPr algn="l">
              <a:spcAft>
                <a:spcPts val="300"/>
              </a:spcAft>
            </a:pPr>
            <a:r>
              <a:rPr sz="1200" b="0">
                <a:solidFill>
                  <a:srgbClr val="5B6372"/>
                </a:solidFill>
                <a:latin typeface="Arial"/>
              </a:rPr>
              <a:t>The device can act on traffic, such as blocking a connection, resetting a session or quarantining a host. An IPS is active.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Passive</a:t>
            </a:r>
          </a:p>
          <a:p>
            <a:pPr algn="l">
              <a:spcAft>
                <a:spcPts val="300"/>
              </a:spcAft>
            </a:pPr>
            <a:r>
              <a:rPr sz="1200" b="0">
                <a:solidFill>
                  <a:srgbClr val="5B6372"/>
                </a:solidFill>
                <a:latin typeface="Arial"/>
              </a:rPr>
              <a:t>The device only observes and alerts, so it cannot stop an attack itself. An IDS fed from a mirror port is passive.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Inline</a:t>
            </a:r>
          </a:p>
          <a:p>
            <a:pPr algn="l">
              <a:spcAft>
                <a:spcPts val="300"/>
              </a:spcAft>
            </a:pPr>
            <a:r>
              <a:rPr sz="1200" b="0">
                <a:solidFill>
                  <a:srgbClr val="5B6372"/>
                </a:solidFill>
                <a:latin typeface="Arial"/>
              </a:rPr>
              <a:t>Installed in the cable path, sometimes called a bump in the wire. Every packet passes through it, so it can block.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Tap or monitor</a:t>
            </a:r>
          </a:p>
          <a:p>
            <a:pPr algn="l">
              <a:spcAft>
                <a:spcPts val="300"/>
              </a:spcAft>
            </a:pPr>
            <a:r>
              <a:rPr sz="1200" b="0">
                <a:solidFill>
                  <a:srgbClr val="5B6372"/>
                </a:solidFill>
                <a:latin typeface="Arial"/>
              </a:rPr>
              <a:t>Receives a copy of traffic from a network tap or SPAN mirror port. It adds no latency and no failure point.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SPAN caveat</a:t>
            </a:r>
          </a:p>
          <a:p>
            <a:pPr algn="l">
              <a:spcAft>
                <a:spcPts val="300"/>
              </a:spcAft>
            </a:pPr>
            <a:r>
              <a:rPr sz="1200" b="0">
                <a:solidFill>
                  <a:srgbClr val="5B6372"/>
                </a:solidFill>
                <a:latin typeface="Arial"/>
              </a:rPr>
              <a:t>A switch mirror port can drop frames under load and does not copy errored frames, so a hardware tap is more reliable.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trade-off</a:t>
            </a:r>
          </a:p>
          <a:p>
            <a:pPr algn="l">
              <a:spcAft>
                <a:spcPts val="300"/>
              </a:spcAft>
            </a:pPr>
            <a:r>
              <a:rPr sz="1200" b="0">
                <a:solidFill>
                  <a:srgbClr val="5B6372"/>
                </a:solidFill>
                <a:latin typeface="Arial"/>
              </a:rPr>
              <a:t>Inline active devices can stop attacks but add latency and a failure point. Passive monitors are safe but only detect.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NETWORK APPLIANCES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Appliances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Jump server</a:t>
            </a:r>
          </a:p>
          <a:p>
            <a:pPr algn="l">
              <a:spcAft>
                <a:spcPts val="300"/>
              </a:spcAft>
            </a:pPr>
            <a:r>
              <a:rPr sz="1100" b="0">
                <a:solidFill>
                  <a:srgbClr val="5B6372"/>
                </a:solidFill>
                <a:latin typeface="Arial"/>
              </a:rPr>
              <a:t>A hardened host in the management zone. Admins connect to it first, then onward, so admin access is funnelled and logged.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Forward proxy</a:t>
            </a:r>
          </a:p>
          <a:p>
            <a:pPr algn="l">
              <a:spcAft>
                <a:spcPts val="300"/>
              </a:spcAft>
            </a:pPr>
            <a:r>
              <a:rPr sz="1100" b="0">
                <a:solidFill>
                  <a:srgbClr val="5B6372"/>
                </a:solidFill>
                <a:latin typeface="Arial"/>
              </a:rPr>
              <a:t>Makes outbound requests for internal clients, enabling URL filtering, caching, logging and hiding client addresses.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Reverse proxy</a:t>
            </a:r>
          </a:p>
          <a:p>
            <a:pPr algn="l">
              <a:spcAft>
                <a:spcPts val="300"/>
              </a:spcAft>
            </a:pPr>
            <a:r>
              <a:rPr sz="1100" b="0">
                <a:solidFill>
                  <a:srgbClr val="5B6372"/>
                </a:solidFill>
                <a:latin typeface="Arial"/>
              </a:rPr>
              <a:t>Receives inbound requests for internal web servers, hiding them and enabling TLS offload and request filtering.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IDS and IPS</a:t>
            </a:r>
          </a:p>
          <a:p>
            <a:pPr algn="l">
              <a:spcAft>
                <a:spcPts val="300"/>
              </a:spcAft>
            </a:pPr>
            <a:r>
              <a:rPr sz="1100" b="0">
                <a:solidFill>
                  <a:srgbClr val="5B6372"/>
                </a:solidFill>
                <a:latin typeface="Arial"/>
              </a:rPr>
              <a:t>An IDS detects and alerts on malicious traffic; an IPS sits inline and blocks it. Both use signatures and anomalies.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Load balancer</a:t>
            </a:r>
          </a:p>
          <a:p>
            <a:pPr algn="l">
              <a:spcAft>
                <a:spcPts val="300"/>
              </a:spcAft>
            </a:pPr>
            <a:r>
              <a:rPr sz="1100" b="0">
                <a:solidFill>
                  <a:srgbClr val="5B6372"/>
                </a:solidFill>
                <a:latin typeface="Arial"/>
              </a:rPr>
              <a:t>Spreads requests across a pool of servers using health checks, improving availability and absorbing traffic spikes.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Sensors</a:t>
            </a:r>
          </a:p>
          <a:p>
            <a:pPr algn="l">
              <a:spcAft>
                <a:spcPts val="300"/>
              </a:spcAft>
            </a:pPr>
            <a:r>
              <a:rPr sz="1100" b="0">
                <a:solidFill>
                  <a:srgbClr val="5B6372"/>
                </a:solidFill>
                <a:latin typeface="Arial"/>
              </a:rPr>
              <a:t>Collect traffic or events at key points, such as taps and host agents, and feed them to an IDS or a SIEM.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IDS AND 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Signature versus Anomaly Detection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Signature-based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Anomaly-based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Matches traffic against patterns of known attacks, much like antivirus definitions.</a:t>
            </a:r>
          </a:p>
          <a:p>
            <a:pPr>
              <a:spcAft>
                <a:spcPts val="1000"/>
              </a:spcAft>
            </a:pPr>
            <a:r>
              <a:rPr sz="1600" b="0">
                <a:solidFill>
                  <a:srgbClr val="161B26"/>
                </a:solidFill>
                <a:latin typeface="Arial"/>
              </a:rPr>
              <a:t>•  It produces few false positives for well-understood attacks.</a:t>
            </a:r>
          </a:p>
          <a:p>
            <a:pPr>
              <a:spcAft>
                <a:spcPts val="1000"/>
              </a:spcAft>
            </a:pPr>
            <a:r>
              <a:rPr sz="1600" b="0">
                <a:solidFill>
                  <a:srgbClr val="161B26"/>
                </a:solidFill>
                <a:latin typeface="Arial"/>
              </a:rPr>
              <a:t>•  It cannot detect a zero-day attack that has no signature yet.</a:t>
            </a:r>
          </a:p>
          <a:p>
            <a:pPr>
              <a:spcAft>
                <a:spcPts val="1000"/>
              </a:spcAft>
            </a:pPr>
            <a:r>
              <a:rPr sz="1600" b="0">
                <a:solidFill>
                  <a:srgbClr val="161B26"/>
                </a:solidFill>
                <a:latin typeface="Arial"/>
              </a:rPr>
              <a:t>•  Signatures must be updated constantly to remain effective.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Learns a baseline of normal traffic and alerts on deviations from it.</a:t>
            </a:r>
          </a:p>
          <a:p>
            <a:pPr>
              <a:spcAft>
                <a:spcPts val="1000"/>
              </a:spcAft>
            </a:pPr>
            <a:r>
              <a:rPr sz="1600" b="0">
                <a:solidFill>
                  <a:srgbClr val="161B26"/>
                </a:solidFill>
                <a:latin typeface="Arial"/>
              </a:rPr>
              <a:t>•  It can catch novel and zero-day attacks that have no known signature.</a:t>
            </a:r>
          </a:p>
          <a:p>
            <a:pPr>
              <a:spcAft>
                <a:spcPts val="1000"/>
              </a:spcAft>
            </a:pPr>
            <a:r>
              <a:rPr sz="1600" b="0">
                <a:solidFill>
                  <a:srgbClr val="161B26"/>
                </a:solidFill>
                <a:latin typeface="Arial"/>
              </a:rPr>
              <a:t>•  It raises more false positives, especially while the baseline is immature.</a:t>
            </a:r>
          </a:p>
          <a:p>
            <a:pPr>
              <a:spcAft>
                <a:spcPts val="1000"/>
              </a:spcAft>
            </a:pPr>
            <a:r>
              <a:rPr sz="1600" b="0">
                <a:solidFill>
                  <a:srgbClr val="161B26"/>
                </a:solidFill>
                <a:latin typeface="Arial"/>
              </a:rPr>
              <a:t>•  A baseline recorded during an attack teaches the system that bad is normal.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PORT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802.1X Port-Based Access Control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 device connects and the switch port starts unauthorised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switch, as authenticator, asks for an EAP identity</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supplicant sends its credentials over EAPoL</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switch relays them to a RADIUS server</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RADIUS accepts or rejects and the port opens or stays shut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Optionally a VLAN is assigned based on the user's role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PORT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Port Security and EAP Methods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Switch features that limit which devices may use a port, such as MAC limiting, sticky MACs and disabling unused 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802.1X</a:t>
            </a:r>
          </a:p>
          <a:p>
            <a:pPr algn="l">
              <a:spcAft>
                <a:spcPts val="300"/>
              </a:spcAft>
            </a:pPr>
            <a:r>
              <a:rPr sz="1200" b="0">
                <a:solidFill>
                  <a:srgbClr val="5B6372"/>
                </a:solidFill>
                <a:latin typeface="Arial"/>
              </a:rPr>
              <a:t>Port-based network access control. Only authentication traffic crosses the port until the device proves who it 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a:t>
            </a:r>
          </a:p>
          <a:p>
            <a:pPr algn="l">
              <a:spcAft>
                <a:spcPts val="300"/>
              </a:spcAft>
            </a:pPr>
            <a:r>
              <a:rPr sz="1200" b="0">
                <a:solidFill>
                  <a:srgbClr val="5B6372"/>
                </a:solidFill>
                <a:latin typeface="Arial"/>
              </a:rPr>
              <a:t>The Extensible Authentication Protocol is a framework that carries many authentication methods between client and server.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EAP-TLS</a:t>
            </a:r>
          </a:p>
          <a:p>
            <a:pPr algn="l">
              <a:spcAft>
                <a:spcPts val="300"/>
              </a:spcAft>
            </a:pPr>
            <a:r>
              <a:rPr sz="1200" b="0">
                <a:solidFill>
                  <a:srgbClr val="5B6372"/>
                </a:solidFill>
                <a:latin typeface="Arial"/>
              </a:rPr>
              <a:t>Client and server both present certificates. It is the strongest common method but needs a PKI for client certificates.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PEAP and EAP-TTLS</a:t>
            </a:r>
          </a:p>
          <a:p>
            <a:pPr algn="l">
              <a:spcAft>
                <a:spcPts val="300"/>
              </a:spcAft>
            </a:pPr>
            <a:r>
              <a:rPr sz="1200" b="0">
                <a:solidFill>
                  <a:srgbClr val="5B6372"/>
                </a:solidFill>
                <a:latin typeface="Arial"/>
              </a:rPr>
              <a:t>The server certificate builds a TLS tunnel and the user then signs in inside it with a password. No client certificate.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EAP-FAST</a:t>
            </a:r>
          </a:p>
          <a:p>
            <a:pPr algn="l">
              <a:spcAft>
                <a:spcPts val="300"/>
              </a:spcAft>
            </a:pPr>
            <a:r>
              <a:rPr sz="1200" b="0">
                <a:solidFill>
                  <a:srgbClr val="5B6372"/>
                </a:solidFill>
                <a:latin typeface="Arial"/>
              </a:rPr>
              <a:t>A Cisco-developed method that builds the tunnel with a protected access credential instead of certificates.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FIREWALL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Firewall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Packet filter</a:t>
            </a:r>
          </a:p>
          <a:p>
            <a:pPr algn="l">
              <a:spcAft>
                <a:spcPts val="300"/>
              </a:spcAft>
            </a:pPr>
            <a:r>
              <a:rPr sz="1100" b="0">
                <a:solidFill>
                  <a:srgbClr val="5B6372"/>
                </a:solidFill>
                <a:latin typeface="Arial"/>
              </a:rPr>
              <a:t>Stateless filtering on source and destination IP, protocol and port. Each packet is judged alone with no memory.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Stateful (layer 4)</a:t>
            </a:r>
          </a:p>
          <a:p>
            <a:pPr algn="l">
              <a:spcAft>
                <a:spcPts val="300"/>
              </a:spcAft>
            </a:pPr>
            <a:r>
              <a:rPr sz="1100" b="0">
                <a:solidFill>
                  <a:srgbClr val="5B6372"/>
                </a:solidFill>
                <a:latin typeface="Arial"/>
              </a:rPr>
              <a:t>Tracks connections in a state table, so replies to allowed sessions pass automatically. Decides on IPs and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Layer 7 firewall</a:t>
            </a:r>
          </a:p>
          <a:p>
            <a:pPr algn="l">
              <a:spcAft>
                <a:spcPts val="300"/>
              </a:spcAft>
            </a:pPr>
            <a:r>
              <a:rPr sz="1100" b="0">
                <a:solidFill>
                  <a:srgbClr val="5B6372"/>
                </a:solidFill>
                <a:latin typeface="Arial"/>
              </a:rPr>
              <a:t>Understands the application protocol, so it can allow HTTP yet block a method, URL, file type or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NGFW</a:t>
            </a:r>
          </a:p>
          <a:p>
            <a:pPr algn="l">
              <a:spcAft>
                <a:spcPts val="300"/>
              </a:spcAft>
            </a:pPr>
            <a:r>
              <a:rPr sz="1100" b="0">
                <a:solidFill>
                  <a:srgbClr val="5B6372"/>
                </a:solidFill>
                <a:latin typeface="Arial"/>
              </a:rPr>
              <a:t>A next-generation firewall adds application awareness, user identity, TLS inspection and built-in IPS to stateful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UTM</a:t>
            </a:r>
          </a:p>
          <a:p>
            <a:pPr algn="l">
              <a:spcAft>
                <a:spcPts val="300"/>
              </a:spcAft>
            </a:pPr>
            <a:r>
              <a:rPr sz="1100" b="0">
                <a:solidFill>
                  <a:srgbClr val="5B6372"/>
                </a:solidFill>
                <a:latin typeface="Arial"/>
              </a:rPr>
              <a:t>Unified threat management bundles firewall, anti-malware, URL filtering, IPS, spam filtering and VPN in one appliance.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WAF</a:t>
            </a:r>
          </a:p>
          <a:p>
            <a:pPr algn="l">
              <a:spcAft>
                <a:spcPts val="300"/>
              </a:spcAft>
            </a:pPr>
            <a:r>
              <a:rPr sz="1100" b="0">
                <a:solidFill>
                  <a:srgbClr val="5B6372"/>
                </a:solidFill>
                <a:latin typeface="Arial"/>
              </a:rPr>
              <a:t>A web application firewall inspects HTTP requests to block SQL injection, XSS and other attacks on web applications.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LAYER 4 VS LAYER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Why Layer 7 Filtering Is Needed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Layer 4 firewall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Layer 7 firewall or WAF</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decides using IP addresses, protocol and port numbers at layers 3 and 4.</a:t>
            </a:r>
          </a:p>
          <a:p>
            <a:pPr>
              <a:spcAft>
                <a:spcPts val="1000"/>
              </a:spcAft>
            </a:pPr>
            <a:r>
              <a:rPr sz="1600" b="0">
                <a:solidFill>
                  <a:srgbClr val="161B26"/>
                </a:solidFill>
                <a:latin typeface="Arial"/>
              </a:rPr>
              <a:t>•  Port 443 is either open or closed, so every HTTPS request looks identical to it.</a:t>
            </a:r>
          </a:p>
          <a:p>
            <a:pPr>
              <a:spcAft>
                <a:spcPts val="1000"/>
              </a:spcAft>
            </a:pPr>
            <a:r>
              <a:rPr sz="1600" b="0">
                <a:solidFill>
                  <a:srgbClr val="161B26"/>
                </a:solidFill>
                <a:latin typeface="Arial"/>
              </a:rPr>
              <a:t>•  It cannot read a query string, a POST body, a cookie or a JSON payload.</a:t>
            </a:r>
          </a:p>
          <a:p>
            <a:pPr>
              <a:spcAft>
                <a:spcPts val="1000"/>
              </a:spcAft>
            </a:pPr>
            <a:r>
              <a:rPr sz="1600" b="0">
                <a:solidFill>
                  <a:srgbClr val="161B26"/>
                </a:solidFill>
                <a:latin typeface="Arial"/>
              </a:rPr>
              <a:t>•  It cannot tell a normal login from an SQL injection sent to the same URL.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parses the full HTTP request after TLS termination, including headers and body.</a:t>
            </a:r>
          </a:p>
          <a:p>
            <a:pPr>
              <a:spcAft>
                <a:spcPts val="1000"/>
              </a:spcAft>
            </a:pPr>
            <a:r>
              <a:rPr sz="1600" b="0">
                <a:solidFill>
                  <a:srgbClr val="161B26"/>
                </a:solidFill>
                <a:latin typeface="Arial"/>
              </a:rPr>
              <a:t>•  It matches attack patterns such as UNION SELECT and path traversal sequences.</a:t>
            </a:r>
          </a:p>
          <a:p>
            <a:pPr>
              <a:spcAft>
                <a:spcPts val="1000"/>
              </a:spcAft>
            </a:pPr>
            <a:r>
              <a:rPr sz="1600" b="0">
                <a:solidFill>
                  <a:srgbClr val="161B26"/>
                </a:solidFill>
                <a:latin typeface="Arial"/>
              </a:rPr>
              <a:t>•  It enforces per-parameter limits, upload size caps and allowed HTTP methods.</a:t>
            </a:r>
          </a:p>
          <a:p>
            <a:pPr>
              <a:spcAft>
                <a:spcPts val="1000"/>
              </a:spcAft>
            </a:pPr>
            <a:r>
              <a:rPr sz="1600" b="0">
                <a:solidFill>
                  <a:srgbClr val="161B26"/>
                </a:solidFill>
                <a:latin typeface="Arial"/>
              </a:rPr>
              <a:t>•  It protects applications you cannot patch, but never replaces fixing the code.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RULE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Connection State and Rule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NEW</a:t>
            </a:r>
          </a:p>
          <a:p>
            <a:pPr algn="l">
              <a:spcAft>
                <a:spcPts val="300"/>
              </a:spcAft>
            </a:pPr>
            <a:r>
              <a:rPr sz="1200" b="0">
                <a:solidFill>
                  <a:srgbClr val="5B6372"/>
                </a:solidFill>
                <a:latin typeface="Arial"/>
              </a:rPr>
              <a:t>The first packet of a connection, such as a TCP SYN. This is the only traffic your allow rules need to name.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ESTABLISHED</a:t>
            </a:r>
          </a:p>
          <a:p>
            <a:pPr algn="l">
              <a:spcAft>
                <a:spcPts val="300"/>
              </a:spcAft>
            </a:pPr>
            <a:r>
              <a:rPr sz="1200" b="0">
                <a:solidFill>
                  <a:srgbClr val="5B6372"/>
                </a:solidFill>
                <a:latin typeface="Arial"/>
              </a:rPr>
              <a:t>Packets belonging to a connection already seen in both directions. Accepting these avoids writing reverse rules.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RELATED</a:t>
            </a:r>
          </a:p>
          <a:p>
            <a:pPr algn="l">
              <a:spcAft>
                <a:spcPts val="300"/>
              </a:spcAft>
            </a:pPr>
            <a:r>
              <a:rPr sz="1200" b="0">
                <a:solidFill>
                  <a:srgbClr val="5B6372"/>
                </a:solidFill>
                <a:latin typeface="Arial"/>
              </a:rPr>
              <a:t>A separate connection spawned by an allowed one, such as an FTP data channel or an ICMP error message.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deny</a:t>
            </a:r>
          </a:p>
          <a:p>
            <a:pPr algn="l">
              <a:spcAft>
                <a:spcPts val="300"/>
              </a:spcAft>
            </a:pPr>
            <a:r>
              <a:rPr sz="1200" b="0">
                <a:solidFill>
                  <a:srgbClr val="5B6372"/>
                </a:solidFill>
                <a:latin typeface="Arial"/>
              </a:rPr>
              <a:t>Set the policy to drop, then allow-list only required services. Anything not permitted is denied.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 order</a:t>
            </a:r>
          </a:p>
          <a:p>
            <a:pPr algn="l">
              <a:spcAft>
                <a:spcPts val="300"/>
              </a:spcAft>
            </a:pPr>
            <a:r>
              <a:rPr sz="1200" b="0">
                <a:solidFill>
                  <a:srgbClr val="5B6372"/>
                </a:solidFill>
                <a:latin typeface="Arial"/>
              </a:rPr>
              <a:t>Rules are evaluated top down and the first match wins, so a broad allow above a specific deny defeats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Implicit deny</a:t>
            </a:r>
          </a:p>
          <a:p>
            <a:pPr algn="l">
              <a:spcAft>
                <a:spcPts val="300"/>
              </a:spcAft>
            </a:pPr>
            <a:r>
              <a:rPr sz="1200" b="0">
                <a:solidFill>
                  <a:srgbClr val="5B6372"/>
                </a:solidFill>
                <a:latin typeface="Arial"/>
              </a:rPr>
              <a:t>The unwritten final rule that drops everything unmatched, which is why an empty allow-list is secure.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SECURE ACCESS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Secure Communication and Access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a:t>
            </a:r>
          </a:p>
          <a:p>
            <a:pPr algn="l">
              <a:spcAft>
                <a:spcPts val="300"/>
              </a:spcAft>
            </a:pPr>
            <a:r>
              <a:rPr sz="1100" b="0">
                <a:solidFill>
                  <a:srgbClr val="5B6372"/>
                </a:solidFill>
                <a:latin typeface="Arial"/>
              </a:rPr>
              <a:t>An encrypted tunnel across an untrusted network that protects the confidentiality and integrity of data in transit.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Remote access</a:t>
            </a:r>
          </a:p>
          <a:p>
            <a:pPr algn="l">
              <a:spcAft>
                <a:spcPts val="300"/>
              </a:spcAft>
            </a:pPr>
            <a:r>
              <a:rPr sz="1100" b="0">
                <a:solidFill>
                  <a:srgbClr val="5B6372"/>
                </a:solidFill>
                <a:latin typeface="Arial"/>
              </a:rPr>
              <a:t>Lets individual users reach internal resources from outside, through a VPN client, jump server or zero trust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TLS tunnelling</a:t>
            </a:r>
          </a:p>
          <a:p>
            <a:pPr algn="l">
              <a:spcAft>
                <a:spcPts val="300"/>
              </a:spcAft>
            </a:pPr>
            <a:r>
              <a:rPr sz="1100" b="0">
                <a:solidFill>
                  <a:srgbClr val="5B6372"/>
                </a:solidFill>
                <a:latin typeface="Arial"/>
              </a:rPr>
              <a:t>A TLS VPN runs over TCP 443, so it passes most firewalls and can be clientless through a web browser.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IPSec</a:t>
            </a:r>
          </a:p>
          <a:p>
            <a:pPr algn="l">
              <a:spcAft>
                <a:spcPts val="300"/>
              </a:spcAft>
            </a:pPr>
            <a:r>
              <a:rPr sz="1100" b="0">
                <a:solidFill>
                  <a:srgbClr val="5B6372"/>
                </a:solidFill>
                <a:latin typeface="Arial"/>
              </a:rPr>
              <a:t>Works at layer 3. AH gives integrity and authentication only, ESP adds encryption and IKE negotiates the keys.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SD-WAN</a:t>
            </a:r>
          </a:p>
          <a:p>
            <a:pPr algn="l">
              <a:spcAft>
                <a:spcPts val="300"/>
              </a:spcAft>
            </a:pPr>
            <a:r>
              <a:rPr sz="1100" b="0">
                <a:solidFill>
                  <a:srgbClr val="5B6372"/>
                </a:solidFill>
                <a:latin typeface="Arial"/>
              </a:rPr>
              <a:t>Software-defined WAN steers branch traffic over broadband, LTE and MPLS links by policy. Every path must be encrypted.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SASE</a:t>
            </a:r>
          </a:p>
          <a:p>
            <a:pPr algn="l">
              <a:spcAft>
                <a:spcPts val="300"/>
              </a:spcAft>
            </a:pPr>
            <a:r>
              <a:rPr sz="1100" b="0">
                <a:solidFill>
                  <a:srgbClr val="5B6372"/>
                </a:solidFill>
                <a:latin typeface="Arial"/>
              </a:rPr>
              <a:t>Secure access service edge delivers networking and security, such as SWG, CASB, ZTNA and firewall, as a cloud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VPN CHOICES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VPN Choices You Must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Site-to-site</a:t>
            </a:r>
          </a:p>
          <a:p>
            <a:pPr algn="l">
              <a:spcAft>
                <a:spcPts val="300"/>
              </a:spcAft>
            </a:pPr>
            <a:r>
              <a:rPr sz="1100" b="0">
                <a:solidFill>
                  <a:srgbClr val="5B6372"/>
                </a:solidFill>
                <a:latin typeface="Arial"/>
              </a:rPr>
              <a:t>Two gateways join two networks permanently. Client devices need no VPN software at all.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Remote access</a:t>
            </a:r>
          </a:p>
          <a:p>
            <a:pPr algn="l">
              <a:spcAft>
                <a:spcPts val="300"/>
              </a:spcAft>
            </a:pPr>
            <a:r>
              <a:rPr sz="1100" b="0">
                <a:solidFill>
                  <a:srgbClr val="5B6372"/>
                </a:solidFill>
                <a:latin typeface="Arial"/>
              </a:rPr>
              <a:t>An individual user device connects into the corporate network, typically for teleworking.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Tunnel mode</a:t>
            </a:r>
          </a:p>
          <a:p>
            <a:pPr algn="l">
              <a:spcAft>
                <a:spcPts val="300"/>
              </a:spcAft>
            </a:pPr>
            <a:r>
              <a:rPr sz="1100" b="0">
                <a:solidFill>
                  <a:srgbClr val="5B6372"/>
                </a:solidFill>
                <a:latin typeface="Arial"/>
              </a:rPr>
              <a:t>The whole original IP packet is encrypted and wrapped in a new header, which is what gateways use.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Transport mode</a:t>
            </a:r>
          </a:p>
          <a:p>
            <a:pPr algn="l">
              <a:spcAft>
                <a:spcPts val="300"/>
              </a:spcAft>
            </a:pPr>
            <a:r>
              <a:rPr sz="1100" b="0">
                <a:solidFill>
                  <a:srgbClr val="5B6372"/>
                </a:solidFill>
                <a:latin typeface="Arial"/>
              </a:rPr>
              <a:t>Only the payload is encrypted and the original IP header is kept, used for host-to-host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Split tunnel</a:t>
            </a:r>
          </a:p>
          <a:p>
            <a:pPr algn="l">
              <a:spcAft>
                <a:spcPts val="300"/>
              </a:spcAft>
            </a:pPr>
            <a:r>
              <a:rPr sz="1100" b="0">
                <a:solidFill>
                  <a:srgbClr val="5B6372"/>
                </a:solidFill>
                <a:latin typeface="Arial"/>
              </a:rPr>
              <a:t>Only corporate subnets go through the VPN. It saves bandwidth but bypasses inspection of internet traffic.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 tunnel</a:t>
            </a:r>
          </a:p>
          <a:p>
            <a:pPr algn="l">
              <a:spcAft>
                <a:spcPts val="300"/>
              </a:spcAft>
            </a:pPr>
            <a:r>
              <a:rPr sz="1100" b="0">
                <a:solidFill>
                  <a:srgbClr val="5B6372"/>
                </a:solidFill>
                <a:latin typeface="Arial"/>
              </a:rPr>
              <a:t>All traffic is forced through the VPN so policy and logging apply everywhere, at the cost of throughput.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TUNNELLING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IPSec and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IPSec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WireGuard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It uses IKEv2 on UDP 500 and 4500 for key exchange, then ESP for encryption.</a:t>
            </a:r>
          </a:p>
          <a:p>
            <a:pPr>
              <a:spcAft>
                <a:spcPts val="1000"/>
              </a:spcAft>
            </a:pPr>
            <a:r>
              <a:rPr sz="1600" b="0">
                <a:solidFill>
                  <a:srgbClr val="161B26"/>
                </a:solidFill>
                <a:latin typeface="Arial"/>
              </a:rPr>
              <a:t>•  It negotiates algorithms, so misconfiguration can silently select weak ciphers.</a:t>
            </a:r>
          </a:p>
          <a:p>
            <a:pPr>
              <a:spcAft>
                <a:spcPts val="1000"/>
              </a:spcAft>
            </a:pPr>
            <a:r>
              <a:rPr sz="1600" b="0">
                <a:solidFill>
                  <a:srgbClr val="161B26"/>
                </a:solidFill>
                <a:latin typeface="Arial"/>
              </a:rPr>
              <a:t>•  Implementations are very large, which gives a correspondingly large attack surface.</a:t>
            </a:r>
          </a:p>
          <a:p>
            <a:pPr>
              <a:spcAft>
                <a:spcPts val="1000"/>
              </a:spcAft>
            </a:pPr>
            <a:r>
              <a:rPr sz="1600" b="0">
                <a:solidFill>
                  <a:srgbClr val="161B26"/>
                </a:solidFill>
                <a:latin typeface="Arial"/>
              </a:rPr>
              <a:t>•  It is universally supported by enterprise firewalls and is required exam knowledge.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It runs over a single UDP port you choose, commonly 51820, with no negotiation.</a:t>
            </a:r>
          </a:p>
          <a:p>
            <a:pPr>
              <a:spcAft>
                <a:spcPts val="1000"/>
              </a:spcAft>
            </a:pPr>
            <a:r>
              <a:rPr sz="1600" b="0">
                <a:solidFill>
                  <a:srgbClr val="161B26"/>
                </a:solidFill>
                <a:latin typeface="Arial"/>
              </a:rPr>
              <a:t>•  It fixes modern cryptography: Curve25519, ChaCha20-Poly1305, BLAKE2s and HKDF.</a:t>
            </a:r>
          </a:p>
          <a:p>
            <a:pPr>
              <a:spcAft>
                <a:spcPts val="1000"/>
              </a:spcAft>
            </a:pPr>
            <a:r>
              <a:rPr sz="1600" b="0">
                <a:solidFill>
                  <a:srgbClr val="161B26"/>
                </a:solidFill>
                <a:latin typeface="Arial"/>
              </a:rPr>
              <a:t>•  Its kernel implementation is small enough for a single reviewer to audit properly.</a:t>
            </a:r>
          </a:p>
          <a:p>
            <a:pPr>
              <a:spcAft>
                <a:spcPts val="1000"/>
              </a:spcAft>
            </a:pPr>
            <a:r>
              <a:rPr sz="1600" b="0">
                <a:solidFill>
                  <a:srgbClr val="161B26"/>
                </a:solidFill>
                <a:latin typeface="Arial"/>
              </a:rPr>
              <a:t>•  Peers authenticate by exchanging public keys, much like SSH authorised keys.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SEGMENTATION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VLANs and Subnets, East-West and North-South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VLAN and subnet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Traffic direction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VLAN is a layer 2 broadcast domain tagged with an 802.1Q ID from 1 to 4094.</a:t>
            </a:r>
          </a:p>
          <a:p>
            <a:pPr>
              <a:spcAft>
                <a:spcPts val="1000"/>
              </a:spcAft>
            </a:pPr>
            <a:r>
              <a:rPr sz="1600" b="0">
                <a:solidFill>
                  <a:srgbClr val="161B26"/>
                </a:solidFill>
                <a:latin typeface="Arial"/>
              </a:rPr>
              <a:t>•  A subnet is a layer 3 IP range such as 10.20.0.0/24 used for routing decisions.</a:t>
            </a:r>
          </a:p>
          <a:p>
            <a:pPr>
              <a:spcAft>
                <a:spcPts val="1000"/>
              </a:spcAft>
            </a:pPr>
            <a:r>
              <a:rPr sz="1600" b="0">
                <a:solidFill>
                  <a:srgbClr val="161B26"/>
                </a:solidFill>
                <a:latin typeface="Arial"/>
              </a:rPr>
              <a:t>•  They are usually mapped one to one, but that mapping is convention, not enforcement.</a:t>
            </a:r>
          </a:p>
          <a:p>
            <a:pPr>
              <a:spcAft>
                <a:spcPts val="1000"/>
              </a:spcAft>
            </a:pPr>
            <a:r>
              <a:rPr sz="1600" b="0">
                <a:solidFill>
                  <a:srgbClr val="161B26"/>
                </a:solidFill>
                <a:latin typeface="Arial"/>
              </a:rPr>
              <a:t>•  A VLAN alone gives no security. The router or firewall between VLANs applies policy.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North-south traffic crosses the perimeter between inside and outside networks.</a:t>
            </a:r>
          </a:p>
          <a:p>
            <a:pPr>
              <a:spcAft>
                <a:spcPts val="1000"/>
              </a:spcAft>
            </a:pPr>
            <a:r>
              <a:rPr sz="1600" b="0">
                <a:solidFill>
                  <a:srgbClr val="161B26"/>
                </a:solidFill>
                <a:latin typeface="Arial"/>
              </a:rPr>
              <a:t>•  East-west traffic moves between internal workloads, where most breach spread happens.</a:t>
            </a:r>
          </a:p>
          <a:p>
            <a:pPr>
              <a:spcAft>
                <a:spcPts val="1000"/>
              </a:spcAft>
            </a:pPr>
            <a:r>
              <a:rPr sz="1600" b="0">
                <a:solidFill>
                  <a:srgbClr val="161B26"/>
                </a:solidFill>
                <a:latin typeface="Arial"/>
              </a:rPr>
              <a:t>•  Classic perimeter firewalls inspect north-south only and never see east-west flows.</a:t>
            </a:r>
          </a:p>
          <a:p>
            <a:pPr>
              <a:spcAft>
                <a:spcPts val="1000"/>
              </a:spcAft>
            </a:pPr>
            <a:r>
              <a:rPr sz="1600" b="0">
                <a:solidFill>
                  <a:srgbClr val="161B26"/>
                </a:solidFill>
                <a:latin typeface="Arial"/>
              </a:rPr>
              <a:t>•  Microsegmentation puts an enforcement point directly on east-west traffic.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CONTROL SELECTION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Selecting Effective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assets and the zone each one belongs to</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Map the threats and attack surface of every zone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Choose controls by placement, failure mode and layer</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Layer controls rather than trusting one strong device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Test that each control blocks and fails as designed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Monitor, review and tune as the network changes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Securing Enterprise Infrastructure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Fail-open favours availability and fail-closed favours security. A perimeter firewall should normally fail closed.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IPS = inline and active, so it can block. IDS = passive on a tap or SPAN port, so it can only alert.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802.1X roles: supplicant is the client, authenticator is the switch or AP, authentication server is RADIUS.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Only a layer 7 device such as a WAF or NGFW can see SQL injection inside HTTP; a layer 4 firewall sees only IPs and ports.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SASE is cloud-delivered security plus networking (SWG, CASB, ZTNA); SD-WAN is the policy-driven branch WAN underneath.</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DMZ, internal and management zones as network namespaces, proves a flat network allows lateral movement, then enforces a screened-subnet, jump-server zone policy with iptables.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Three isolated layer 3 zones behind a host router with a logged default-deny chain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ip netns, veth, iptables, netcat, curl,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iproute2 iptables iputils-ping netcat-openbsd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three zone namespaces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z in dmz internal mgmt; do ip netns add $z; done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Wire each zone to the host router with veth pairs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link add veth-$z type veth peer name veth-$z-r</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services and prove the flat network allows lateral movement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dmz nc -zv -w2 10.0.20.2 5432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Apply a default-deny zone policy</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-A ZONES -s 10.0.20.0/24 -d 10.0.10.0/24 -p tcp --dport 80 -j ACCEPT</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Re-test the screened-subnet policy</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 netns exec internal curl -s -o /dev/null -w '%{http_code}' http://10.0.10.2/</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Read the counters and dropped-packet logs</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iptables -L ZONES -n -v --line-numbers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Segmentation and Security Zones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Internal-to-DMZ web returns HTTP 200, DMZ-to-internal port 5432 times out, DMZ-to-management fails, the management zone reaches everything, and the default-deny counter is above zero.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UFW allow-list, inspects the netfilter rules it generates, writes a stateful nftables ruleset for a namespaced server, and shows that a layer 4 firewall passes an SQLi payload.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UFW host policy and an nftables-protected server with per-rule counters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ufw, nftables, iptables, netcat, curl, ip netns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ufw nftables netcat-openbsd curl iproute2 iputils-ping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UFW default-deny allow-list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ufw default deny incoming &amp;&amp; ufw allow 22/tcp &amp;&amp; ufw --force enable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netfilter rules UFW generated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-S ufw-user-input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UFW and build a server namespace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ufw --force disable &amp;&amp; ip netns add srv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stateful nftables ruleset for the server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nft -c -f /root/lab20/srv.nft &amp;&amp; echo "Syntax OK"</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Load the ruleset and test allowed versus blocked ports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srv nft -f /root/lab20/srv.nft &amp;&amp; nc -z -w2 10.20.0.2 23</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per-rule counters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srv nft list chain inet filter input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Compare layer 4 rules with layer 7 filtering</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-o /dev/null -w '%{http_code}' "http://10.20.0.2/?id=1%27%20OR%20%271%27=%271"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Stateful Firewall with UFW and nftables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HTTP 80 returns 200, SSH 22 is allowed only from the admin host, Telnet 23 is blocked, the default-deny counter is above zero, and the SQLi request passes the layer 4 rules.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deploys Apache with ModSecurity and the OWASP CRS, baselines it in DetectionOnly mode, enforces blocking of SQLi, XSS, traversal and command injection, and writes a narrow rule exclusion.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Apache site protected by the OWASP CRS with a scoped false-positive exclusion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apache2, libapache2-mod-security2, modsecurity-crs,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Apache, ModSecurity and the OWASP CRS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apache2 libapache2-mod-security2 modsecurity-crs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ModSecurity configuration in DetectionOnly mode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/etc/modsecurity/modsecurity.conf-recommended /etc/modsecurity/modsecurity.conf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Send an attack in detection-only mode and read the warning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'ModSecurity: Warning' /var/log/apache2/error.log | grep -o 'id "[0-9]*"' | sort | uniq -c</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Switch the rule engine to blocking mode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's/^SecRuleEngine DetectionOnly/SecRuleEngine On/' /etc/modsecurity/modsecurity.conf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Fire SQLi, XSS, traversal and command-injection payloads</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curl -s -o /dev/null -w "%{http_code}\n" -G --data-urlencode "$p" http://127.0.0.1/</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Read the matched rule IDs in the logs</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grep 'ModSecurity' /var/log/apache2/error.log | grep -o 'id "[0-9]*"' | sort | uniq -c | sort -rn</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Tune a false positive with a narrow exclusion</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SecRule REQUEST_URI "@beginsWith /admin/edit" "id:1000,...,ctl:ruleRemoveTargetByTag=attack-xss;ARGS:body"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Web Application Firewall with ModSecurity and the OWASP CRS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DetectionOnly returns 200 with logged warnings; in blocking mode all four payloads return 403, a benign search returns 200, and the editor field passes only on /admin/edit.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joins two simulated sites with a WireGuard tunnel, proves with tcpdump that only ciphertext crosses the underlay, and shows AllowedIPs crypto-key routing refusing an unlisted address.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two-site WireGuard tunnel, a ciphertext-only capture and a crypto-key routing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wireguard-tools, ip netns, tcpdump, netcat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WireGuard and capture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wireguard-tools iproute2 iputils-ping tcpdump netcat-openbsd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key pair for each site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wg genkey | tee siteA.key | wg pubkey &gt; siteA.pub</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two site namespaces with WireGuard links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link add wgA type wireguard &amp;&amp; ip link set wgA netns siteA</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Configure keys, listen ports and allowed 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wg set wgA private-key siteA.key listen-port 51820 peer ... allowed-ips 10.99.0.2/32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Point each peer at the other's endpoint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wg set wgA peer "$(cat siteB.pub)" endpoint 127.0.0.1:51821</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tunnel with ping and wg show</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ping -c3 10.99.0.2 &amp;&amp; ip netns exec siteA wg show</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the underlay to prove the traffic is encrypted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timeout 12 tcpdump -i lo -nn -A -c 20 'udp port 51820 or udp port 51821' &gt; capture.txt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Test crypto-key routing with AllowedIPs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netns exec siteA ping -c2 -W1 10.99.0.3</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Ping across the tunnel succeeds, wg show reports a recent handshake, the secret message arrives at Site B but never appears in the capture, and traffic to the unlisted 10.99.0.3 is refused.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Protecting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types · Classifications · States · Sovereignty · Encryption · Masking · Tokens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TYPES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Regulated</a:t>
            </a:r>
          </a:p>
          <a:p>
            <a:pPr algn="l">
              <a:spcAft>
                <a:spcPts val="300"/>
              </a:spcAft>
            </a:pPr>
            <a:r>
              <a:rPr sz="1200" b="0">
                <a:solidFill>
                  <a:srgbClr val="5B6372"/>
                </a:solidFill>
                <a:latin typeface="Arial"/>
              </a:rPr>
              <a:t>Data governed by law or industry rules, such as personal data under PDPA or GDPR, health records and PCI DSS card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Trade secret</a:t>
            </a:r>
          </a:p>
          <a:p>
            <a:pPr algn="l">
              <a:spcAft>
                <a:spcPts val="300"/>
              </a:spcAft>
            </a:pPr>
            <a:r>
              <a:rPr sz="1200" b="0">
                <a:solidFill>
                  <a:srgbClr val="5B6372"/>
                </a:solidFill>
                <a:latin typeface="Arial"/>
              </a:rPr>
              <a:t>Confidential know-how that gives a competitive edge, such as a formula or algorithm, protected by keeping it secret.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Intellectual property</a:t>
            </a:r>
          </a:p>
          <a:p>
            <a:pPr algn="l">
              <a:spcAft>
                <a:spcPts val="300"/>
              </a:spcAft>
            </a:pPr>
            <a:r>
              <a:rPr sz="1200" b="0">
                <a:solidFill>
                  <a:srgbClr val="5B6372"/>
                </a:solidFill>
                <a:latin typeface="Arial"/>
              </a:rPr>
              <a:t>Creations protected by law, such as patents, copyrights and trademarks. Theft erodes competitive advantage.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information</a:t>
            </a:r>
          </a:p>
          <a:p>
            <a:pPr algn="l">
              <a:spcAft>
                <a:spcPts val="300"/>
              </a:spcAft>
            </a:pPr>
            <a:r>
              <a:rPr sz="1200" b="0">
                <a:solidFill>
                  <a:srgbClr val="5B6372"/>
                </a:solidFill>
                <a:latin typeface="Arial"/>
              </a:rPr>
              <a:t>Contracts, case files, litigation material and records under legal hold, often protected by legal privilege.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 information</a:t>
            </a:r>
          </a:p>
          <a:p>
            <a:pPr algn="l">
              <a:spcAft>
                <a:spcPts val="300"/>
              </a:spcAft>
            </a:pPr>
            <a:r>
              <a:rPr sz="1200" b="0">
                <a:solidFill>
                  <a:srgbClr val="5B6372"/>
                </a:solidFill>
                <a:latin typeface="Arial"/>
              </a:rPr>
              <a:t>Bank accounts, payment cards, payroll and company accounts. A prime target for fraud and heavily regulated.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 non-human readable</a:t>
            </a:r>
          </a:p>
          <a:p>
            <a:pPr algn="l">
              <a:spcAft>
                <a:spcPts val="300"/>
              </a:spcAft>
            </a:pPr>
            <a:r>
              <a:rPr sz="1200" b="0">
                <a:solidFill>
                  <a:srgbClr val="5B6372"/>
                </a:solidFill>
                <a:latin typeface="Arial"/>
              </a:rPr>
              <a:t>Documents people can read versus encoded data such as binaries or barcodes. DLP must be able to parse both.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CLASSIFICATION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Classifications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a:t>
            </a:r>
          </a:p>
          <a:p>
            <a:pPr algn="l">
              <a:spcAft>
                <a:spcPts val="300"/>
              </a:spcAft>
            </a:pPr>
            <a:r>
              <a:rPr sz="1100" b="0">
                <a:solidFill>
                  <a:srgbClr val="5B6372"/>
                </a:solidFill>
                <a:latin typeface="Arial"/>
              </a:rPr>
              <a:t>Freely releasable with no harm if disclosed, such as press releases and price lists. Integrity still matters.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Private</a:t>
            </a:r>
          </a:p>
          <a:p>
            <a:pPr algn="l">
              <a:spcAft>
                <a:spcPts val="300"/>
              </a:spcAft>
            </a:pPr>
            <a:r>
              <a:rPr sz="1100" b="0">
                <a:solidFill>
                  <a:srgbClr val="5B6372"/>
                </a:solidFill>
                <a:latin typeface="Arial"/>
              </a:rPr>
              <a:t>Personal or internal information that should not leave the organisation, such as staff records and internal memos.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Sensitive</a:t>
            </a:r>
          </a:p>
          <a:p>
            <a:pPr algn="l">
              <a:spcAft>
                <a:spcPts val="300"/>
              </a:spcAft>
            </a:pPr>
            <a:r>
              <a:rPr sz="1100" b="0">
                <a:solidFill>
                  <a:srgbClr val="5B6372"/>
                </a:solidFill>
                <a:latin typeface="Arial"/>
              </a:rPr>
              <a:t>Information whose disclosure could harm people or the organisation, such as PII and health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Confidential</a:t>
            </a:r>
          </a:p>
          <a:p>
            <a:pPr algn="l">
              <a:spcAft>
                <a:spcPts val="300"/>
              </a:spcAft>
            </a:pPr>
            <a:r>
              <a:rPr sz="1100" b="0">
                <a:solidFill>
                  <a:srgbClr val="5B6372"/>
                </a:solidFill>
                <a:latin typeface="Arial"/>
              </a:rPr>
              <a:t>Business data limited to authorised staff, such as source code, contracts and plans. Leaks cause serious damage.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Restricted</a:t>
            </a:r>
          </a:p>
          <a:p>
            <a:pPr algn="l">
              <a:spcAft>
                <a:spcPts val="300"/>
              </a:spcAft>
            </a:pPr>
            <a:r>
              <a:rPr sz="1100" b="0">
                <a:solidFill>
                  <a:srgbClr val="5B6372"/>
                </a:solidFill>
                <a:latin typeface="Arial"/>
              </a:rPr>
              <a:t>The highest commercial tier, limited to named people with a need to know, such as merger plans or card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Critical</a:t>
            </a:r>
          </a:p>
          <a:p>
            <a:pPr algn="l">
              <a:spcAft>
                <a:spcPts val="300"/>
              </a:spcAft>
            </a:pPr>
            <a:r>
              <a:rPr sz="1100" b="0">
                <a:solidFill>
                  <a:srgbClr val="5B6372"/>
                </a:solidFill>
                <a:latin typeface="Arial"/>
              </a:rPr>
              <a:t>Data whose loss of availability or integrity would stop essential operations, such as safety system settings.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STATES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States and Encryption Scope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at rest</a:t>
            </a:r>
          </a:p>
          <a:p>
            <a:pPr algn="l">
              <a:spcAft>
                <a:spcPts val="300"/>
              </a:spcAft>
            </a:pPr>
            <a:r>
              <a:rPr sz="1200" b="0">
                <a:solidFill>
                  <a:srgbClr val="5B6372"/>
                </a:solidFill>
                <a:latin typeface="Arial"/>
              </a:rPr>
              <a:t>Information stored on disk, tape or object storage. Full-disk and file-level encryption defend this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 transit</a:t>
            </a:r>
          </a:p>
          <a:p>
            <a:pPr algn="l">
              <a:spcAft>
                <a:spcPts val="300"/>
              </a:spcAft>
            </a:pPr>
            <a:r>
              <a:rPr sz="1200" b="0">
                <a:solidFill>
                  <a:srgbClr val="5B6372"/>
                </a:solidFill>
                <a:latin typeface="Arial"/>
              </a:rPr>
              <a:t>Information moving across a network, protected by TLS, IPSec or WireGuard rather than by disk encryption.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 use</a:t>
            </a:r>
          </a:p>
          <a:p>
            <a:pPr algn="l">
              <a:spcAft>
                <a:spcPts val="300"/>
              </a:spcAft>
            </a:pPr>
            <a:r>
              <a:rPr sz="1200" b="0">
                <a:solidFill>
                  <a:srgbClr val="5B6372"/>
                </a:solidFill>
                <a:latin typeface="Arial"/>
              </a:rPr>
              <a:t>Information decrypted in memory while being processed. Confidential computing and secure enclaves address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Full-disk encryption</a:t>
            </a:r>
          </a:p>
          <a:p>
            <a:pPr algn="l">
              <a:spcAft>
                <a:spcPts val="300"/>
              </a:spcAft>
            </a:pPr>
            <a:r>
              <a:rPr sz="1200" b="0">
                <a:solidFill>
                  <a:srgbClr val="5B6372"/>
                </a:solidFill>
                <a:latin typeface="Arial"/>
              </a:rPr>
              <a:t>Encrypts an entire block device, so swap and temporary files are covered. It is transparent once unlocked.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File-level encryption</a:t>
            </a:r>
          </a:p>
          <a:p>
            <a:pPr algn="l">
              <a:spcAft>
                <a:spcPts val="300"/>
              </a:spcAft>
            </a:pPr>
            <a:r>
              <a:rPr sz="1200" b="0">
                <a:solidFill>
                  <a:srgbClr val="5B6372"/>
                </a:solidFill>
                <a:latin typeface="Arial"/>
              </a:rPr>
              <a:t>Encrypts individual files or folders, allowing per-user keys, but file names and sizes can still leak.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Database encryption</a:t>
            </a:r>
          </a:p>
          <a:p>
            <a:pPr algn="l">
              <a:spcAft>
                <a:spcPts val="300"/>
              </a:spcAft>
            </a:pPr>
            <a:r>
              <a:rPr sz="1200" b="0">
                <a:solidFill>
                  <a:srgbClr val="5B6372"/>
                </a:solidFill>
                <a:latin typeface="Arial"/>
              </a:rPr>
              <a:t>Transparent data encryption protects the data files, while column encryption protects specific values.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LOCATION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Sovereignty versus Geolocation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Data sovereignty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Geolocation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Data is subject to the laws of the country where it is physically stored.</a:t>
            </a:r>
          </a:p>
          <a:p>
            <a:pPr>
              <a:spcAft>
                <a:spcPts val="1000"/>
              </a:spcAft>
            </a:pPr>
            <a:r>
              <a:rPr sz="1600" b="0">
                <a:solidFill>
                  <a:srgbClr val="161B26"/>
                </a:solidFill>
                <a:latin typeface="Arial"/>
              </a:rPr>
              <a:t>•  Storing customer data abroad may expose it to foreign legal access requests.</a:t>
            </a:r>
          </a:p>
          <a:p>
            <a:pPr>
              <a:spcAft>
                <a:spcPts val="1000"/>
              </a:spcAft>
            </a:pPr>
            <a:r>
              <a:rPr sz="1600" b="0">
                <a:solidFill>
                  <a:srgbClr val="161B26"/>
                </a:solidFill>
                <a:latin typeface="Arial"/>
              </a:rPr>
              <a:t>•  Some regulations require certain data to stay inside national borders.</a:t>
            </a:r>
          </a:p>
          <a:p>
            <a:pPr>
              <a:spcAft>
                <a:spcPts val="1000"/>
              </a:spcAft>
            </a:pPr>
            <a:r>
              <a:rPr sz="1600" b="0">
                <a:solidFill>
                  <a:srgbClr val="161B26"/>
                </a:solidFill>
                <a:latin typeface="Arial"/>
              </a:rPr>
              <a:t>•  Choose cloud regions deliberately and record where every copy lives.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Works out the physical location of a user or device from GPS, IP or Wi-Fi data.</a:t>
            </a:r>
          </a:p>
          <a:p>
            <a:pPr>
              <a:spcAft>
                <a:spcPts val="1000"/>
              </a:spcAft>
            </a:pPr>
            <a:r>
              <a:rPr sz="1600" b="0">
                <a:solidFill>
                  <a:srgbClr val="161B26"/>
                </a:solidFill>
                <a:latin typeface="Arial"/>
              </a:rPr>
              <a:t>•  It enables geographic restrictions, such as blocking logins from unusual countries.</a:t>
            </a:r>
          </a:p>
          <a:p>
            <a:pPr>
              <a:spcAft>
                <a:spcPts val="1000"/>
              </a:spcAft>
            </a:pPr>
            <a:r>
              <a:rPr sz="1600" b="0">
                <a:solidFill>
                  <a:srgbClr val="161B26"/>
                </a:solidFill>
                <a:latin typeface="Arial"/>
              </a:rPr>
              <a:t>•  It supports impossible-travel alerts when one account signs in from two continents.</a:t>
            </a:r>
          </a:p>
          <a:p>
            <a:pPr>
              <a:spcAft>
                <a:spcPts val="1000"/>
              </a:spcAft>
            </a:pPr>
            <a:r>
              <a:rPr sz="1600" b="0">
                <a:solidFill>
                  <a:srgbClr val="161B26"/>
                </a:solidFill>
                <a:latin typeface="Arial"/>
              </a:rPr>
              <a:t>•  Location data about people is itself personal data that must be protected.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Methods to Secure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Geographic restrictions</a:t>
            </a:r>
          </a:p>
          <a:p>
            <a:pPr algn="l">
              <a:spcAft>
                <a:spcPts val="300"/>
              </a:spcAft>
            </a:pPr>
            <a:r>
              <a:rPr sz="1100" b="0">
                <a:solidFill>
                  <a:srgbClr val="5B6372"/>
                </a:solidFill>
                <a:latin typeface="Arial"/>
              </a:rPr>
              <a:t>Limit where data may be stored or reached from, such as region-locked cloud buckets or geofenced logins.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Transforms data with a key so that only key holders can read it. It is reversible, so key management is the real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Hashing</a:t>
            </a:r>
          </a:p>
          <a:p>
            <a:pPr algn="l">
              <a:spcAft>
                <a:spcPts val="300"/>
              </a:spcAft>
            </a:pPr>
            <a:r>
              <a:rPr sz="1100" b="0">
                <a:solidFill>
                  <a:srgbClr val="5B6372"/>
                </a:solidFill>
                <a:latin typeface="Arial"/>
              </a:rPr>
              <a:t>A one-way digest that proves integrity or stores passwords. It cannot be reversed, so it is not encryption.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Masking</a:t>
            </a:r>
          </a:p>
          <a:p>
            <a:pPr algn="l">
              <a:spcAft>
                <a:spcPts val="300"/>
              </a:spcAft>
            </a:pPr>
            <a:r>
              <a:rPr sz="1100" b="0">
                <a:solidFill>
                  <a:srgbClr val="5B6372"/>
                </a:solidFill>
                <a:latin typeface="Arial"/>
              </a:rPr>
              <a:t>Hides part of a value for display, such as showing only the last four card digits. The original stays in the system.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Tokenisation</a:t>
            </a:r>
          </a:p>
          <a:p>
            <a:pPr algn="l">
              <a:spcAft>
                <a:spcPts val="300"/>
              </a:spcAft>
            </a:pPr>
            <a:r>
              <a:rPr sz="1100" b="0">
                <a:solidFill>
                  <a:srgbClr val="5B6372"/>
                </a:solidFill>
                <a:latin typeface="Arial"/>
              </a:rPr>
              <a:t>Replaces a value with a random token and keeps the mapping in a secure vault. The token has no mathematical link.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Obfuscation</a:t>
            </a:r>
          </a:p>
          <a:p>
            <a:pPr algn="l">
              <a:spcAft>
                <a:spcPts val="300"/>
              </a:spcAft>
            </a:pPr>
            <a:r>
              <a:rPr sz="1100" b="0">
                <a:solidFill>
                  <a:srgbClr val="5B6372"/>
                </a:solidFill>
                <a:latin typeface="Arial"/>
              </a:rPr>
              <a:t>Makes data or code hard to understand, such as encoding or code scrambling. It slows attackers but is weak protection.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Methods to Secure Data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Segmentation</a:t>
            </a:r>
          </a:p>
          <a:p>
            <a:pPr algn="l">
              <a:spcAft>
                <a:spcPts val="300"/>
              </a:spcAft>
            </a:pPr>
            <a:r>
              <a:rPr sz="1100" b="0">
                <a:solidFill>
                  <a:srgbClr val="5B6372"/>
                </a:solidFill>
                <a:latin typeface="Arial"/>
              </a:rPr>
              <a:t>Keeps sensitive data on separate networks or databases, so a breach elsewhere cannot reach it and audit scope shrinks.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Permission restrictions</a:t>
            </a:r>
          </a:p>
          <a:p>
            <a:pPr algn="l">
              <a:spcAft>
                <a:spcPts val="300"/>
              </a:spcAft>
            </a:pPr>
            <a:r>
              <a:rPr sz="1100" b="0">
                <a:solidFill>
                  <a:srgbClr val="5B6372"/>
                </a:solidFill>
                <a:latin typeface="Arial"/>
              </a:rPr>
              <a:t>Access control lists, roles and least privilege, so only authorised accounts can read or change the data.</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TOKENS VS KEYS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Tokenisation versus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Tokenisation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Encryption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original value is swapped for a random token with no mathematical link to it.</a:t>
            </a:r>
          </a:p>
          <a:p>
            <a:pPr>
              <a:spcAft>
                <a:spcPts val="1000"/>
              </a:spcAft>
            </a:pPr>
            <a:r>
              <a:rPr sz="1600" b="0">
                <a:solidFill>
                  <a:srgbClr val="161B26"/>
                </a:solidFill>
                <a:latin typeface="Arial"/>
              </a:rPr>
              <a:t>•  Only the token vault maps a token back, so stolen tokens reveal nothing.</a:t>
            </a:r>
          </a:p>
          <a:p>
            <a:pPr>
              <a:spcAft>
                <a:spcPts val="1000"/>
              </a:spcAft>
            </a:pPr>
            <a:r>
              <a:rPr sz="1600" b="0">
                <a:solidFill>
                  <a:srgbClr val="161B26"/>
                </a:solidFill>
                <a:latin typeface="Arial"/>
              </a:rPr>
              <a:t>•  Popular for payment cards because it takes systems out of PCI DSS scope.</a:t>
            </a:r>
          </a:p>
          <a:p>
            <a:pPr>
              <a:spcAft>
                <a:spcPts val="1000"/>
              </a:spcAft>
            </a:pPr>
            <a:r>
              <a:rPr sz="1600" b="0">
                <a:solidFill>
                  <a:srgbClr val="161B26"/>
                </a:solidFill>
                <a:latin typeface="Arial"/>
              </a:rPr>
              <a:t>•  Format-preserving tokens keep the same length, so older applications still work.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original value is transformed by an algorithm and a key.</a:t>
            </a:r>
          </a:p>
          <a:p>
            <a:pPr>
              <a:spcAft>
                <a:spcPts val="1000"/>
              </a:spcAft>
            </a:pPr>
            <a:r>
              <a:rPr sz="1600" b="0">
                <a:solidFill>
                  <a:srgbClr val="161B26"/>
                </a:solidFill>
                <a:latin typeface="Arial"/>
              </a:rPr>
              <a:t>•  Anyone holding the key can decrypt every value, so the key must be protected.</a:t>
            </a:r>
          </a:p>
          <a:p>
            <a:pPr>
              <a:spcAft>
                <a:spcPts val="1000"/>
              </a:spcAft>
            </a:pPr>
            <a:r>
              <a:rPr sz="1600" b="0">
                <a:solidFill>
                  <a:srgbClr val="161B26"/>
                </a:solidFill>
                <a:latin typeface="Arial"/>
              </a:rPr>
              <a:t>•  Encrypted sensitive data usually remains inside compliance scope.</a:t>
            </a:r>
          </a:p>
          <a:p>
            <a:pPr>
              <a:spcAft>
                <a:spcPts val="1000"/>
              </a:spcAft>
            </a:pPr>
            <a:r>
              <a:rPr sz="1600" b="0">
                <a:solidFill>
                  <a:srgbClr val="161B26"/>
                </a:solidFill>
                <a:latin typeface="Arial"/>
              </a:rPr>
              <a:t>•  It suits whole files, disks and network sessions, not just single fields.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DLP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DLP purpose</a:t>
            </a:r>
          </a:p>
          <a:p>
            <a:pPr algn="l">
              <a:spcAft>
                <a:spcPts val="300"/>
              </a:spcAft>
            </a:pPr>
            <a:r>
              <a:rPr sz="1200" b="0">
                <a:solidFill>
                  <a:srgbClr val="5B6372"/>
                </a:solidFill>
                <a:latin typeface="Arial"/>
              </a:rPr>
              <a:t>Detects and blocks sensitive data leaving the organisation by email, web upload, USB drive or cloud storage.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inspection</a:t>
            </a:r>
          </a:p>
          <a:p>
            <a:pPr algn="l">
              <a:spcAft>
                <a:spcPts val="300"/>
              </a:spcAft>
            </a:pPr>
            <a:r>
              <a:rPr sz="1200" b="0">
                <a:solidFill>
                  <a:srgbClr val="5B6372"/>
                </a:solidFill>
                <a:latin typeface="Arial"/>
              </a:rPr>
              <a:t>Uses regular expressions, keywords and checksums such as the Luhn check to recognise card numbers and IDs.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DLP</a:t>
            </a:r>
          </a:p>
          <a:p>
            <a:pPr algn="l">
              <a:spcAft>
                <a:spcPts val="300"/>
              </a:spcAft>
            </a:pPr>
            <a:r>
              <a:rPr sz="1200" b="0">
                <a:solidFill>
                  <a:srgbClr val="5B6372"/>
                </a:solidFill>
                <a:latin typeface="Arial"/>
              </a:rPr>
              <a:t>An agent on the device controls copying to USB, printing and uploads, even when the laptop is off the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DLP</a:t>
            </a:r>
          </a:p>
          <a:p>
            <a:pPr algn="l">
              <a:spcAft>
                <a:spcPts val="300"/>
              </a:spcAft>
            </a:pPr>
            <a:r>
              <a:rPr sz="1200" b="0">
                <a:solidFill>
                  <a:srgbClr val="5B6372"/>
                </a:solidFill>
                <a:latin typeface="Arial"/>
              </a:rPr>
              <a:t>Inspects traffic at the egress point, which needs TLS inspection to see inside encrypted sessions.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DLP</a:t>
            </a:r>
          </a:p>
          <a:p>
            <a:pPr algn="l">
              <a:spcAft>
                <a:spcPts val="300"/>
              </a:spcAft>
            </a:pPr>
            <a:r>
              <a:rPr sz="1200" b="0">
                <a:solidFill>
                  <a:srgbClr val="5B6372"/>
                </a:solidFill>
                <a:latin typeface="Arial"/>
              </a:rPr>
              <a:t>Scans data held in SaaS and cloud storage, often through a CASB, to find exposed sensitive files.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Labels drive DLP</a:t>
            </a:r>
          </a:p>
          <a:p>
            <a:pPr algn="l">
              <a:spcAft>
                <a:spcPts val="300"/>
              </a:spcAft>
            </a:pPr>
            <a:r>
              <a:rPr sz="1200" b="0">
                <a:solidFill>
                  <a:srgbClr val="5B6372"/>
                </a:solidFill>
                <a:latin typeface="Arial"/>
              </a:rPr>
              <a:t>Classification labels let DLP apply the right action, such as block, encrypt or alert, for each sensitivity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AT REST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LUKS2 Protects the Volume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key</a:t>
            </a:r>
          </a:p>
          <a:p>
            <a:pPr algn="l">
              <a:spcAft>
                <a:spcPts val="300"/>
              </a:spcAft>
            </a:pPr>
            <a:r>
              <a:rPr sz="1100" b="0">
                <a:solidFill>
                  <a:srgbClr val="5B6372"/>
                </a:solidFill>
                <a:latin typeface="Arial"/>
              </a:rPr>
              <a:t>A random key that encrypts the data. It is never derived from your passphrase directly.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 slots</a:t>
            </a:r>
          </a:p>
          <a:p>
            <a:pPr algn="l">
              <a:spcAft>
                <a:spcPts val="300"/>
              </a:spcAft>
            </a:pPr>
            <a:r>
              <a:rPr sz="1100" b="0">
                <a:solidFill>
                  <a:srgbClr val="5B6372"/>
                </a:solidFill>
                <a:latin typeface="Arial"/>
              </a:rPr>
              <a:t>Each slot stores a copy of the master key wrapped by one passphrase or keyfile.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Argon2id KDF</a:t>
            </a:r>
          </a:p>
          <a:p>
            <a:pPr algn="l">
              <a:spcAft>
                <a:spcPts val="300"/>
              </a:spcAft>
            </a:pPr>
            <a:r>
              <a:rPr sz="1100" b="0">
                <a:solidFill>
                  <a:srgbClr val="5B6372"/>
                </a:solidFill>
                <a:latin typeface="Arial"/>
              </a:rPr>
              <a:t>Stretches the passphrase using memory-hard hashing so brute forcing a slot is expensive.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Header</a:t>
            </a:r>
          </a:p>
          <a:p>
            <a:pPr algn="l">
              <a:spcAft>
                <a:spcPts val="300"/>
              </a:spcAft>
            </a:pPr>
            <a:r>
              <a:rPr sz="1100" b="0">
                <a:solidFill>
                  <a:srgbClr val="5B6372"/>
                </a:solidFill>
                <a:latin typeface="Arial"/>
              </a:rPr>
              <a:t>Holds slots and metadata. Destroy or overwrite the header and the data is unrecoverable, so back it up.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Keyfile</a:t>
            </a:r>
          </a:p>
          <a:p>
            <a:pPr algn="l">
              <a:spcAft>
                <a:spcPts val="300"/>
              </a:spcAft>
            </a:pPr>
            <a:r>
              <a:rPr sz="1100" b="0">
                <a:solidFill>
                  <a:srgbClr val="5B6372"/>
                </a:solidFill>
                <a:latin typeface="Arial"/>
              </a:rPr>
              <a:t>A high-entropy file used instead of typing a passphrase, ideal for unattended secondary volumes.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TPM-backed unlock</a:t>
            </a:r>
          </a:p>
          <a:p>
            <a:pPr algn="l">
              <a:spcAft>
                <a:spcPts val="300"/>
              </a:spcAft>
            </a:pPr>
            <a:r>
              <a:rPr sz="1100" b="0">
                <a:solidFill>
                  <a:srgbClr val="5B6372"/>
                </a:solidFill>
                <a:latin typeface="Arial"/>
              </a:rPr>
              <a:t>Seals the key to platform measurements so the disk unlocks only on expected, unmodified firmware.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IN TRANSIT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TLS 1.3 Handshake in Sequence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Client hello carries versions, ciphers and a key share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Server hello returns its key share and picks the suite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Both sides derive the same secret using ephemeral ECDHE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client validates the server certificate and signature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Finished messages verify the handshake, then data flows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DATA IN TRANSIT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Cipher Suites, Versions and Attacks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Suite anatomy</a:t>
            </a:r>
          </a:p>
          <a:p>
            <a:pPr algn="l">
              <a:spcAft>
                <a:spcPts val="300"/>
              </a:spcAft>
            </a:pPr>
            <a:r>
              <a:rPr sz="1200" b="0">
                <a:solidFill>
                  <a:srgbClr val="5B6372"/>
                </a:solidFill>
                <a:latin typeface="Arial"/>
              </a:rPr>
              <a:t>In ECDHE-RSA-AES256-GCM-SHA384 the parts are key exchange, authentication, bulk cipher and the hash for the KDF.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AEAD</a:t>
            </a:r>
          </a:p>
          <a:p>
            <a:pPr algn="l">
              <a:spcAft>
                <a:spcPts val="300"/>
              </a:spcAft>
            </a:pPr>
            <a:r>
              <a:rPr sz="1200" b="0">
                <a:solidFill>
                  <a:srgbClr val="5B6372"/>
                </a:solidFill>
                <a:latin typeface="Arial"/>
              </a:rPr>
              <a:t>Authenticated encryption such as AES-GCM or ChaCha20-Poly1305 gives confidentiality and integrity in one operation.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Forward secrecy</a:t>
            </a:r>
          </a:p>
          <a:p>
            <a:pPr algn="l">
              <a:spcAft>
                <a:spcPts val="300"/>
              </a:spcAft>
            </a:pPr>
            <a:r>
              <a:rPr sz="1200" b="0">
                <a:solidFill>
                  <a:srgbClr val="5B6372"/>
                </a:solidFill>
                <a:latin typeface="Arial"/>
              </a:rPr>
              <a:t>ECDHE makes a throwaway key per session, so stealing the server key later cannot decrypt old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Deprecated versions</a:t>
            </a:r>
          </a:p>
          <a:p>
            <a:pPr algn="l">
              <a:spcAft>
                <a:spcPts val="300"/>
              </a:spcAft>
            </a:pPr>
            <a:r>
              <a:rPr sz="1200" b="0">
                <a:solidFill>
                  <a:srgbClr val="5B6372"/>
                </a:solidFill>
                <a:latin typeface="Arial"/>
              </a:rPr>
              <a:t>TLS 1.0 and 1.1 rely on weak SHA-1 and MD5 constructions and CBC padding. RFC 8996 deprecated both in 2021.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Downgrade attacks</a:t>
            </a:r>
          </a:p>
          <a:p>
            <a:pPr algn="l">
              <a:spcAft>
                <a:spcPts val="300"/>
              </a:spcAft>
            </a:pPr>
            <a:r>
              <a:rPr sz="1200" b="0">
                <a:solidFill>
                  <a:srgbClr val="5B6372"/>
                </a:solidFill>
                <a:latin typeface="Arial"/>
              </a:rPr>
              <a:t>POODLE forced a fall back to SSL 3.0 padding. Disabling old versions removes the downgrade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HSTS</a:t>
            </a:r>
          </a:p>
          <a:p>
            <a:pPr algn="l">
              <a:spcAft>
                <a:spcPts val="300"/>
              </a:spcAft>
            </a:pPr>
            <a:r>
              <a:rPr sz="1200" b="0">
                <a:solidFill>
                  <a:srgbClr val="5B6372"/>
                </a:solidFill>
                <a:latin typeface="Arial"/>
              </a:rPr>
              <a:t>Strict-Transport-Security tells browsers to use HTTPS only, which defeats SSL stripping after the first visit.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Disk encryption protects powered-off devices.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Once the system is booted and the volume unlocked, malware, a live attacker or a root account reads plaintext exactly like any normal user.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Protecting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Masking hides part of a value for display; tokenisation swaps the value for a vault-mapped token; neither is the same as encryption.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Data sovereignty = the laws of the country where data is stored. Geolocation = working out where a user or device is.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Hashing is one-way and proves integrity. Encryption is two-way and needs a key, so it protects confidentiality.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Match the state to the control: at rest = FDE or TDE, in transit = TLS or IPSec, in use = secure enclave.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labels files by classification, builds a regex DLP scanner for NRIC/FIN, Luhn-valid cards and emails, catches a mislabelled file, then applies masking, tokenisation, HMAC and permissions.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labelled data store, a DLP scanner, masked and tokenised outputs, a token vault and need-to-know ACLs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(re, hmac, secrets), openssl, chmod/chown, useradd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python3 openssl acl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synthetic data 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hr-salaries.csv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Label each file by classification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labels.csv &lt;&lt;'EOF' ... EOF</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regex DLP scanner with a Luhn check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NRIC = re.compile(r"\b[STFGM]\d{7}[A-Z]\b")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scan and find the mislabelled file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dlp_scan.py data labels.csv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Mask and tokenise the sensitive fields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protect.py &amp;&amp; python3 protect.py detok "$TOKEN"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Pseudonymise with a keyed hash instead of a plain hash</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rand -hex 32 &gt; vault/hmac.key &amp;&amp; chmod 600 vault/hmac.key</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permission restrictions by classification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chown root:hr data/hr-salaries.csv &amp;&amp; chmod 640 data/hr-salaries.csv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Re-scan the protected output to confirm no raw PII remains</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python3 dlp_scan.py out &amp;&amp; echo "Sanitised output is safe to share"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Classification and Data Loss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scan flags the Public press release containing an NRIC (1 violation), ignores the Luhn-invalid card, the protected output scans clean, and the analyst cannot read Restricted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creates a LUKS2 volume on a loop device, proves plaintext is absent from the encrypted image but present on an unencrypted one, rotates the passphrase, adds a keyfile and backs up the header.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encrypted volume with two key slots, a header backup and a plaintext comparison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cryptsetup, losetup, mkfs.ext4, grep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cryptsetup</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cryptsetup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virtual disk on a loop device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vault.img)</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Format the device with LUKS2 and inspect the header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-q --type luks2 --cipher aes-xts-plain64 --key-size 512 --pbkdf argon2id "$LOOP" pass1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Open the volume, create a filesystem and store data</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open --key-file pass1 "$LOOP" vault &amp;&amp; mkfs.ext4 -q /dev/mapper/vault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Prove the plaintext is absent from the raw image</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grep -a -c 'payroll export' vault.img</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Rotate the passphrase</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cryptsetup luksChangeKey "$LOOP" --key-file pass1 --pbkdf-memory 65536 pass2</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Add a keyfile slot and back up the header</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cryptsetup luksAddKey "$LOOP" --key-file pass2 luks.key &amp;&amp; cryptsetup luksHeaderBackup "$LOOP" ...</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Data at Rest: LUKS2 Disk Encryption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unencrypted image shows 1 match and the LUKS image 0, the old passphrase is rejected, and both the new passphrase and the keyfile unlock the volume.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stands up a deliberately weak nginx HTTPS site, proves it accepts TLS 1.1 and non-forward-secret ciphers, applies a hardened TLS profile with HSTS, and re-audits with OpenSSL and testssl.sh.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TLS 1.2/1.3 nginx site with HSTS and before/after audit reports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nginx, openssl s_client, testssl.sh,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nginx, OpenSSL and testssl.sh</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git clone --depth 1 --branch 3.2 https://github.com/testssl/testssl.sh.git /opt/testssl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certificate and a deliberately weak HTTPS site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openssl req -x509 -newkey rsa:2048 -nodes -days 30 -keyout ... -subj "/CN=localhost"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Probe the weak site with openssl s_client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 openssl s_client -connect 127.0.0.1:443 -tls1_1 -cipher 'DEFAULT:@SECLEVEL=0'</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baseline testssl.sh audit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/opt/testssl/testssl.sh --quiet --color 0 -p -f -h https://127.0.0.1 &gt; /root/lab25-baseline.txt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Write a hardened TLS configuration</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&gt; /etc/nginx/snippets/tls-hardening.conf &lt;&lt;'EOF' ... EOF</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Reload nginx and re-test with openssl s_client</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nginx -t &amp;&amp; systemctl reload nginx &amp;&amp; curl -skI https://127.0.0.1/</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Re-audit with testssl.sh and compare</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/opt/testssl/testssl.sh --quiet --color 0 -p -f -h https://127.0.0.1 &gt; /root/lab25-hardened.txt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in Transit: TLS Hardening and Cipher Audit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hardening TLS 1.1 returns 'Cipher is (NONE)', TLS 1.3 negotiates TLS_AES_256_GCM_SHA384, HSTS is present, and testssl.sh shows TLS 1 and TLS 1.1 as not offered.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OBJECTIVE 3.4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Resilience and Recovery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HA · Recovery sites · Diversity · COOP · Capacity · Testing · Backups · Power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HIGH AVAILABILITY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Load Balancing versus Clustering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Load balancing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Clustering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Spreads incoming requests across several independent servers.</a:t>
            </a:r>
          </a:p>
          <a:p>
            <a:pPr>
              <a:spcAft>
                <a:spcPts val="1000"/>
              </a:spcAft>
            </a:pPr>
            <a:r>
              <a:rPr sz="1600" b="0">
                <a:solidFill>
                  <a:srgbClr val="161B26"/>
                </a:solidFill>
                <a:latin typeface="Arial"/>
              </a:rPr>
              <a:t>•  Health checks take a failed node out of the pool automatically.</a:t>
            </a:r>
          </a:p>
          <a:p>
            <a:pPr>
              <a:spcAft>
                <a:spcPts val="1000"/>
              </a:spcAft>
            </a:pPr>
            <a:r>
              <a:rPr sz="1600" b="0">
                <a:solidFill>
                  <a:srgbClr val="161B26"/>
                </a:solidFill>
                <a:latin typeface="Arial"/>
              </a:rPr>
              <a:t>•  Active-active pools add capacity as well as availability.</a:t>
            </a:r>
          </a:p>
          <a:p>
            <a:pPr>
              <a:spcAft>
                <a:spcPts val="1000"/>
              </a:spcAft>
            </a:pPr>
            <a:r>
              <a:rPr sz="1600" b="0">
                <a:solidFill>
                  <a:srgbClr val="161B26"/>
                </a:solidFill>
                <a:latin typeface="Arial"/>
              </a:rPr>
              <a:t>•  Scheduling can be round robin, least connections or weighted.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Several servers work together and present one virtual service.</a:t>
            </a:r>
          </a:p>
          <a:p>
            <a:pPr>
              <a:spcAft>
                <a:spcPts val="1000"/>
              </a:spcAft>
            </a:pPr>
            <a:r>
              <a:rPr sz="1600" b="0">
                <a:solidFill>
                  <a:srgbClr val="161B26"/>
                </a:solidFill>
                <a:latin typeface="Arial"/>
              </a:rPr>
              <a:t>•  Nodes share storage or state and watch each other with heartbeats.</a:t>
            </a:r>
          </a:p>
          <a:p>
            <a:pPr>
              <a:spcAft>
                <a:spcPts val="1000"/>
              </a:spcAft>
            </a:pPr>
            <a:r>
              <a:rPr sz="1600" b="0">
                <a:solidFill>
                  <a:srgbClr val="161B26"/>
                </a:solidFill>
                <a:latin typeface="Arial"/>
              </a:rPr>
              <a:t>•  An active-passive cluster fails over to a standby node when one dies.</a:t>
            </a:r>
          </a:p>
          <a:p>
            <a:pPr>
              <a:spcAft>
                <a:spcPts val="1000"/>
              </a:spcAft>
            </a:pPr>
            <a:r>
              <a:rPr sz="1600" b="0">
                <a:solidFill>
                  <a:srgbClr val="161B26"/>
                </a:solidFill>
                <a:latin typeface="Arial"/>
              </a:rPr>
              <a:t>•  It suits stateful workloads such as databases that cannot simply be spread.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SITE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Hot, Warm and Cold Sites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Hot site</a:t>
            </a:r>
          </a:p>
          <a:p>
            <a:pPr algn="l">
              <a:spcAft>
                <a:spcPts val="300"/>
              </a:spcAft>
            </a:pPr>
            <a:r>
              <a:rPr sz="1100" b="0">
                <a:solidFill>
                  <a:srgbClr val="5B6372"/>
                </a:solidFill>
                <a:latin typeface="Arial"/>
              </a:rPr>
              <a:t>A fully equipped, running replica with current data. Failover takes minutes, but it is the most expensive option.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Warm site</a:t>
            </a:r>
          </a:p>
          <a:p>
            <a:pPr algn="l">
              <a:spcAft>
                <a:spcPts val="300"/>
              </a:spcAft>
            </a:pPr>
            <a:r>
              <a:rPr sz="1100" b="0">
                <a:solidFill>
                  <a:srgbClr val="5B6372"/>
                </a:solidFill>
                <a:latin typeface="Arial"/>
              </a:rPr>
              <a:t>Has hardware and connectivity but needs data restored and systems configured. Recovery takes hours to days.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Cold site</a:t>
            </a:r>
          </a:p>
          <a:p>
            <a:pPr algn="l">
              <a:spcAft>
                <a:spcPts val="300"/>
              </a:spcAft>
            </a:pPr>
            <a:r>
              <a:rPr sz="1100" b="0">
                <a:solidFill>
                  <a:srgbClr val="5B6372"/>
                </a:solidFill>
                <a:latin typeface="Arial"/>
              </a:rPr>
              <a:t>Space, power and cooling only, with no equipment ready. It is the cheapest, but recovery can take weeks.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Geographic dispersion</a:t>
            </a:r>
          </a:p>
          <a:p>
            <a:pPr algn="l">
              <a:spcAft>
                <a:spcPts val="300"/>
              </a:spcAft>
            </a:pPr>
            <a:r>
              <a:rPr sz="1100" b="0">
                <a:solidFill>
                  <a:srgbClr val="5B6372"/>
                </a:solidFill>
                <a:latin typeface="Arial"/>
              </a:rPr>
              <a:t>Place recovery sites far enough apart that one flood, earthquake or regional outage cannot hit both.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recovery site</a:t>
            </a:r>
          </a:p>
          <a:p>
            <a:pPr algn="l">
              <a:spcAft>
                <a:spcPts val="300"/>
              </a:spcAft>
            </a:pPr>
            <a:r>
              <a:rPr sz="1100" b="0">
                <a:solidFill>
                  <a:srgbClr val="5B6372"/>
                </a:solidFill>
                <a:latin typeface="Arial"/>
              </a:rPr>
              <a:t>Cloud regions can act as on-demand hot or warm sites, paid for mainly while they are in use.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CONTINUITY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Diversity, Multi-Cloud, COOP and Capacity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Platform diversity</a:t>
            </a:r>
          </a:p>
          <a:p>
            <a:pPr algn="l">
              <a:spcAft>
                <a:spcPts val="300"/>
              </a:spcAft>
            </a:pPr>
            <a:r>
              <a:rPr sz="1200" b="0">
                <a:solidFill>
                  <a:srgbClr val="5B6372"/>
                </a:solidFill>
                <a:latin typeface="Arial"/>
              </a:rPr>
              <a:t>Use different operating systems, vendors or technologies so one vulnerability cannot take down every system.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Multi-cloud</a:t>
            </a:r>
          </a:p>
          <a:p>
            <a:pPr algn="l">
              <a:spcAft>
                <a:spcPts val="300"/>
              </a:spcAft>
            </a:pPr>
            <a:r>
              <a:rPr sz="1200" b="0">
                <a:solidFill>
                  <a:srgbClr val="5B6372"/>
                </a:solidFill>
                <a:latin typeface="Arial"/>
              </a:rPr>
              <a:t>Spreads workloads across several cloud providers to survive a provider outage and avoid lock-in, at extra complexity.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Continuity of operations</a:t>
            </a:r>
          </a:p>
          <a:p>
            <a:pPr algn="l">
              <a:spcAft>
                <a:spcPts val="300"/>
              </a:spcAft>
            </a:pPr>
            <a:r>
              <a:rPr sz="1200" b="0">
                <a:solidFill>
                  <a:srgbClr val="5B6372"/>
                </a:solidFill>
                <a:latin typeface="Arial"/>
              </a:rPr>
              <a:t>COOP keeps essential functions running during and after a disruption, including alternate sites and manual workarounds.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people</a:t>
            </a:r>
          </a:p>
          <a:p>
            <a:pPr algn="l">
              <a:spcAft>
                <a:spcPts val="300"/>
              </a:spcAft>
            </a:pPr>
            <a:r>
              <a:rPr sz="1200" b="0">
                <a:solidFill>
                  <a:srgbClr val="5B6372"/>
                </a:solidFill>
                <a:latin typeface="Arial"/>
              </a:rPr>
              <a:t>Enough trained staff, with cross-training and succession plans, to run operations during an incident or growth.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technology</a:t>
            </a:r>
          </a:p>
          <a:p>
            <a:pPr algn="l">
              <a:spcAft>
                <a:spcPts val="300"/>
              </a:spcAft>
            </a:pPr>
            <a:r>
              <a:rPr sz="1200" b="0">
                <a:solidFill>
                  <a:srgbClr val="5B6372"/>
                </a:solidFill>
                <a:latin typeface="Arial"/>
              </a:rPr>
              <a:t>Size compute, storage and licences for expected demand, plus headroom for peaks and failover load.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Capacity: infrastructure</a:t>
            </a:r>
          </a:p>
          <a:p>
            <a:pPr algn="l">
              <a:spcAft>
                <a:spcPts val="300"/>
              </a:spcAft>
            </a:pPr>
            <a:r>
              <a:rPr sz="1200" b="0">
                <a:solidFill>
                  <a:srgbClr val="5B6372"/>
                </a:solidFill>
                <a:latin typeface="Arial"/>
              </a:rPr>
              <a:t>Plan power, cooling, bandwidth and floor space so facilities can support growth and recovery.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TESTING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Testing Resilience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Tabletop exercise</a:t>
            </a:r>
          </a:p>
          <a:p>
            <a:pPr algn="l">
              <a:spcAft>
                <a:spcPts val="300"/>
              </a:spcAft>
            </a:pPr>
            <a:r>
              <a:rPr sz="1100" b="0">
                <a:solidFill>
                  <a:srgbClr val="5B6372"/>
                </a:solidFill>
                <a:latin typeface="Arial"/>
              </a:rPr>
              <a:t>A discussion-based walk-through of a scenario around a table. Cheap and low risk, it tests plans and roles, not systems.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Failover</a:t>
            </a:r>
          </a:p>
          <a:p>
            <a:pPr algn="l">
              <a:spcAft>
                <a:spcPts val="300"/>
              </a:spcAft>
            </a:pPr>
            <a:r>
              <a:rPr sz="1100" b="0">
                <a:solidFill>
                  <a:srgbClr val="5B6372"/>
                </a:solidFill>
                <a:latin typeface="Arial"/>
              </a:rPr>
              <a:t>Deliberately switches production to the standby system or site to prove it takes over within the expected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Simulation</a:t>
            </a:r>
          </a:p>
          <a:p>
            <a:pPr algn="l">
              <a:spcAft>
                <a:spcPts val="300"/>
              </a:spcAft>
            </a:pPr>
            <a:r>
              <a:rPr sz="1100" b="0">
                <a:solidFill>
                  <a:srgbClr val="5B6372"/>
                </a:solidFill>
                <a:latin typeface="Arial"/>
              </a:rPr>
              <a:t>A realistic practice scenario, such as a simulated ransomware outbreak, run without affecting real operations.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Parallel processing</a:t>
            </a:r>
          </a:p>
          <a:p>
            <a:pPr algn="l">
              <a:spcAft>
                <a:spcPts val="300"/>
              </a:spcAft>
            </a:pPr>
            <a:r>
              <a:rPr sz="1100" b="0">
                <a:solidFill>
                  <a:srgbClr val="5B6372"/>
                </a:solidFill>
                <a:latin typeface="Arial"/>
              </a:rPr>
              <a:t>The recovery site processes the same live workload alongside production and the results are compared.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BACKUPS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Types and the 3-2-1 Rule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3-2-1 rule</a:t>
            </a:r>
          </a:p>
          <a:p>
            <a:pPr algn="l">
              <a:spcAft>
                <a:spcPts val="300"/>
              </a:spcAft>
            </a:pPr>
            <a:r>
              <a:rPr sz="1200" b="0">
                <a:solidFill>
                  <a:srgbClr val="5B6372"/>
                </a:solidFill>
                <a:latin typeface="Arial"/>
              </a:rPr>
              <a:t>Keep three copies of the data on two different media types, with one copy held off site or in another region.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backup</a:t>
            </a:r>
          </a:p>
          <a:p>
            <a:pPr algn="l">
              <a:spcAft>
                <a:spcPts val="300"/>
              </a:spcAft>
            </a:pPr>
            <a:r>
              <a:rPr sz="1200" b="0">
                <a:solidFill>
                  <a:srgbClr val="5B6372"/>
                </a:solidFill>
                <a:latin typeface="Arial"/>
              </a:rPr>
              <a:t>Copies everything every run. Restores are fastest and simplest but storage and backup windows are largest.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Incremental backup</a:t>
            </a:r>
          </a:p>
          <a:p>
            <a:pPr algn="l">
              <a:spcAft>
                <a:spcPts val="300"/>
              </a:spcAft>
            </a:pPr>
            <a:r>
              <a:rPr sz="1200" b="0">
                <a:solidFill>
                  <a:srgbClr val="5B6372"/>
                </a:solidFill>
                <a:latin typeface="Arial"/>
              </a:rPr>
              <a:t>Copies only changes since the last backup of any type. A restore needs the full plus every increment.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Differential backup</a:t>
            </a:r>
          </a:p>
          <a:p>
            <a:pPr algn="l">
              <a:spcAft>
                <a:spcPts val="300"/>
              </a:spcAft>
            </a:pPr>
            <a:r>
              <a:rPr sz="1200" b="0">
                <a:solidFill>
                  <a:srgbClr val="5B6372"/>
                </a:solidFill>
                <a:latin typeface="Arial"/>
              </a:rPr>
              <a:t>Copies all changes since the last full backup. Files grow daily, but a restore needs the full plus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Snapshot</a:t>
            </a:r>
          </a:p>
          <a:p>
            <a:pPr algn="l">
              <a:spcAft>
                <a:spcPts val="300"/>
              </a:spcAft>
            </a:pPr>
            <a:r>
              <a:rPr sz="1200" b="0">
                <a:solidFill>
                  <a:srgbClr val="5B6372"/>
                </a:solidFill>
                <a:latin typeface="Arial"/>
              </a:rPr>
              <a:t>A point-in-time view of a volume or VM on the same storage system. It is convenient but is not an off-site copy.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Deduplication</a:t>
            </a:r>
          </a:p>
          <a:p>
            <a:pPr algn="l">
              <a:spcAft>
                <a:spcPts val="300"/>
              </a:spcAft>
            </a:pPr>
            <a:r>
              <a:rPr sz="1200" b="0">
                <a:solidFill>
                  <a:srgbClr val="5B6372"/>
                </a:solidFill>
                <a:latin typeface="Arial"/>
              </a:rPr>
              <a:t>Tools such as restic split data into content-addressed chunks, so unchanged blocks are stored only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ransition spd="med">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BACKUPS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Onsite and offsite</a:t>
            </a:r>
          </a:p>
          <a:p>
            <a:pPr algn="l">
              <a:spcAft>
                <a:spcPts val="300"/>
              </a:spcAft>
            </a:pPr>
            <a:r>
              <a:rPr sz="1200" b="0">
                <a:solidFill>
                  <a:srgbClr val="5B6372"/>
                </a:solidFill>
                <a:latin typeface="Arial"/>
              </a:rPr>
              <a:t>Onsite copies restore quickly; offsite copies survive fire, flood and theft at the primary site. Keep both.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Frequency</a:t>
            </a:r>
          </a:p>
          <a:p>
            <a:pPr algn="l">
              <a:spcAft>
                <a:spcPts val="300"/>
              </a:spcAft>
            </a:pPr>
            <a:r>
              <a:rPr sz="1200" b="0">
                <a:solidFill>
                  <a:srgbClr val="5B6372"/>
                </a:solidFill>
                <a:latin typeface="Arial"/>
              </a:rPr>
              <a:t>How often backups run is set by the recovery point objective. A one-hour RPO needs at least hourly backups.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Encryption</a:t>
            </a:r>
          </a:p>
          <a:p>
            <a:pPr algn="l">
              <a:spcAft>
                <a:spcPts val="300"/>
              </a:spcAft>
            </a:pPr>
            <a:r>
              <a:rPr sz="1200" b="0">
                <a:solidFill>
                  <a:srgbClr val="5B6372"/>
                </a:solidFill>
                <a:latin typeface="Arial"/>
              </a:rPr>
              <a:t>Encrypt backups at rest and in transit so a stolen tape or bucket does not become a data breach.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Snapshots</a:t>
            </a:r>
          </a:p>
          <a:p>
            <a:pPr algn="l">
              <a:spcAft>
                <a:spcPts val="300"/>
              </a:spcAft>
            </a:pPr>
            <a:r>
              <a:rPr sz="1200" b="0">
                <a:solidFill>
                  <a:srgbClr val="5B6372"/>
                </a:solidFill>
                <a:latin typeface="Arial"/>
              </a:rPr>
              <a:t>Point-in-time copies of a VM or volume that are quick to take and roll back, but usually live on the same system.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200" b="0">
                <a:solidFill>
                  <a:srgbClr val="5B6372"/>
                </a:solidFill>
                <a:latin typeface="Arial"/>
              </a:rPr>
              <a:t>Test restores regularly to prove the data is complete and that the restore meets the recovery time objective.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Immutability</a:t>
            </a:r>
          </a:p>
          <a:p>
            <a:pPr algn="l">
              <a:spcAft>
                <a:spcPts val="300"/>
              </a:spcAft>
            </a:pPr>
            <a:r>
              <a:rPr sz="1200" b="0">
                <a:solidFill>
                  <a:srgbClr val="5B6372"/>
                </a:solidFill>
                <a:latin typeface="Arial"/>
              </a:rPr>
              <a:t>Write-once or object-lock storage stops ransomware or a rogue admin from deleting or encrypting backups.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DATA PROTECTION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Replication versus Journaling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Replication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Journaling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Copies data continuously or near-continuously to another system or site.</a:t>
            </a:r>
          </a:p>
          <a:p>
            <a:pPr>
              <a:spcAft>
                <a:spcPts val="1000"/>
              </a:spcAft>
            </a:pPr>
            <a:r>
              <a:rPr sz="1600" b="0">
                <a:solidFill>
                  <a:srgbClr val="161B26"/>
                </a:solidFill>
                <a:latin typeface="Arial"/>
              </a:rPr>
              <a:t>•  Synchronous replication writes both copies before confirming, so no data is lost.</a:t>
            </a:r>
          </a:p>
          <a:p>
            <a:pPr>
              <a:spcAft>
                <a:spcPts val="1000"/>
              </a:spcAft>
            </a:pPr>
            <a:r>
              <a:rPr sz="1600" b="0">
                <a:solidFill>
                  <a:srgbClr val="161B26"/>
                </a:solidFill>
                <a:latin typeface="Arial"/>
              </a:rPr>
              <a:t>•  Asynchronous replication confirms first and copies later, which allows distance.</a:t>
            </a:r>
          </a:p>
          <a:p>
            <a:pPr>
              <a:spcAft>
                <a:spcPts val="1000"/>
              </a:spcAft>
            </a:pPr>
            <a:r>
              <a:rPr sz="1600" b="0">
                <a:solidFill>
                  <a:srgbClr val="161B26"/>
                </a:solidFill>
                <a:latin typeface="Arial"/>
              </a:rPr>
              <a:t>•  It also copies corruption and deletions, so it never replaces backups.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Records every change in a log before or as it is applied to the data.</a:t>
            </a:r>
          </a:p>
          <a:p>
            <a:pPr>
              <a:spcAft>
                <a:spcPts val="1000"/>
              </a:spcAft>
            </a:pPr>
            <a:r>
              <a:rPr sz="1600" b="0">
                <a:solidFill>
                  <a:srgbClr val="161B26"/>
                </a:solidFill>
                <a:latin typeface="Arial"/>
              </a:rPr>
              <a:t>•  After a crash the journal is replayed to return the data to a consistent state.</a:t>
            </a:r>
          </a:p>
          <a:p>
            <a:pPr>
              <a:spcAft>
                <a:spcPts val="1000"/>
              </a:spcAft>
            </a:pPr>
            <a:r>
              <a:rPr sz="1600" b="0">
                <a:solidFill>
                  <a:srgbClr val="161B26"/>
                </a:solidFill>
                <a:latin typeface="Arial"/>
              </a:rPr>
              <a:t>•  Databases and filesystems such as ext4 use journals to avoid corruption.</a:t>
            </a:r>
          </a:p>
          <a:p>
            <a:pPr>
              <a:spcAft>
                <a:spcPts val="1000"/>
              </a:spcAft>
            </a:pPr>
            <a:r>
              <a:rPr sz="1600" b="0">
                <a:solidFill>
                  <a:srgbClr val="161B26"/>
                </a:solidFill>
                <a:latin typeface="Arial"/>
              </a:rPr>
              <a:t>•  Journals allow recovery to a precise point in time between full backups.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RECOVERY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Recovery Objectives and Ransomware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RPO and RTO</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Ransomware resistance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recovery point objective is how much data loss is acceptable, measured in time.</a:t>
            </a:r>
          </a:p>
          <a:p>
            <a:pPr>
              <a:spcAft>
                <a:spcPts val="1000"/>
              </a:spcAft>
            </a:pPr>
            <a:r>
              <a:rPr sz="1600" b="0">
                <a:solidFill>
                  <a:srgbClr val="161B26"/>
                </a:solidFill>
                <a:latin typeface="Arial"/>
              </a:rPr>
              <a:t>•  A four hour RPO means backups must run at least every four hours.</a:t>
            </a:r>
          </a:p>
          <a:p>
            <a:pPr>
              <a:spcAft>
                <a:spcPts val="1000"/>
              </a:spcAft>
            </a:pPr>
            <a:r>
              <a:rPr sz="1600" b="0">
                <a:solidFill>
                  <a:srgbClr val="161B26"/>
                </a:solidFill>
                <a:latin typeface="Arial"/>
              </a:rPr>
              <a:t>•  The recovery time objective is how long a restore may take before impact is severe.</a:t>
            </a:r>
          </a:p>
          <a:p>
            <a:pPr>
              <a:spcAft>
                <a:spcPts val="1000"/>
              </a:spcAft>
            </a:pPr>
            <a:r>
              <a:rPr sz="1600" b="0">
                <a:solidFill>
                  <a:srgbClr val="161B26"/>
                </a:solidFill>
                <a:latin typeface="Arial"/>
              </a:rPr>
              <a:t>•  RPO sets the backup frequency and RTO sets the restore method you must build.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Immutable or write-once storage stops an attacker deleting or encrypting backups.</a:t>
            </a:r>
          </a:p>
          <a:p>
            <a:pPr>
              <a:spcAft>
                <a:spcPts val="1000"/>
              </a:spcAft>
            </a:pPr>
            <a:r>
              <a:rPr sz="1600" b="0">
                <a:solidFill>
                  <a:srgbClr val="161B26"/>
                </a:solidFill>
                <a:latin typeface="Arial"/>
              </a:rPr>
              <a:t>•  Air-gapped or offline copies cannot be reached from a compromised domain.</a:t>
            </a:r>
          </a:p>
          <a:p>
            <a:pPr>
              <a:spcAft>
                <a:spcPts val="1000"/>
              </a:spcAft>
            </a:pPr>
            <a:r>
              <a:rPr sz="1600" b="0">
                <a:solidFill>
                  <a:srgbClr val="161B26"/>
                </a:solidFill>
                <a:latin typeface="Arial"/>
              </a:rPr>
              <a:t>•  Backup credentials must not be domain accounts that ransomware can already use.</a:t>
            </a:r>
          </a:p>
          <a:p>
            <a:pPr>
              <a:spcAft>
                <a:spcPts val="1000"/>
              </a:spcAft>
            </a:pPr>
            <a:r>
              <a:rPr sz="1600" b="0">
                <a:solidFill>
                  <a:srgbClr val="161B26"/>
                </a:solidFill>
                <a:latin typeface="Arial"/>
              </a:rPr>
              <a:t>•  Encrypt backups at rest so a stolen repository does not become a data breach.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spd="med">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STORAGE REDUNDANCY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RAID for Storage Resilience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0</a:t>
            </a:r>
          </a:p>
          <a:p>
            <a:pPr algn="l">
              <a:spcAft>
                <a:spcPts val="300"/>
              </a:spcAft>
            </a:pPr>
            <a:r>
              <a:rPr sz="1200" b="0">
                <a:solidFill>
                  <a:srgbClr val="5B6372"/>
                </a:solidFill>
                <a:latin typeface="Arial"/>
              </a:rPr>
              <a:t>Stripes data across disks for speed with no redundancy at all. One disk failure loses the whole array.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1</a:t>
            </a:r>
          </a:p>
          <a:p>
            <a:pPr algn="l">
              <a:spcAft>
                <a:spcPts val="300"/>
              </a:spcAft>
            </a:pPr>
            <a:r>
              <a:rPr sz="1200" b="0">
                <a:solidFill>
                  <a:srgbClr val="5B6372"/>
                </a:solidFill>
                <a:latin typeface="Arial"/>
              </a:rPr>
              <a:t>Mirrors data onto two disks. Either disk can fail without data loss, at the cost of half the raw capacity.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5</a:t>
            </a:r>
          </a:p>
          <a:p>
            <a:pPr algn="l">
              <a:spcAft>
                <a:spcPts val="300"/>
              </a:spcAft>
            </a:pPr>
            <a:r>
              <a:rPr sz="1200" b="0">
                <a:solidFill>
                  <a:srgbClr val="5B6372"/>
                </a:solidFill>
                <a:latin typeface="Arial"/>
              </a:rPr>
              <a:t>Stripes data with distributed parity across at least three disks and survives the loss of one disk.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6</a:t>
            </a:r>
          </a:p>
          <a:p>
            <a:pPr algn="l">
              <a:spcAft>
                <a:spcPts val="300"/>
              </a:spcAft>
            </a:pPr>
            <a:r>
              <a:rPr sz="1200" b="0">
                <a:solidFill>
                  <a:srgbClr val="5B6372"/>
                </a:solidFill>
                <a:latin typeface="Arial"/>
              </a:rPr>
              <a:t>Uses double parity across at least four disks, so it survives two simultaneous disk failures.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10</a:t>
            </a:r>
          </a:p>
          <a:p>
            <a:pPr algn="l">
              <a:spcAft>
                <a:spcPts val="300"/>
              </a:spcAft>
            </a:pPr>
            <a:r>
              <a:rPr sz="1200" b="0">
                <a:solidFill>
                  <a:srgbClr val="5B6372"/>
                </a:solidFill>
                <a:latin typeface="Arial"/>
              </a:rPr>
              <a:t>A stripe of mirrors that combines RAID 1 redundancy with RAID 0 speed, needing at least four disks.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RAID is not backup</a:t>
            </a:r>
          </a:p>
          <a:p>
            <a:pPr algn="l">
              <a:spcAft>
                <a:spcPts val="300"/>
              </a:spcAft>
            </a:pPr>
            <a:r>
              <a:rPr sz="1200" b="0">
                <a:solidFill>
                  <a:srgbClr val="5B6372"/>
                </a:solidFill>
                <a:latin typeface="Arial"/>
              </a:rPr>
              <a:t>RAID survives hardware failure but faithfully copies deletion, corruption and ransomware to every disk.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POWER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Power Resilience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a:t>
            </a:r>
          </a:p>
          <a:p>
            <a:pPr algn="l">
              <a:spcAft>
                <a:spcPts val="300"/>
              </a:spcAft>
            </a:pPr>
            <a:r>
              <a:rPr sz="1200" b="0">
                <a:solidFill>
                  <a:srgbClr val="5B6372"/>
                </a:solidFill>
                <a:latin typeface="Arial"/>
              </a:rPr>
              <a:t>An uninterruptible power supply bridges short outages and smooths spikes, buying time for a clean shutdown or generator start.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Generator</a:t>
            </a:r>
          </a:p>
          <a:p>
            <a:pPr algn="l">
              <a:spcAft>
                <a:spcPts val="300"/>
              </a:spcAft>
            </a:pPr>
            <a:r>
              <a:rPr sz="1200" b="0">
                <a:solidFill>
                  <a:srgbClr val="5B6372"/>
                </a:solidFill>
                <a:latin typeface="Arial"/>
              </a:rPr>
              <a:t>Fuel-powered generators supply power through long outages. They take time to start, which is why a UPS bridges the gap.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Dual power supplies</a:t>
            </a:r>
          </a:p>
          <a:p>
            <a:pPr algn="l">
              <a:spcAft>
                <a:spcPts val="300"/>
              </a:spcAft>
            </a:pPr>
            <a:r>
              <a:rPr sz="1200" b="0">
                <a:solidFill>
                  <a:srgbClr val="5B6372"/>
                </a:solidFill>
                <a:latin typeface="Arial"/>
              </a:rPr>
              <a:t>Servers with two power supplies fed from separate circuits keep running when one supply or feed fails.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PDU</a:t>
            </a:r>
          </a:p>
          <a:p>
            <a:pPr algn="l">
              <a:spcAft>
                <a:spcPts val="300"/>
              </a:spcAft>
            </a:pPr>
            <a:r>
              <a:rPr sz="1200" b="0">
                <a:solidFill>
                  <a:srgbClr val="5B6372"/>
                </a:solidFill>
                <a:latin typeface="Arial"/>
              </a:rPr>
              <a:t>Power distribution units feed the racks. Managed PDUs allow remote monitoring and switching of outlets.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Fuel and testing</a:t>
            </a:r>
          </a:p>
          <a:p>
            <a:pPr algn="l">
              <a:spcAft>
                <a:spcPts val="300"/>
              </a:spcAft>
            </a:pPr>
            <a:r>
              <a:rPr sz="1200" b="0">
                <a:solidFill>
                  <a:srgbClr val="5B6372"/>
                </a:solidFill>
                <a:latin typeface="Arial"/>
              </a:rPr>
              <a:t>Generators need fuel contracts and regular load tests, or they may fail exactly when they are needed.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3.4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untested backup is only a hope, not a control.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Schedule restore drills and integrity checks, measure the actual restore time against your RTO, and verify the restored data is complete.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ransition spd="med">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3.4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Resilience and Recovery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Hot = running with current data (minutes). Warm = hardware ready, data to restore (hours to days). Cold = empty space (weeks).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Load balancing spreads requests across independent servers; clustering makes several nodes act as one service with failover.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Tabletop = discussion only. Parallel processing = recovery site runs the live workload alongside production for comparison.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UPS bridges seconds to minutes until a generator starts; the generator carries long outages.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RPO drives backup frequency, RTO drives restore method. RAID and replication are not backups because they copy corruption.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spd="med">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takes encrypted, deduplicated restic snapshots, simulates ransomware, restores and times the clean snapshot, replicates the repository off site with an integrity check, and schedules backups.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encrypted restic repository, a timed restore, a verified off-site replica and a cron schedule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restic, rsync, cron,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restic and rsync</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restic rsync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production data and an encrypted repository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export RESTIC_REPOSITORY=/backup RESTIC_PASSWORD_FILE=/root/lab26/restic.pass &amp;&amp; restic init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Take a baseline snapshot and prove the repository is encrypted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backup /data --tag baseline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Change the data and take a second snapshot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backup /data --tag daily &amp;&amp; restic diff "$OLD" "$NEW"</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 ransomware attack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f in /data/*.txt; do echo "ENCRYPTED_BY_RANSOMWARE" &gt; "$f"; mv "$f" "$f.locked"; done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Restore the clean snapshot and time the recovery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restic restore latest --target /restore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Replicate the repository off site and verify integrity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rsync -a /backup/ /offsite/ &amp;&amp; restic -r /offsite check --read-data</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Schedule backups and apply a retention policy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restic forget --keep-last 1 --dry-run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Backup and Recovery with restic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repository holds no plaintext, the restore brings back the pre-ransomware files with 0 locked files left, and restic check on the off-site replica reports no errors.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spd="med">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3.4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builds a RAID 1 mirror from loop devices, fails a disk and verifies checksums, rebuilds onto a spare, compares RAID 5 capacity, and shows that RAID replicates corruption.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RAID 1 array that survives failure and rebuilds, plus a three-disk RAID 5 array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mdadm, losetup, mkfs.ext4, sha256sum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ransition spd="med">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mdadm and create virtual disks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mdadm &amp;&amp; for d in 1 2 3 4 5 6; do truncate -s 128M disk$d.img; done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Attach the images as loop devices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d in 1 2 3 4 5 6; do losetup -f --show disk$d.img; done | tee loops.txt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RAID 1 mirror and watch it sync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yes | mdadm --create /dev/md10 --level=1 --raid-devices=2 --run "${LO[0]}" "${LO[1]}"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filesystem and record checksums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/mnt/raid/database.bin /mnt/raid/ledger.txt | tee /root/lab27/before.sha256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Fail a disk and prove the data survives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mdadm /dev/md10 --fail "${LO[0]}" &amp;&amp; mdadm /dev/md10 --remove "${LO[0]}"</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Replace the failed disk and rebuild the mirror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mdadm /dev/md10 --add "${LO[2]}" &amp;&amp; cat /proc/mdstat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RAID 5 array and compare capacity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yes | mdadm --create /dev/md11 --level=5 --raid-devices=3 --run ...</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Show that RAID is not a backup, and save the configuration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/root/lab27/before.sha256; mdadm --detail --scan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Storage Resilience with Software RAID (mdadm)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degraded mirror still passes its checksums, returns to clean with 2 active devices after the rebuild, RAID 5 gives about twice the mirror's capacity, and the corrupted ledger fails on a healthy array.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an IaaS deployment, who must patch the guest operating system? A) Cloud provider B) Customer C) Hypervisor vendor D) Internet service provider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water plant's SCADA controller cannot be patched. What is the BEST action? A) Install antivirus B) Segment and monitor it C) Move it to SaaS D) Accept silently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inline IPS must keep traffic flowing if it crashes, because uptime is the priority. Which setting is this? A) Fail-closed B) Fail-open C) Passive D) Tap</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 an 802.1X deployment, which role does the network switch play? A) Supplicant B) Authenticator C) Authentication server D) Certificate authority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control can block SQL injection inside HTTPS requests to a web app? A) Packet filter B) Layer 4 stateful firewall C) WAF D) Jump server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Card numbers are replaced with random values and the originals kept in a secure vault. Which method is this? A) Hashing B) Masking C) Tokenization D) Obfuscation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spd="med">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3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concept means stored data is subject to the laws of the country where it physically resides? A) Geolocation B) Data sovereignty C) Data in use D) Masking</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Which recovery site has hardware and connectivity but needs current data restored before use? A) Hot site B) Warm site C) Cold site D) Mirror site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spd="med">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Customer: in IaaS the provider secures facilities, hardware and hypervisor; the guest OS upward is yours.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B — Segmentation plus monitoring is a compensating control when a system cannot be patched.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B — Fail-open passes traffic when the device fails, favouring availability over inspection.</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B — The switch is the authenticator; the client is the supplicant and RADIUS is the authentication server.</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WAF inspects layer 7 HTTP content after TLS termination; layer 4 devices see only IPs and ports.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C — Tokenization swaps the data for tokens with no mathematical link; only the vault maps them back.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3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B — Data sovereignty ties stored data to the jurisdiction of its physical location.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B — A warm site has equipment ready but needs data and configuration, so recovery takes hours to days.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3.1 Architecture Models: Every architecture model, from an on-premises data centre to serverless cloud functions, moves security responsibilities between the organisation and its providers.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3.2 Securing Enterprise Infrastructure: Securing enterprise infrastructure starts with design: where each device is placed, which security zone it protects and how much attack surface each connection creates.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3.3 Protecting Data: Protecting data starts with knowing what you hold: regulated personal data, trade secrets, intellectual property, legal and financial records, in human- or machine-readable form.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3.4 Resilience and Recovery: Resilience is the ability to keep delivering a service through failure, and recovery is the ability to restore it quickly and completely afterwards.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DOMAIN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4.1 Hardening · 4.2 Assets · 4.3 Vuln mgmt · 4.4 Monitoring · 4.5 Capabilities · 4.6 IAM · 4.7 Automation · 4.8 IR · 4.9 Investigation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EXAM WEIGHTING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4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4.1  Securing Computing Resources</a:t>
            </a:r>
          </a:p>
          <a:p>
            <a:pPr algn="l">
              <a:spcAft>
                <a:spcPts val="300"/>
              </a:spcAft>
            </a:pPr>
            <a:r>
              <a:rPr sz="1200" b="0">
                <a:solidFill>
                  <a:srgbClr val="5B6372"/>
                </a:solidFill>
                <a:latin typeface="Arial"/>
              </a:rPr>
              <a:t>Given a scenario, apply common security techniques to computing resources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  Asset Management</a:t>
            </a:r>
          </a:p>
          <a:p>
            <a:pPr algn="l">
              <a:spcAft>
                <a:spcPts val="300"/>
              </a:spcAft>
            </a:pPr>
            <a:r>
              <a:rPr sz="1200" b="0">
                <a:solidFill>
                  <a:srgbClr val="5B6372"/>
                </a:solidFill>
                <a:latin typeface="Arial"/>
              </a:rPr>
              <a:t>Explain the security implications of proper hardware, software, and data asset management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4.3  Vulnerability Management</a:t>
            </a:r>
          </a:p>
          <a:p>
            <a:pPr algn="l">
              <a:spcAft>
                <a:spcPts val="300"/>
              </a:spcAft>
            </a:pPr>
            <a:r>
              <a:rPr sz="1200" b="0">
                <a:solidFill>
                  <a:srgbClr val="5B6372"/>
                </a:solidFill>
                <a:latin typeface="Arial"/>
              </a:rPr>
              <a:t>Explain various activities associated with vulnerability management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4.4  Alerting &amp; Monitoring</a:t>
            </a:r>
          </a:p>
          <a:p>
            <a:pPr algn="l">
              <a:spcAft>
                <a:spcPts val="300"/>
              </a:spcAft>
            </a:pPr>
            <a:r>
              <a:rPr sz="1200" b="0">
                <a:solidFill>
                  <a:srgbClr val="5B6372"/>
                </a:solidFill>
                <a:latin typeface="Arial"/>
              </a:rPr>
              <a:t>Explain security alerting and monitoring concepts and tools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4.5  Enterprise Security Capabilities</a:t>
            </a:r>
          </a:p>
          <a:p>
            <a:pPr algn="l">
              <a:spcAft>
                <a:spcPts val="300"/>
              </a:spcAft>
            </a:pPr>
            <a:r>
              <a:rPr sz="1200" b="0">
                <a:solidFill>
                  <a:srgbClr val="5B6372"/>
                </a:solidFill>
                <a:latin typeface="Arial"/>
              </a:rPr>
              <a:t>Given a scenario, modify enterprise capabilities to enhance security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4.6  Identity &amp; Access Management</a:t>
            </a:r>
          </a:p>
          <a:p>
            <a:pPr algn="l">
              <a:spcAft>
                <a:spcPts val="300"/>
              </a:spcAft>
            </a:pPr>
            <a:r>
              <a:rPr sz="1200" b="0">
                <a:solidFill>
                  <a:srgbClr val="5B6372"/>
                </a:solidFill>
                <a:latin typeface="Arial"/>
              </a:rPr>
              <a:t>Given a scenario, implement and maintain identity and access 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ransition spd="med">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EXAM WEIGHTING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4 Objectives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4.7  Automation &amp; Orchestration</a:t>
            </a:r>
          </a:p>
          <a:p>
            <a:pPr algn="l">
              <a:spcAft>
                <a:spcPts val="300"/>
              </a:spcAft>
            </a:pPr>
            <a:r>
              <a:rPr sz="1200" b="0">
                <a:solidFill>
                  <a:srgbClr val="5B6372"/>
                </a:solidFill>
                <a:latin typeface="Arial"/>
              </a:rPr>
              <a:t>Explain the importance of automation and orchestration related to secure operations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4.8  Incident Response</a:t>
            </a:r>
          </a:p>
          <a:p>
            <a:pPr algn="l">
              <a:spcAft>
                <a:spcPts val="300"/>
              </a:spcAft>
            </a:pPr>
            <a:r>
              <a:rPr sz="1200" b="0">
                <a:solidFill>
                  <a:srgbClr val="5B6372"/>
                </a:solidFill>
                <a:latin typeface="Arial"/>
              </a:rPr>
              <a:t>Explain appropriate incident response activities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4.9  Investigation Data Sources</a:t>
            </a:r>
          </a:p>
          <a:p>
            <a:pPr algn="l">
              <a:spcAft>
                <a:spcPts val="300"/>
              </a:spcAft>
            </a:pPr>
            <a:r>
              <a:rPr sz="1200" b="0">
                <a:solidFill>
                  <a:srgbClr val="5B6372"/>
                </a:solidFill>
                <a:latin typeface="Arial"/>
              </a:rPr>
              <a:t>Given a scenario, use data sources to support an investigation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28–33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28. Mobile and Endpoint Hardening Baseline</a:t>
            </a:r>
          </a:p>
          <a:p>
            <a:pPr>
              <a:spcAft>
                <a:spcPts val="900"/>
              </a:spcAft>
            </a:pPr>
            <a:r>
              <a:rPr sz="1400" b="0">
                <a:solidFill>
                  <a:srgbClr val="161B26"/>
                </a:solidFill>
                <a:latin typeface="Arial"/>
              </a:rPr>
              <a:t>•  29. Application Security: Validation, SAST and Code Signing</a:t>
            </a:r>
          </a:p>
          <a:p>
            <a:pPr>
              <a:spcAft>
                <a:spcPts val="900"/>
              </a:spcAft>
            </a:pPr>
            <a:r>
              <a:rPr sz="1400" b="0">
                <a:solidFill>
                  <a:srgbClr val="161B26"/>
                </a:solidFill>
                <a:latin typeface="Arial"/>
              </a:rPr>
              <a:t>•  30. Asset Inventory, Media Sanitisation and Disposal Certificate</a:t>
            </a:r>
          </a:p>
          <a:p>
            <a:pPr>
              <a:spcAft>
                <a:spcPts val="900"/>
              </a:spcAft>
            </a:pPr>
            <a:r>
              <a:rPr sz="1400" b="0">
                <a:solidFill>
                  <a:srgbClr val="161B26"/>
                </a:solidFill>
                <a:latin typeface="Arial"/>
              </a:rPr>
              <a:t>•  31. Vulnerability Scanning, Confirmation and Rescan</a:t>
            </a:r>
          </a:p>
          <a:p>
            <a:pPr>
              <a:spcAft>
                <a:spcPts val="900"/>
              </a:spcAft>
            </a:pPr>
            <a:r>
              <a:rPr sz="1400" b="0">
                <a:solidFill>
                  <a:srgbClr val="161B26"/>
                </a:solidFill>
                <a:latin typeface="Arial"/>
              </a:rPr>
              <a:t>•  32. Vulnerability Management Pipeline with Trivy</a:t>
            </a:r>
          </a:p>
          <a:p>
            <a:pPr>
              <a:spcAft>
                <a:spcPts val="900"/>
              </a:spcAft>
            </a:pPr>
            <a:r>
              <a:rPr sz="1400" b="0">
                <a:solidFill>
                  <a:srgbClr val="161B26"/>
                </a:solidFill>
                <a:latin typeface="Arial"/>
              </a:rPr>
              <a:t>•  33. SIEM Alerting and Monitoring with Wazuh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34–39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34. File Integrity Monitoring with AIDE</a:t>
            </a:r>
          </a:p>
          <a:p>
            <a:pPr>
              <a:spcAft>
                <a:spcPts val="900"/>
              </a:spcAft>
            </a:pPr>
            <a:r>
              <a:rPr sz="1400" b="0">
                <a:solidFill>
                  <a:srgbClr val="161B26"/>
                </a:solidFill>
                <a:latin typeface="Arial"/>
              </a:rPr>
              <a:t>•  35. Secure Remote Access: SSH Hardening and Fail2ban</a:t>
            </a:r>
          </a:p>
          <a:p>
            <a:pPr>
              <a:spcAft>
                <a:spcPts val="900"/>
              </a:spcAft>
            </a:pPr>
            <a:r>
              <a:rPr sz="1400" b="0">
                <a:solidFill>
                  <a:srgbClr val="161B26"/>
                </a:solidFill>
                <a:latin typeface="Arial"/>
              </a:rPr>
              <a:t>•  36. Network IDS with Suricata</a:t>
            </a:r>
          </a:p>
          <a:p>
            <a:pPr>
              <a:spcAft>
                <a:spcPts val="900"/>
              </a:spcAft>
            </a:pPr>
            <a:r>
              <a:rPr sz="1400" b="0">
                <a:solidFill>
                  <a:srgbClr val="161B26"/>
                </a:solidFill>
                <a:latin typeface="Arial"/>
              </a:rPr>
              <a:t>•  37. Endpoint Detection and Response with osquery</a:t>
            </a:r>
          </a:p>
          <a:p>
            <a:pPr>
              <a:spcAft>
                <a:spcPts val="900"/>
              </a:spcAft>
            </a:pPr>
            <a:r>
              <a:rPr sz="1400" b="0">
                <a:solidFill>
                  <a:srgbClr val="161B26"/>
                </a:solidFill>
                <a:latin typeface="Arial"/>
              </a:rPr>
              <a:t>•  38. Identity &amp; Access Management with PAM and sudo</a:t>
            </a:r>
          </a:p>
          <a:p>
            <a:pPr>
              <a:spcAft>
                <a:spcPts val="900"/>
              </a:spcAft>
            </a:pPr>
            <a:r>
              <a:rPr sz="1400" b="0">
                <a:solidFill>
                  <a:srgbClr val="161B26"/>
                </a:solidFill>
                <a:latin typeface="Arial"/>
              </a:rPr>
              <a:t>•  39. Multifactor Authentication with TOTP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40–44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40. Automation and Orchestration with a Mini-SOAR Playbook</a:t>
            </a:r>
          </a:p>
          <a:p>
            <a:pPr>
              <a:spcAft>
                <a:spcPts val="900"/>
              </a:spcAft>
            </a:pPr>
            <a:r>
              <a:rPr sz="1400" b="0">
                <a:solidFill>
                  <a:srgbClr val="161B26"/>
                </a:solidFill>
                <a:latin typeface="Arial"/>
              </a:rPr>
              <a:t>•  41. Incident Response: Live Triage</a:t>
            </a:r>
          </a:p>
          <a:p>
            <a:pPr>
              <a:spcAft>
                <a:spcPts val="900"/>
              </a:spcAft>
            </a:pPr>
            <a:r>
              <a:rPr sz="1400" b="0">
                <a:solidFill>
                  <a:srgbClr val="161B26"/>
                </a:solidFill>
                <a:latin typeface="Arial"/>
              </a:rPr>
              <a:t>•  42. Digital Forensics: Acquisition &amp; Chain of Custody</a:t>
            </a:r>
          </a:p>
          <a:p>
            <a:pPr>
              <a:spcAft>
                <a:spcPts val="900"/>
              </a:spcAft>
            </a:pPr>
            <a:r>
              <a:rPr sz="1400" b="0">
                <a:solidFill>
                  <a:srgbClr val="161B26"/>
                </a:solidFill>
                <a:latin typeface="Arial"/>
              </a:rPr>
              <a:t>•  43. Packet Capture and Traffic Analysis with tcpdump and tshark</a:t>
            </a:r>
          </a:p>
          <a:p>
            <a:pPr>
              <a:spcAft>
                <a:spcPts val="900"/>
              </a:spcAft>
            </a:pPr>
            <a:r>
              <a:rPr sz="1400" b="0">
                <a:solidFill>
                  <a:srgbClr val="161B26"/>
                </a:solidFill>
                <a:latin typeface="Arial"/>
              </a:rPr>
              <a:t>•  44. Log Investigation: Building an Attack Timeline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Securing Computing Resources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Baselines · Hardening · Wireless · Mobile · WPA3 · Application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spd="med">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SECURE BASELINES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Establish, Deploy, Maintain a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Establish: agree the minimum secure config per system class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Benchmark it against CIS or a vendor STIG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Deploy it to every host, ideally through automation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 drift and remediate hosts that fall out of spec</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Maintain: review and update as threats and the estate change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spd="med">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HARDENING TARGETS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Hardening Targets and What Each Needs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Workstations &amp; servers</a:t>
            </a:r>
          </a:p>
          <a:p>
            <a:pPr algn="l">
              <a:spcAft>
                <a:spcPts val="300"/>
              </a:spcAft>
            </a:pPr>
            <a:r>
              <a:rPr sz="1200" b="0">
                <a:solidFill>
                  <a:srgbClr val="5B6372"/>
                </a:solidFill>
                <a:latin typeface="Arial"/>
              </a:rPr>
              <a:t>Patch, disable unused services, enforce least privilege, enable host firewall and disk encryption, and remove default accounts.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Switches &amp; routers</a:t>
            </a:r>
          </a:p>
          <a:p>
            <a:pPr algn="l">
              <a:spcAft>
                <a:spcPts val="300"/>
              </a:spcAft>
            </a:pPr>
            <a:r>
              <a:rPr sz="1200" b="0">
                <a:solidFill>
                  <a:srgbClr val="5B6372"/>
                </a:solidFill>
                <a:latin typeface="Arial"/>
              </a:rPr>
              <a:t>Change default credentials, disable unused ports and management protocols, enable port security, and separate the management plane.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infrastructure</a:t>
            </a:r>
          </a:p>
          <a:p>
            <a:pPr algn="l">
              <a:spcAft>
                <a:spcPts val="300"/>
              </a:spcAft>
            </a:pPr>
            <a:r>
              <a:rPr sz="1200" b="0">
                <a:solidFill>
                  <a:srgbClr val="5B6372"/>
                </a:solidFill>
                <a:latin typeface="Arial"/>
              </a:rPr>
              <a:t>Harden identity and network controls, lock down storage buckets and security groups, and apply benchmarks to images before they ship.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ICS/SCADA</a:t>
            </a:r>
          </a:p>
          <a:p>
            <a:pPr algn="l">
              <a:spcAft>
                <a:spcPts val="300"/>
              </a:spcAft>
            </a:pPr>
            <a:r>
              <a:rPr sz="1200" b="0">
                <a:solidFill>
                  <a:srgbClr val="5B6372"/>
                </a:solidFill>
                <a:latin typeface="Arial"/>
              </a:rPr>
              <a:t>Operational technology that is rarely patched; protect it with segmentation and monitoring rather than agents, because availability is paramount.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Embedded &amp; RTOS</a:t>
            </a:r>
          </a:p>
          <a:p>
            <a:pPr algn="l">
              <a:spcAft>
                <a:spcPts val="300"/>
              </a:spcAft>
            </a:pPr>
            <a:r>
              <a:rPr sz="1200" b="0">
                <a:solidFill>
                  <a:srgbClr val="5B6372"/>
                </a:solidFill>
                <a:latin typeface="Arial"/>
              </a:rPr>
              <a:t>Fixed-function and real-time systems with little room for security software; rely on firmware signing, minimal interfaces and isolation.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IoT devices</a:t>
            </a:r>
          </a:p>
          <a:p>
            <a:pPr algn="l">
              <a:spcAft>
                <a:spcPts val="300"/>
              </a:spcAft>
            </a:pPr>
            <a:r>
              <a:rPr sz="1200" b="0">
                <a:solidFill>
                  <a:srgbClr val="5B6372"/>
                </a:solidFill>
                <a:latin typeface="Arial"/>
              </a:rPr>
              <a:t>Weak defaults and long lifecycles; change credentials, update firmware and place them on an isolated network segment.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spd="med">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HARDENING TECHNIQUES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 Actually Harden a Host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Change every default credential and default setting on routers, access points, firewalls and operating systems before go-live.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Disable or uninstall any service, program or port that is not required, because each one is attack surface a threat actor can use.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the principle of least privilege to accounts and services, so a compromise of one does not grant access to everything.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Keep systems patched; unsupported, end-of-life hardware, firmware and software are weaknesses even when nothing is misconfigured.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Encrypt data at rest (full disk or file level) so a lost or stolen device does not leak its contents.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spd="med">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WIRELESS INSTALLATION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Wireless Placement: Surveys and Heat Maps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 survey</a:t>
            </a:r>
          </a:p>
          <a:p>
            <a:pPr algn="l">
              <a:spcAft>
                <a:spcPts val="300"/>
              </a:spcAft>
            </a:pPr>
            <a:r>
              <a:rPr sz="1200" b="0">
                <a:solidFill>
                  <a:srgbClr val="5B6372"/>
                </a:solidFill>
                <a:latin typeface="Arial"/>
              </a:rPr>
              <a:t>Walk the floor plan measuring real signal strength and interference, so access points are placed where coverage is actually needed.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A colour map over the building layout showing where the signal is strong, weak or absent, revealing both dead zones and over-coverage.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Central placement</a:t>
            </a:r>
          </a:p>
          <a:p>
            <a:pPr algn="l">
              <a:spcAft>
                <a:spcPts val="300"/>
              </a:spcAft>
            </a:pPr>
            <a:r>
              <a:rPr sz="1200" b="0">
                <a:solidFill>
                  <a:srgbClr val="5B6372"/>
                </a:solidFill>
                <a:latin typeface="Arial"/>
              </a:rPr>
              <a:t>Put an access point centrally rather than on an outside wall, so coverage reaches the whole area without bleeding outside.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tuning</a:t>
            </a:r>
          </a:p>
          <a:p>
            <a:pPr algn="l">
              <a:spcAft>
                <a:spcPts val="300"/>
              </a:spcAft>
            </a:pPr>
            <a:r>
              <a:rPr sz="1200" b="0">
                <a:solidFill>
                  <a:srgbClr val="5B6372"/>
                </a:solidFill>
                <a:latin typeface="Arial"/>
              </a:rPr>
              <a:t>Turn transmit power down until the usable signal stops near the outer wall, so an attacker in the car park cannot reach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Frequency</a:t>
            </a:r>
          </a:p>
          <a:p>
            <a:pPr algn="l">
              <a:spcAft>
                <a:spcPts val="300"/>
              </a:spcAft>
            </a:pPr>
            <a:r>
              <a:rPr sz="1200" b="0">
                <a:solidFill>
                  <a:srgbClr val="5B6372"/>
                </a:solidFill>
                <a:latin typeface="Arial"/>
              </a:rPr>
              <a:t>2.4 GHz penetrates walls but is crowded; 5 GHz is faster and cleaner but is stopped more easily by walls and objects.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spd="med">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MOBILE DEPLOYMENT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MDM and the Deployment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MDM</a:t>
            </a:r>
          </a:p>
          <a:p>
            <a:pPr algn="l">
              <a:spcAft>
                <a:spcPts val="300"/>
              </a:spcAft>
            </a:pPr>
            <a:r>
              <a:rPr sz="1200" b="0">
                <a:solidFill>
                  <a:srgbClr val="5B6372"/>
                </a:solidFill>
                <a:latin typeface="Arial"/>
              </a:rPr>
              <a:t>Mobile device management enforces policy centrally: passcode, encryption, app control, remote lock and wipe across the whole fleet.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BYOD</a:t>
            </a:r>
          </a:p>
          <a:p>
            <a:pPr algn="l">
              <a:spcAft>
                <a:spcPts val="300"/>
              </a:spcAft>
            </a:pPr>
            <a:r>
              <a:rPr sz="1200" b="0">
                <a:solidFill>
                  <a:srgbClr val="5B6372"/>
                </a:solidFill>
                <a:latin typeface="Arial"/>
              </a:rPr>
              <a:t>Bring your own device: the staff own it; cheapest, but mixing personal and corporate data makes control and privacy hardest.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COPE</a:t>
            </a:r>
          </a:p>
          <a:p>
            <a:pPr algn="l">
              <a:spcAft>
                <a:spcPts val="300"/>
              </a:spcAft>
            </a:pPr>
            <a:r>
              <a:rPr sz="1200" b="0">
                <a:solidFill>
                  <a:srgbClr val="5B6372"/>
                </a:solidFill>
                <a:latin typeface="Arial"/>
              </a:rPr>
              <a:t>Corporate-owned, personally enabled: the company owns it and allows some personal use within an acceptable use policy; strong control.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CYOD</a:t>
            </a:r>
          </a:p>
          <a:p>
            <a:pPr algn="l">
              <a:spcAft>
                <a:spcPts val="300"/>
              </a:spcAft>
            </a:pPr>
            <a:r>
              <a:rPr sz="1200" b="0">
                <a:solidFill>
                  <a:srgbClr val="5B6372"/>
                </a:solidFill>
                <a:latin typeface="Arial"/>
              </a:rPr>
              <a:t>Choose your own device: the company owns a device the user picked from an approved list; balances control with user preference.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Containerisation</a:t>
            </a:r>
          </a:p>
          <a:p>
            <a:pPr algn="l">
              <a:spcAft>
                <a:spcPts val="300"/>
              </a:spcAft>
            </a:pPr>
            <a:r>
              <a:rPr sz="1200" b="0">
                <a:solidFill>
                  <a:srgbClr val="5B6372"/>
                </a:solidFill>
                <a:latin typeface="Arial"/>
              </a:rPr>
              <a:t>MDM separates a managed work profile from personal data, so a selective wipe removes only corporate data on BYOD.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spd="med">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CONNECTION METHODS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Connection Methods and Their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Cellular</a:t>
            </a:r>
          </a:p>
          <a:p>
            <a:pPr algn="l">
              <a:spcAft>
                <a:spcPts val="300"/>
              </a:spcAft>
            </a:pPr>
            <a:r>
              <a:rPr sz="1200" b="0">
                <a:solidFill>
                  <a:srgbClr val="5B6372"/>
                </a:solidFill>
                <a:latin typeface="Arial"/>
              </a:rPr>
              <a:t>The carrier's own network; convenient and widely available, but out of the organisation's direct control and open to rogue base stations.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Wi-Fi</a:t>
            </a:r>
          </a:p>
          <a:p>
            <a:pPr algn="l">
              <a:spcAft>
                <a:spcPts val="300"/>
              </a:spcAft>
            </a:pPr>
            <a:r>
              <a:rPr sz="1200" b="0">
                <a:solidFill>
                  <a:srgbClr val="5B6372"/>
                </a:solidFill>
                <a:latin typeface="Arial"/>
              </a:rPr>
              <a:t>Fast and cheap, but open and rogue access points and evil-twin attacks make strong encryption and authentication essential.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Bluetooth</a:t>
            </a:r>
          </a:p>
          <a:p>
            <a:pPr algn="l">
              <a:spcAft>
                <a:spcPts val="300"/>
              </a:spcAft>
            </a:pPr>
            <a:r>
              <a:rPr sz="1200" b="0">
                <a:solidFill>
                  <a:srgbClr val="5B6372"/>
                </a:solidFill>
                <a:latin typeface="Arial"/>
              </a:rPr>
              <a:t>Short-range peripheral pairing; disable it when unused and beware bluejacking, bluesnarfing and unexpected pairing requests.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Hotspot &amp; tethering</a:t>
            </a:r>
          </a:p>
          <a:p>
            <a:pPr algn="l">
              <a:spcAft>
                <a:spcPts val="300"/>
              </a:spcAft>
            </a:pPr>
            <a:r>
              <a:rPr sz="1200" b="0">
                <a:solidFill>
                  <a:srgbClr val="5B6372"/>
                </a:solidFill>
                <a:latin typeface="Arial"/>
              </a:rPr>
              <a:t>A phone sharing its cellular link; useful, but it can bypass the corporate web filter and expose the device to other clients.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spd="med">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WIRELESS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WPA3 and the Wireless Security Settings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WPA3</a:t>
            </a:r>
          </a:p>
          <a:p>
            <a:pPr algn="l">
              <a:spcAft>
                <a:spcPts val="300"/>
              </a:spcAft>
            </a:pPr>
            <a:r>
              <a:rPr sz="1100" b="0">
                <a:solidFill>
                  <a:srgbClr val="5B6372"/>
                </a:solidFill>
                <a:latin typeface="Arial"/>
              </a:rPr>
              <a:t>The current standard; use it where devices support it. WEP, then WPA, then WPA2 are progressively older and weaker.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SAE</a:t>
            </a:r>
          </a:p>
          <a:p>
            <a:pPr algn="l">
              <a:spcAft>
                <a:spcPts val="300"/>
              </a:spcAft>
            </a:pPr>
            <a:r>
              <a:rPr sz="1100" b="0">
                <a:solidFill>
                  <a:srgbClr val="5B6372"/>
                </a:solidFill>
                <a:latin typeface="Arial"/>
              </a:rPr>
              <a:t>WPA3-Personal replaces the WPA2 pre-shared key handshake with Simultaneous Authentication of Equals, defeating offline cracking.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AAA/RADIUS</a:t>
            </a:r>
          </a:p>
          <a:p>
            <a:pPr algn="l">
              <a:spcAft>
                <a:spcPts val="300"/>
              </a:spcAft>
            </a:pPr>
            <a:r>
              <a:rPr sz="1100" b="0">
                <a:solidFill>
                  <a:srgbClr val="5B6372"/>
                </a:solidFill>
                <a:latin typeface="Arial"/>
              </a:rPr>
              <a:t>WPA3-Enterprise authenticates each user to a RADIUS server (802.1X), so access is per-identity, not one shared passphrase.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Cryptographic protocols</a:t>
            </a:r>
          </a:p>
          <a:p>
            <a:pPr algn="l">
              <a:spcAft>
                <a:spcPts val="300"/>
              </a:spcAft>
            </a:pPr>
            <a:r>
              <a:rPr sz="1100" b="0">
                <a:solidFill>
                  <a:srgbClr val="5B6372"/>
                </a:solidFill>
                <a:latin typeface="Arial"/>
              </a:rPr>
              <a:t>WPA3 mandates stronger ciphers (GCMP/AES) and protected management frames, closing WPA2 weaknesses.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Authentication protocols</a:t>
            </a:r>
          </a:p>
          <a:p>
            <a:pPr algn="l">
              <a:spcAft>
                <a:spcPts val="300"/>
              </a:spcAft>
            </a:pPr>
            <a:r>
              <a:rPr sz="1100" b="0">
                <a:solidFill>
                  <a:srgbClr val="5B6372"/>
                </a:solidFill>
                <a:latin typeface="Arial"/>
              </a:rPr>
              <a:t>EAP variants such as EAP-TLS (certificates) and PEAP carry the 802.1X conversation between client and RADIUS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spd="med">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APPLICATION SECURITY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Security into Applications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Validate input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Treat all input as hostile until proven safe</a:t>
            </a:r>
          </a:p>
          <a:p>
            <a:pPr>
              <a:spcAft>
                <a:spcPts val="900"/>
              </a:spcAft>
            </a:pPr>
            <a:r>
              <a:rPr sz="1400" b="0">
                <a:solidFill>
                  <a:srgbClr val="161B26"/>
                </a:solidFill>
                <a:latin typeface="Arial"/>
              </a:rPr>
              <a:t>•  Allow-list good values; do not just block bad ones</a:t>
            </a:r>
          </a:p>
          <a:p>
            <a:pPr>
              <a:spcAft>
                <a:spcPts val="900"/>
              </a:spcAft>
            </a:pPr>
            <a:r>
              <a:rPr sz="1400" b="0">
                <a:solidFill>
                  <a:srgbClr val="161B26"/>
                </a:solidFill>
                <a:latin typeface="Arial"/>
              </a:rPr>
              <a:t>•  Stops injection, XSS and path traversal at the door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Secure cookies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flag: send the cookie over HTTPS only</a:t>
            </a:r>
          </a:p>
          <a:p>
            <a:pPr>
              <a:spcAft>
                <a:spcPts val="900"/>
              </a:spcAft>
            </a:pPr>
            <a:r>
              <a:rPr sz="1400" b="0">
                <a:solidFill>
                  <a:srgbClr val="161B26"/>
                </a:solidFill>
                <a:latin typeface="Arial"/>
              </a:rPr>
              <a:t>•  HttpOnly: hide it from client-side JavaScript</a:t>
            </a:r>
          </a:p>
          <a:p>
            <a:pPr>
              <a:spcAft>
                <a:spcPts val="900"/>
              </a:spcAft>
            </a:pPr>
            <a:r>
              <a:rPr sz="1400" b="0">
                <a:solidFill>
                  <a:srgbClr val="161B26"/>
                </a:solidFill>
                <a:latin typeface="Arial"/>
              </a:rPr>
              <a:t>•  SameSite: limit cross-site sending to curb CSRF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Verify the build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Static code analysis (SAST) scans source for flaws</a:t>
            </a:r>
          </a:p>
          <a:p>
            <a:pPr>
              <a:spcAft>
                <a:spcPts val="900"/>
              </a:spcAft>
            </a:pPr>
            <a:r>
              <a:rPr sz="1400" b="0">
                <a:solidFill>
                  <a:srgbClr val="161B26"/>
                </a:solidFill>
                <a:latin typeface="Arial"/>
              </a:rPr>
              <a:t>•  Code signing proves authorship and integrity</a:t>
            </a:r>
          </a:p>
          <a:p>
            <a:pPr>
              <a:spcAft>
                <a:spcPts val="900"/>
              </a:spcAft>
            </a:pPr>
            <a:r>
              <a:rPr sz="1400" b="0">
                <a:solidFill>
                  <a:srgbClr val="161B26"/>
                </a:solidFill>
                <a:latin typeface="Arial"/>
              </a:rPr>
              <a:t>•  A failed signature means do not install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spd="med">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CONTAINMENT &amp; VISIBILITY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Sandboxing and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Sandboxing</a:t>
            </a:r>
          </a:p>
          <a:p>
            <a:pPr algn="l">
              <a:spcAft>
                <a:spcPts val="300"/>
              </a:spcAft>
            </a:pPr>
            <a:r>
              <a:rPr sz="1200" b="0">
                <a:solidFill>
                  <a:srgbClr val="5B6372"/>
                </a:solidFill>
                <a:latin typeface="Arial"/>
              </a:rPr>
              <a:t>Run untrusted or new code in an isolated environment with no access to the host, so malicious behaviour is contained and observed.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Test before deploy</a:t>
            </a:r>
          </a:p>
          <a:p>
            <a:pPr algn="l">
              <a:spcAft>
                <a:spcPts val="300"/>
              </a:spcAft>
            </a:pPr>
            <a:r>
              <a:rPr sz="1200" b="0">
                <a:solidFill>
                  <a:srgbClr val="5B6372"/>
                </a:solidFill>
                <a:latin typeface="Arial"/>
              </a:rPr>
              <a:t>Validate a baseline or patch in a sandbox or test environment first, so a bad change does not break production hosts.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Monitoring</a:t>
            </a:r>
          </a:p>
          <a:p>
            <a:pPr algn="l">
              <a:spcAft>
                <a:spcPts val="300"/>
              </a:spcAft>
            </a:pPr>
            <a:r>
              <a:rPr sz="1200" b="0">
                <a:solidFill>
                  <a:srgbClr val="5B6372"/>
                </a:solidFill>
                <a:latin typeface="Arial"/>
              </a:rPr>
              <a:t>Continuously watch the resource after deployment; a hardened host still drifts, and only monitoring tells you when it does.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loop</a:t>
            </a:r>
          </a:p>
          <a:p>
            <a:pPr algn="l">
              <a:spcAft>
                <a:spcPts val="300"/>
              </a:spcAft>
            </a:pPr>
            <a:r>
              <a:rPr sz="1200" b="0">
                <a:solidFill>
                  <a:srgbClr val="5B6372"/>
                </a:solidFill>
                <a:latin typeface="Arial"/>
              </a:rPr>
              <a:t>Monitoring findings feed back into the baseline, so the minimum secure configuration keeps pace with real-world threats.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spd="med">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Securing Computing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Establish, deploy, maintain is the baseline lifecycle; drift means a host no longer matches the approved baseline.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Site survey measures signal; heat map visualises it. Both drive access-point placement and power tuning.</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BYOD = staff-owned; COPE = company-owned, personal use allowed; CYOD = company-owned, user chose it from a list.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WPA3-Personal uses SAE; WPA3-Enterprise uses 802.1X with a RADIUS (AAA) server for per-user authentication.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Secure cookie flags: Secure (HTTPS only), HttpOnly (no JavaScript access), SameSite (anti-CSRF).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ransition spd="med">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establishes a secure endpoint baseline (passcode, screen lock, encryption, app control, radios, root detection) and proves it with a PASS/FAIL compliance script.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baseline policy file, a WPA3-Enterprise Wi-Fi profile, the enforced settings and a 9/9 compliance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libpam-pwquality, dconf-cli, cryptsetup,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ransition spd="med">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libpam-pwquality libpwquality-tools dconf-cli cryptsetup jq</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Establish the baseline and the Wi-Fi profile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/etc/baseline; cat &gt; /etc/baseline/endpoint-baseline.json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Deploy the passcode policy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/etc/security/pwquality.conf.d/50-baseline.conf &lt;&lt;'EOF'  (minlen=12 minclass=3)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screen lock and idle timeout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/etc/profile.d/99-idle-lock.sh &lt;&lt;'EOF'  (TMOUT=600; readonly TMOUT)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spd="med">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Require encryption for the secure folder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--batch-mode --type luks2 /root/secure-folder.img /root/secure-folder.key</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the app deny-list and block sideloading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/etc/apt/preferences.d/99-baseline-deny-list &lt;&lt;'EOF'  (Pin-Priority: -1)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Disable unneeded radios and services, and detect root-level tampering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disable --now bluetooth.service 2&gt;/dev/null || echo 'no bluetooth service'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compliance with a check script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/usr/local/sbin/baseline-check &lt;&lt;'EOF'  then run baseline-check</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spd="med">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Mobile and Endpoint Hardening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baseline-check prints 'Result: 9 passed, 0 failed' with exit 0; removing the noexec mount makes one check FAIL with exit 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spd="med">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scans a Python app with Bandit, fixes it with input validation and parameterised queries, sets secure cookie flags, GPG-signs a release, detects tampering and sandboxes untrusted code.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vulnerable and fixed app, before/after Bandit reports, a secure-cookie server and a GPG-signed release.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bandit (venv), gnupg, systemd-run,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spd="med">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venv /opt/sast &amp;&amp; /opt/sast/bin/pip install -q bandit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vulnerable application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/opt/appsec/vuln; cat &gt; /opt/appsec/vuln/lookup.py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static analysis with Bandit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/opt/sast/bin/bandit -r vuln -f json -o bandit-before.json || echo 'issues found'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SQL injection dynamically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vuln/lookup.py "x' OR '1'='1"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spd="med">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Fix the code with validation and parameterisation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/opt/appsec/fixed; cat &gt; /opt/appsec/fixed/lookup.py &lt;&lt;'EOF'  (allow-list regex)</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Issue cookies with secure flags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/opt/appsec/cookie_server.py &lt;&lt;'EOF'  (Set-Cookie: Secure; HttpOnly; SameSite)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Sign the release with GPG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--batch --gen-key keyparams; gpg --armor --detach-sign lookup-1.0.tar.gz</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a tampered release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gpg --verify lookup-1.0.tar.gz.asc lookup-1.0-tampered.tar.gz || echo 'SIGNATURE CHECK FAILED'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spd="med">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Run untrusted code in a sandbox</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systemd-run --wait --pipe -p ProtectSystem=strict -p PrivateNetwork=yes /bin/sh -c '...'</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spd="med">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Application Security: Validation, SAST and Code Signing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Bandit on the fixed code exits 0, the fixed app rejects the injection input, and GPG reports 'Good signature' for the original but 'BAD signature' for the tampered copy.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spd="med">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Asset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Acquisition · Ownership &amp; classification · Inventory · Disposal · Sanitisation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ransition spd="med">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ASSET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Asset Management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Acquisition/procurement: buy through a vetted process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Assignment: record an owner and a classification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Inventory: enumerate and track the asset in use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Monitoring: keep location, state and config current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Disposal: sanitise or destroy, then certify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ransition spd="med">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ACQUISITION &amp; OWNERSHIP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Procurement, Ownership and Classification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Acquisition/procurement</a:t>
            </a:r>
          </a:p>
          <a:p>
            <a:pPr algn="l">
              <a:spcAft>
                <a:spcPts val="300"/>
              </a:spcAft>
            </a:pPr>
            <a:r>
              <a:rPr sz="1200" b="0">
                <a:solidFill>
                  <a:srgbClr val="5B6372"/>
                </a:solidFill>
                <a:latin typeface="Arial"/>
              </a:rPr>
              <a:t>Buy hardware and software through an approved, security-reviewed process, so supply-chain and licensing risk is controlled from day 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Every asset has a named owner accountable for its security decisions, and a custodian who handles day-to-day operation.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Label the data the asset holds (for example Public, Internal, Confidential, Restricted); the label drives how it must be handled and disposed of.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Accounting</a:t>
            </a:r>
          </a:p>
          <a:p>
            <a:pPr algn="l">
              <a:spcAft>
                <a:spcPts val="300"/>
              </a:spcAft>
            </a:pPr>
            <a:r>
              <a:rPr sz="1200" b="0">
                <a:solidFill>
                  <a:srgbClr val="5B6372"/>
                </a:solidFill>
                <a:latin typeface="Arial"/>
              </a:rPr>
              <a:t>Tie the asset to a cost centre and the owner, so nothing is unmanaged and every device has someone responsible for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spd="med">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TRACKING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Inventory, Enumeration and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Inventory</a:t>
            </a:r>
          </a:p>
          <a:p>
            <a:pPr algn="l">
              <a:spcAft>
                <a:spcPts val="300"/>
              </a:spcAft>
            </a:pPr>
            <a:r>
              <a:rPr sz="1200" b="0">
                <a:solidFill>
                  <a:srgbClr val="5B6372"/>
                </a:solidFill>
                <a:latin typeface="Arial"/>
              </a:rPr>
              <a:t>The authoritative list of every hardware and software asset; if it is not on the inventory, it is not being patched, scanned or protected.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Enumeration</a:t>
            </a:r>
          </a:p>
          <a:p>
            <a:pPr algn="l">
              <a:spcAft>
                <a:spcPts val="300"/>
              </a:spcAft>
            </a:pPr>
            <a:r>
              <a:rPr sz="1200" b="0">
                <a:solidFill>
                  <a:srgbClr val="5B6372"/>
                </a:solidFill>
                <a:latin typeface="Arial"/>
              </a:rPr>
              <a:t>Actively discovering assets on the network, so shadow IT and forgotten hosts are added to the inventory rather than missed.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tracking</a:t>
            </a:r>
          </a:p>
          <a:p>
            <a:pPr algn="l">
              <a:spcAft>
                <a:spcPts val="300"/>
              </a:spcAft>
            </a:pPr>
            <a:r>
              <a:rPr sz="1200" b="0">
                <a:solidFill>
                  <a:srgbClr val="5B6372"/>
                </a:solidFill>
                <a:latin typeface="Arial"/>
              </a:rPr>
              <a:t>Keep each record current with location, owner, state and configuration, so audits and incident response have accurate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Tagging</a:t>
            </a:r>
          </a:p>
          <a:p>
            <a:pPr algn="l">
              <a:spcAft>
                <a:spcPts val="300"/>
              </a:spcAft>
            </a:pPr>
            <a:r>
              <a:rPr sz="1200" b="0">
                <a:solidFill>
                  <a:srgbClr val="5B6372"/>
                </a:solidFill>
                <a:latin typeface="Arial"/>
              </a:rPr>
              <a:t>A unique asset tag or serial ties the physical device to its record, which is essential evidence on a disposal certificate.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spd="med">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DISPOSAL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Disposal and Decommissioning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Sanitisation</a:t>
            </a:r>
          </a:p>
          <a:p>
            <a:pPr algn="l">
              <a:spcAft>
                <a:spcPts val="300"/>
              </a:spcAft>
            </a:pPr>
            <a:r>
              <a:rPr sz="1100" b="0">
                <a:solidFill>
                  <a:srgbClr val="5B6372"/>
                </a:solidFill>
                <a:latin typeface="Arial"/>
              </a:rPr>
              <a:t>Remove data so it cannot be recovered, while the media may be reused: overwrite (Clear) or cryptographic erase (Purge).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Destruction</a:t>
            </a:r>
          </a:p>
          <a:p>
            <a:pPr algn="l">
              <a:spcAft>
                <a:spcPts val="300"/>
              </a:spcAft>
            </a:pPr>
            <a:r>
              <a:rPr sz="1100" b="0">
                <a:solidFill>
                  <a:srgbClr val="5B6372"/>
                </a:solidFill>
                <a:latin typeface="Arial"/>
              </a:rPr>
              <a:t>Physically destroy the media by shredding, degaussing or incineration when reuse is not required or the data is highly sensitive.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Certification</a:t>
            </a:r>
          </a:p>
          <a:p>
            <a:pPr algn="l">
              <a:spcAft>
                <a:spcPts val="300"/>
              </a:spcAft>
            </a:pPr>
            <a:r>
              <a:rPr sz="1100" b="0">
                <a:solidFill>
                  <a:srgbClr val="5B6372"/>
                </a:solidFill>
                <a:latin typeface="Arial"/>
              </a:rPr>
              <a:t>A signed certificate of sanitisation records the asset, method, operator and verification, proving the data was removed.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retention</a:t>
            </a:r>
          </a:p>
          <a:p>
            <a:pPr algn="l">
              <a:spcAft>
                <a:spcPts val="300"/>
              </a:spcAft>
            </a:pPr>
            <a:r>
              <a:rPr sz="1100" b="0">
                <a:solidFill>
                  <a:srgbClr val="5B6372"/>
                </a:solidFill>
                <a:latin typeface="Arial"/>
              </a:rPr>
              <a:t>Check retention and any legal hold BEFORE disposal; destroying data still under a retention requirement is itself a compliance failure.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spd="med">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4.2 · DELETE VS SANITISE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Deleting Is Not Sanitising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Ordinary delete / format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Sanitisation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Removes only the file system pointers to the data.</a:t>
            </a:r>
          </a:p>
          <a:p>
            <a:pPr>
              <a:spcAft>
                <a:spcPts val="1000"/>
              </a:spcAft>
            </a:pPr>
            <a:r>
              <a:rPr sz="1600" b="0">
                <a:solidFill>
                  <a:srgbClr val="161B26"/>
                </a:solidFill>
                <a:latin typeface="Arial"/>
              </a:rPr>
              <a:t>•  The underlying blocks still hold the original content.</a:t>
            </a:r>
          </a:p>
          <a:p>
            <a:pPr>
              <a:spcAft>
                <a:spcPts val="1000"/>
              </a:spcAft>
            </a:pPr>
            <a:r>
              <a:rPr sz="1600" b="0">
                <a:solidFill>
                  <a:srgbClr val="161B26"/>
                </a:solidFill>
                <a:latin typeface="Arial"/>
              </a:rPr>
              <a:t>•  Readily recovered with free forensic tools.</a:t>
            </a:r>
          </a:p>
          <a:p>
            <a:pPr>
              <a:spcAft>
                <a:spcPts val="1000"/>
              </a:spcAft>
            </a:pPr>
            <a:r>
              <a:rPr sz="1600" b="0">
                <a:solidFill>
                  <a:srgbClr val="161B26"/>
                </a:solidFill>
                <a:latin typeface="Arial"/>
              </a:rPr>
              <a:t>•  Gives a false sense that the data is gone.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Overwrites the blocks or destroys the encryption key.</a:t>
            </a:r>
          </a:p>
          <a:p>
            <a:pPr>
              <a:spcAft>
                <a:spcPts val="1000"/>
              </a:spcAft>
            </a:pPr>
            <a:r>
              <a:rPr sz="1600" b="0">
                <a:solidFill>
                  <a:srgbClr val="161B26"/>
                </a:solidFill>
                <a:latin typeface="Arial"/>
              </a:rPr>
              <a:t>•  Leaves no recoverable content behind.</a:t>
            </a:r>
          </a:p>
          <a:p>
            <a:pPr>
              <a:spcAft>
                <a:spcPts val="1000"/>
              </a:spcAft>
            </a:pPr>
            <a:r>
              <a:rPr sz="1600" b="0">
                <a:solidFill>
                  <a:srgbClr val="161B26"/>
                </a:solidFill>
                <a:latin typeface="Arial"/>
              </a:rPr>
              <a:t>•  Verified by reading the media back after the wipe.</a:t>
            </a:r>
          </a:p>
          <a:p>
            <a:pPr>
              <a:spcAft>
                <a:spcPts val="1000"/>
              </a:spcAft>
            </a:pPr>
            <a:r>
              <a:rPr sz="1600" b="0">
                <a:solidFill>
                  <a:srgbClr val="161B26"/>
                </a:solidFill>
                <a:latin typeface="Arial"/>
              </a:rPr>
              <a:t>•  Evidenced by a certificate of sanitisation.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spd="med">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4.2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Classification decides the disposal method.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Public data may just be overwritten, but Restricted data on failed media that cannot be overwritten must be physically destroyed and certified.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spd="med">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Asset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Sanitisation makes data unrecoverable but can keep the media; destruction removes the media itself.</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NIST SP 800-88 levels: Clear (overwrite), Purge (cryptographic erase or degauss), Destroy (shred/incinerate).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Always check data retention and legal hold before disposing of any asset.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owner is accountable for the asset; the custodian operates it day to day.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ransition spd="med">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records an asset's owner and classification, checks retention and legal hold, proves deletion is not sanitisation, wipes a device with shred/dd/blkdiscard, performs a crypto erase and issues a NIST SP 800-88 certificate.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ITAM folder with inventory, retention schedule, read-back verification and a signed certificate of sanitisation.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util-linux, coreutils, shred, cryptsetup,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ransition spd="med">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util-linux coreutils e2fsprogs cryptsetup jq bsdextrautils; mkdir -p /root/itam</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asset inventory and enumerate this host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inventory.csv &lt;&lt;'EOF'  (asset_tag,type,owner,classification,status)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Check retention and legal hold before disposal</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retention-schedule.csv &lt;&lt;'EOF'  (record_type,retention_period,legal_hold)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Prove that deleting is not sanitising</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retired-disk.img); mkfs.ext4 -q "$LOOP"; write then rm; grep -a CONFIDENTIAL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spd="med">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Clear the media with shred</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shred -v -n 1 -z "$LOOP"; grep -a -c 'CONFIDENTIAL' "$LOOP" || echo '0 matches'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Use the alternatives: dd zero-fill and blkdiscard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dd if=/dev/zero of="$LOOP" bs=1M oflag=direct; blkdiscard -f "$LOOP"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result and keep evidence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cmp -n "$SIZE" "$LOOP" /dev/zero &amp;&amp; echo VERIFIED; sha256sum "$LOOP" | tee verify-hash.txt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Purge by cryptographic erase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cryptsetup luksFormat --batch-mode --type luks2 laptop-ssd.img laptop-ssd.key; cryptsetup luksErase --batch-mode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spd="med">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Issue the certificate and close the asset record</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cat &gt; certificate-SG-DISK-0099.txt &lt;&lt;EOF  (NIST SP 800-88 fields); update inventory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spd="med">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Asset Inventory, Media Sanitisation and Disposal Certificate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grep finds 0 CONFIDENTIAL matches on the wiped image, the certificate shows the Clear level and a 64-hex hash, and the inventory status reads 'Sanitised - certificate on file'.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ransition spd="med">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Vulnerability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Identification · Analysis · CVSS/CVE · Response · Validation · Reporting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ransition spd="med">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THE 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Vulnerability Management 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Discover and inventory every asset in scope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weaknesses by scanning and other methods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Analyse: confirm, score and prioritise each finding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Respond: patch, mitigate or formally accept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by rescanning, then report the trend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spd="med">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IDENTIFICATION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Ways to Identify Vulnerabilities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a:t>
            </a:r>
          </a:p>
          <a:p>
            <a:pPr algn="l">
              <a:spcAft>
                <a:spcPts val="300"/>
              </a:spcAft>
            </a:pPr>
            <a:r>
              <a:rPr sz="1200" b="0">
                <a:solidFill>
                  <a:srgbClr val="5B6372"/>
                </a:solidFill>
                <a:latin typeface="Arial"/>
              </a:rPr>
              <a:t>Automated tools probe hosts and compare findings against a database of known flaws and misconfigurations.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security</a:t>
            </a:r>
          </a:p>
          <a:p>
            <a:pPr algn="l">
              <a:spcAft>
                <a:spcPts val="300"/>
              </a:spcAft>
            </a:pPr>
            <a:r>
              <a:rPr sz="1200" b="0">
                <a:solidFill>
                  <a:srgbClr val="5B6372"/>
                </a:solidFill>
                <a:latin typeface="Arial"/>
              </a:rPr>
              <a:t>Static analysis reads source code, dynamic analysis tests the running app, and package monitoring tracks vulnerable dependencies.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 feed</a:t>
            </a:r>
          </a:p>
          <a:p>
            <a:pPr algn="l">
              <a:spcAft>
                <a:spcPts val="300"/>
              </a:spcAft>
            </a:pPr>
            <a:r>
              <a:rPr sz="1200" b="0">
                <a:solidFill>
                  <a:srgbClr val="5B6372"/>
                </a:solidFill>
                <a:latin typeface="Arial"/>
              </a:rPr>
              <a:t>External intelligence on current threats: OSINT, proprietary and third-party feeds, information-sharing organisations and dark-web monitoring.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Penetration testing</a:t>
            </a:r>
          </a:p>
          <a:p>
            <a:pPr algn="l">
              <a:spcAft>
                <a:spcPts val="300"/>
              </a:spcAft>
            </a:pPr>
            <a:r>
              <a:rPr sz="1200" b="0">
                <a:solidFill>
                  <a:srgbClr val="5B6372"/>
                </a:solidFill>
                <a:latin typeface="Arial"/>
              </a:rPr>
              <a:t>Authorised ethical attack that confirms what is actually exploitable, going beyond what a scanner can see.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disclosure</a:t>
            </a:r>
          </a:p>
          <a:p>
            <a:pPr algn="l">
              <a:spcAft>
                <a:spcPts val="300"/>
              </a:spcAft>
            </a:pPr>
            <a:r>
              <a:rPr sz="1200" b="0">
                <a:solidFill>
                  <a:srgbClr val="5B6372"/>
                </a:solidFill>
                <a:latin typeface="Arial"/>
              </a:rPr>
              <a:t>A channel for outsiders to report flaws safely; a bug bounty programme pays researchers for valid findings.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System/process audit</a:t>
            </a:r>
          </a:p>
          <a:p>
            <a:pPr algn="l">
              <a:spcAft>
                <a:spcPts val="300"/>
              </a:spcAft>
            </a:pPr>
            <a:r>
              <a:rPr sz="1200" b="0">
                <a:solidFill>
                  <a:srgbClr val="5B6372"/>
                </a:solidFill>
                <a:latin typeface="Arial"/>
              </a:rPr>
              <a:t>An independent review that checks configuration and process against a standard and surfaces gaps a scanner would miss.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ransition spd="med">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4.3 · ANALYSIS SOURCES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Static, Dynamic and Package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Static (SAST)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Dynamic (DAST)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Analyses source code or binaries without running them.</a:t>
            </a:r>
          </a:p>
          <a:p>
            <a:pPr>
              <a:spcAft>
                <a:spcPts val="1000"/>
              </a:spcAft>
            </a:pPr>
            <a:r>
              <a:rPr sz="1600" b="0">
                <a:solidFill>
                  <a:srgbClr val="161B26"/>
                </a:solidFill>
                <a:latin typeface="Arial"/>
              </a:rPr>
              <a:t>•  Finds flaws early, before the code is deployed.</a:t>
            </a:r>
          </a:p>
          <a:p>
            <a:pPr>
              <a:spcAft>
                <a:spcPts val="1000"/>
              </a:spcAft>
            </a:pPr>
            <a:r>
              <a:rPr sz="1600" b="0">
                <a:solidFill>
                  <a:srgbClr val="161B26"/>
                </a:solidFill>
                <a:latin typeface="Arial"/>
              </a:rPr>
              <a:t>•  Sees the whole code path but cannot see runtime state.</a:t>
            </a:r>
          </a:p>
          <a:p>
            <a:pPr>
              <a:spcAft>
                <a:spcPts val="1000"/>
              </a:spcAft>
            </a:pPr>
            <a:r>
              <a:rPr sz="1600" b="0">
                <a:solidFill>
                  <a:srgbClr val="161B26"/>
                </a:solidFill>
                <a:latin typeface="Arial"/>
              </a:rPr>
              <a:t>•  Can raise false positives on code that is never reached.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Tests the application while it is running.</a:t>
            </a:r>
          </a:p>
          <a:p>
            <a:pPr>
              <a:spcAft>
                <a:spcPts val="1000"/>
              </a:spcAft>
            </a:pPr>
            <a:r>
              <a:rPr sz="1600" b="0">
                <a:solidFill>
                  <a:srgbClr val="161B26"/>
                </a:solidFill>
                <a:latin typeface="Arial"/>
              </a:rPr>
              <a:t>•  Finds flaws only on the paths the test exercises.</a:t>
            </a:r>
          </a:p>
          <a:p>
            <a:pPr>
              <a:spcAft>
                <a:spcPts val="1000"/>
              </a:spcAft>
            </a:pPr>
            <a:r>
              <a:rPr sz="1600" b="0">
                <a:solidFill>
                  <a:srgbClr val="161B26"/>
                </a:solidFill>
                <a:latin typeface="Arial"/>
              </a:rPr>
              <a:t>•  Sees real runtime behaviour and configuration.</a:t>
            </a:r>
          </a:p>
          <a:p>
            <a:pPr>
              <a:spcAft>
                <a:spcPts val="1000"/>
              </a:spcAft>
            </a:pPr>
            <a:r>
              <a:rPr sz="1600" b="0">
                <a:solidFill>
                  <a:srgbClr val="161B26"/>
                </a:solidFill>
                <a:latin typeface="Arial"/>
              </a:rPr>
              <a:t>•  Package monitoring complements both by tracking vulnerable dependencies.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spd="med">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CONFIRMATION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Confirming the Findings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True positive</a:t>
            </a:r>
          </a:p>
          <a:p>
            <a:pPr algn="l">
              <a:spcAft>
                <a:spcPts val="300"/>
              </a:spcAft>
            </a:pPr>
            <a:r>
              <a:rPr sz="1200" b="0">
                <a:solidFill>
                  <a:srgbClr val="5B6372"/>
                </a:solidFill>
                <a:latin typeface="Arial"/>
              </a:rPr>
              <a:t>A reported flaw that is genuinely present and exploitable; this is what you remediate.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False positive</a:t>
            </a:r>
          </a:p>
          <a:p>
            <a:pPr algn="l">
              <a:spcAft>
                <a:spcPts val="300"/>
              </a:spcAft>
            </a:pPr>
            <a:r>
              <a:rPr sz="1200" b="0">
                <a:solidFill>
                  <a:srgbClr val="5B6372"/>
                </a:solidFill>
                <a:latin typeface="Arial"/>
              </a:rPr>
              <a:t>The tool flags a flaw that is not really there; it wastes effort and erodes trust in the scanner.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False negative</a:t>
            </a:r>
          </a:p>
          <a:p>
            <a:pPr algn="l">
              <a:spcAft>
                <a:spcPts val="300"/>
              </a:spcAft>
            </a:pPr>
            <a:r>
              <a:rPr sz="1200" b="0">
                <a:solidFill>
                  <a:srgbClr val="5B6372"/>
                </a:solidFill>
                <a:latin typeface="Arial"/>
              </a:rPr>
              <a:t>A real flaw the scan missed; the most dangerous outcome, and the reason scanning never fully replaces pen testing.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Confirmation</a:t>
            </a:r>
          </a:p>
          <a:p>
            <a:pPr algn="l">
              <a:spcAft>
                <a:spcPts val="300"/>
              </a:spcAft>
            </a:pPr>
            <a:r>
              <a:rPr sz="1200" b="0">
                <a:solidFill>
                  <a:srgbClr val="5B6372"/>
                </a:solidFill>
                <a:latin typeface="Arial"/>
              </a:rPr>
              <a:t>Manually verify each finding before acting, so the team spends effort on real risk, not scanner noise.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spd="med">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SCORING &amp; PRIORITY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Scoring and Prioritising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CVE</a:t>
            </a:r>
          </a:p>
          <a:p>
            <a:pPr algn="l">
              <a:spcAft>
                <a:spcPts val="300"/>
              </a:spcAft>
            </a:pPr>
            <a:r>
              <a:rPr sz="1100" b="0">
                <a:solidFill>
                  <a:srgbClr val="5B6372"/>
                </a:solidFill>
                <a:latin typeface="Arial"/>
              </a:rPr>
              <a:t>Common Vulnerabilities and Exposures: the unique public identifier for one specific flaw, for example CVE-2024-3094.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CVSS</a:t>
            </a:r>
          </a:p>
          <a:p>
            <a:pPr algn="l">
              <a:spcAft>
                <a:spcPts val="300"/>
              </a:spcAft>
            </a:pPr>
            <a:r>
              <a:rPr sz="1100" b="0">
                <a:solidFill>
                  <a:srgbClr val="5B6372"/>
                </a:solidFill>
                <a:latin typeface="Arial"/>
              </a:rPr>
              <a:t>Common Vulnerability Scoring System: a 0-10 severity score from base metrics such as attack vector and impact.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The type of weakness (for example injection, misconfiguration), which groups similar findings for remediation.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Exposure factor</a:t>
            </a:r>
          </a:p>
          <a:p>
            <a:pPr algn="l">
              <a:spcAft>
                <a:spcPts val="300"/>
              </a:spcAft>
            </a:pPr>
            <a:r>
              <a:rPr sz="1100" b="0">
                <a:solidFill>
                  <a:srgbClr val="5B6372"/>
                </a:solidFill>
                <a:latin typeface="Arial"/>
              </a:rPr>
              <a:t>How much of the asset's value is lost if the flaw is exploited, feeding the risk calculation.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Environmental variables</a:t>
            </a:r>
          </a:p>
          <a:p>
            <a:pPr algn="l">
              <a:spcAft>
                <a:spcPts val="300"/>
              </a:spcAft>
            </a:pPr>
            <a:r>
              <a:rPr sz="1100" b="0">
                <a:solidFill>
                  <a:srgbClr val="5B6372"/>
                </a:solidFill>
                <a:latin typeface="Arial"/>
              </a:rPr>
              <a:t>Local context (compensating controls, asset location) that adjusts the base CVSS score to your environment.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tolerance</a:t>
            </a:r>
          </a:p>
          <a:p>
            <a:pPr algn="l">
              <a:spcAft>
                <a:spcPts val="300"/>
              </a:spcAft>
            </a:pPr>
            <a:r>
              <a:rPr sz="1100" b="0">
                <a:solidFill>
                  <a:srgbClr val="5B6372"/>
                </a:solidFill>
                <a:latin typeface="Arial"/>
              </a:rPr>
              <a:t>How much residual risk the organisation will accept decides which findings must be fixed and how fast.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spd="med">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4.3 · KEY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CVSS is severity, not risk.</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Risk combines the score with exposure, exploit availability (CISA KEV) and business impact, which is why a 9.8 on an isolated host can wait behind a 7.5 on the internet edge.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spd="med">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RESPONSE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Response and Remediation Options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Patching</a:t>
            </a:r>
          </a:p>
          <a:p>
            <a:pPr algn="l">
              <a:spcAft>
                <a:spcPts val="300"/>
              </a:spcAft>
            </a:pPr>
            <a:r>
              <a:rPr sz="1200" b="0">
                <a:solidFill>
                  <a:srgbClr val="5B6372"/>
                </a:solidFill>
                <a:latin typeface="Arial"/>
              </a:rPr>
              <a:t>Apply the vendor fix; the primary remediation that actually removes the vulnerability.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Segmentation</a:t>
            </a:r>
          </a:p>
          <a:p>
            <a:pPr algn="l">
              <a:spcAft>
                <a:spcPts val="300"/>
              </a:spcAft>
            </a:pPr>
            <a:r>
              <a:rPr sz="1200" b="0">
                <a:solidFill>
                  <a:srgbClr val="5B6372"/>
                </a:solidFill>
                <a:latin typeface="Arial"/>
              </a:rPr>
              <a:t>Isolate the vulnerable system on its own network segment to limit what an attacker can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Compensating controls</a:t>
            </a:r>
          </a:p>
          <a:p>
            <a:pPr algn="l">
              <a:spcAft>
                <a:spcPts val="300"/>
              </a:spcAft>
            </a:pPr>
            <a:r>
              <a:rPr sz="1200" b="0">
                <a:solidFill>
                  <a:srgbClr val="5B6372"/>
                </a:solidFill>
                <a:latin typeface="Arial"/>
              </a:rPr>
              <a:t>Other controls (a WAF, tighter firewall rules) that reduce risk when you cannot patch immediately.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Insurance</a:t>
            </a:r>
          </a:p>
          <a:p>
            <a:pPr algn="l">
              <a:spcAft>
                <a:spcPts val="300"/>
              </a:spcAft>
            </a:pPr>
            <a:r>
              <a:rPr sz="1200" b="0">
                <a:solidFill>
                  <a:srgbClr val="5B6372"/>
                </a:solidFill>
                <a:latin typeface="Arial"/>
              </a:rPr>
              <a:t>Cyber-insurance transfers residual financial risk; it never removes the vulnerability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Exceptions &amp; exemptions</a:t>
            </a:r>
          </a:p>
          <a:p>
            <a:pPr algn="l">
              <a:spcAft>
                <a:spcPts val="300"/>
              </a:spcAft>
            </a:pPr>
            <a:r>
              <a:rPr sz="1200" b="0">
                <a:solidFill>
                  <a:srgbClr val="5B6372"/>
                </a:solidFill>
                <a:latin typeface="Arial"/>
              </a:rPr>
              <a:t>A documented, time-boxed, owner-approved decision to accept a risk when remediation is not yet possible.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spd="med">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VALIDATION &amp; REPORTING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Proving and Reporting the Fix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Rescanning</a:t>
            </a:r>
          </a:p>
          <a:p>
            <a:pPr algn="l">
              <a:spcAft>
                <a:spcPts val="300"/>
              </a:spcAft>
            </a:pPr>
            <a:r>
              <a:rPr sz="1200" b="0">
                <a:solidFill>
                  <a:srgbClr val="5B6372"/>
                </a:solidFill>
                <a:latin typeface="Arial"/>
              </a:rPr>
              <a:t>Scan again after remediation to confirm the finding is gone and no new issue was introduced.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a:t>
            </a:r>
          </a:p>
          <a:p>
            <a:pPr algn="l">
              <a:spcAft>
                <a:spcPts val="300"/>
              </a:spcAft>
            </a:pPr>
            <a:r>
              <a:rPr sz="1200" b="0">
                <a:solidFill>
                  <a:srgbClr val="5B6372"/>
                </a:solidFill>
                <a:latin typeface="Arial"/>
              </a:rPr>
              <a:t>An independent check that the remediation was applied and the process was followed.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Verification</a:t>
            </a:r>
          </a:p>
          <a:p>
            <a:pPr algn="l">
              <a:spcAft>
                <a:spcPts val="300"/>
              </a:spcAft>
            </a:pPr>
            <a:r>
              <a:rPr sz="1200" b="0">
                <a:solidFill>
                  <a:srgbClr val="5B6372"/>
                </a:solidFill>
                <a:latin typeface="Arial"/>
              </a:rPr>
              <a:t>Confirm the fix actually resolves the weakness, not just that a patch was installed.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Report findings, actions and trends to stakeholders, showing whether risk is going down 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ransition spd="med">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Vulnerability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CVE identifies a specific flaw; CVSS scores its severity 0-10; CVSS is severity, not overall risk.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False negative (missed real flaw) is more dangerous than false positive (false alarm).</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An exception/exemption must be documented, time-boxed and approved by the risk owner, with a compensating control.</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Validate remediation by rescanning and verification before closing and reporting the finding.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spd="med">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scans a deliberately weak web server with Nmap and Nikto, compares the uncredentialed and credentialed views, confirms true vs false positives, prioritises with CVSS and context, remediates and rescans.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vuln folder with raw scan output, a triage sheet, a CVSS-prioritised register and a before/after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apache2, nmap, nikto,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spd="med">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scanners and the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apache2 nmap nikto curl; systemctl enable --now apache2</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realistic weaknesses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'db_password=...' &gt; /var/www/html/backup/config.bak; ServerTokens Full; systemctl reload apache2</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an uncredentialed network scan with Nmap</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22,80 --script 'http-headers,http-enum,vulners' 127.0.0.1 -oN nmap-before.txt</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the web application with Nikto</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nikto -h http://127.0.0.1 -o nikto-before.txt -Format 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spd="med">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the credentialed view</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-s upgrade | grep '^Inst' &gt; missing-patches.txt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findings as true or false positives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-sI http://127.0.0.1 | grep -iE 'server|x-frame'; cat &gt; triage.csv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Prioritise with CVSS and context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findings-register.csv &lt;&lt;'EOF'  (id,cvss_base,vector,exposure,priority,due)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Remediate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mv /var/www/html/backup/config.bak quarantine/; ServerTokens Prod; Options -Indexes; systemctl reload apache2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ransition spd="med">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Rescan to validate and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nikto -h http://127.0.0.1 -o nikto-after.txt; nmap ... -oN nmap-after.txt; write validation-report.txt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ransition spd="med">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Scanning, Confirmation and Rescan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remediation the Server header shows no version, both security headers are present, /backup/ returns 403 or 404, and the report shows fewer Nikto findings than before.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spd="med">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package, OS and container scans with Trivy, builds a CVSS-sorted patch queue, enriches it with the CISA KEV feed, records a time-boxed exception, remediates and rescans, then scans for secrets.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VM-lab folder with JSON scans, a patch queue, a KEV-matched list, an exceptions file and a before/after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trivy, curl,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spd="med">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Trivy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-sfL .../trivy/.../install.sh | sh -s -- -b /usr/local/bin v0.74.0; trivy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Package monitoring: scan the app's dependencies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app/requirements.txt &lt;&lt;'EOF'; trivy fs --format json -o deps-before.json app/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the host operating system</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rootfs --scanners vuln --pkg-types os --severity HIGH,CRITICAL --skip-dirs /proc,/sys /</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Scan a container image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trivy image --image-src remote --format json -o image-before.json node:14-alpine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spd="med">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CVSS-sorted patch queue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-r '...CVSS.nvd.V3Score...' deps-before.json image-before.json | sort -gr &gt; patch-queue.tsv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threat intelligence: the CISA KEV feed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-o kev.json .../known_exploited_vulnerabilities.json; grep -Fxf kev-ids.txt</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Record a time-boxed exception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exceptions.trivyignore &lt;&lt;EOF  ($TOP exp:2026-12-31)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Remediate and validate with a rescan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app/requirements.txt &lt;&lt;'EOF'  (upgraded); trivy fs --format json -o deps-after.json app/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ransition spd="med">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Scan for secrets and write the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trivy fs --scanners secret app/; write vm-report.txt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ransition spd="med">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Vulnerability Management Pipeline with Trivy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report shows fewer dependency findings after the upgrade than before, lists the KEV match count and one open exception, and the CRITICAL gate prints exit 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spd="med">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Alerting &amp; Monitoring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Monitor resources · Aggregation · Alert tuning · SIEM · DLP · SNMP · NetFlow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spd="med">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WHAT TO MONITOR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Monitoring Computing Resources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Systems</a:t>
            </a:r>
          </a:p>
          <a:p>
            <a:pPr algn="l">
              <a:spcAft>
                <a:spcPts val="300"/>
              </a:spcAft>
            </a:pPr>
            <a:r>
              <a:rPr sz="1200" b="0">
                <a:solidFill>
                  <a:srgbClr val="5B6372"/>
                </a:solidFill>
                <a:latin typeface="Arial"/>
              </a:rPr>
              <a:t>Operating-system health and security: logins, privilege use, services, patch state and host integrity across every server and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Applications</a:t>
            </a:r>
          </a:p>
          <a:p>
            <a:pPr algn="l">
              <a:spcAft>
                <a:spcPts val="300"/>
              </a:spcAft>
            </a:pPr>
            <a:r>
              <a:rPr sz="1200" b="0">
                <a:solidFill>
                  <a:srgbClr val="5B6372"/>
                </a:solidFill>
                <a:latin typeface="Arial"/>
              </a:rPr>
              <a:t>App logs and behaviour: errors, authentication, data access and anomalies that a host log alone would not reveal.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Infrastructure</a:t>
            </a:r>
          </a:p>
          <a:p>
            <a:pPr algn="l">
              <a:spcAft>
                <a:spcPts val="300"/>
              </a:spcAft>
            </a:pPr>
            <a:r>
              <a:rPr sz="1200" b="0">
                <a:solidFill>
                  <a:srgbClr val="5B6372"/>
                </a:solidFill>
                <a:latin typeface="Arial"/>
              </a:rPr>
              <a:t>Network and platform devices: switches, routers, firewalls and cloud services, often watched agentless over SNMP or flow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Availability</a:t>
            </a:r>
          </a:p>
          <a:p>
            <a:pPr algn="l">
              <a:spcAft>
                <a:spcPts val="300"/>
              </a:spcAft>
            </a:pPr>
            <a:r>
              <a:rPr sz="1200" b="0">
                <a:solidFill>
                  <a:srgbClr val="5B6372"/>
                </a:solidFill>
                <a:latin typeface="Arial"/>
              </a:rPr>
              <a:t>Whether services are actually up; a service you assume is running may be down under a denial-of-service attack.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spd="med">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THE VOCABULARY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Log, Event, Alert, Incident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a:t>
            </a:r>
          </a:p>
          <a:p>
            <a:pPr algn="l">
              <a:spcAft>
                <a:spcPts val="300"/>
              </a:spcAft>
            </a:pPr>
            <a:r>
              <a:rPr sz="1100" b="0">
                <a:solidFill>
                  <a:srgbClr val="5B6372"/>
                </a:solidFill>
                <a:latin typeface="Arial"/>
              </a:rPr>
              <a:t>A raw record written by a source, such as one line appended to the authentication log.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Event</a:t>
            </a:r>
          </a:p>
          <a:p>
            <a:pPr algn="l">
              <a:spcAft>
                <a:spcPts val="300"/>
              </a:spcAft>
            </a:pPr>
            <a:r>
              <a:rPr sz="1100" b="0">
                <a:solidFill>
                  <a:srgbClr val="5B6372"/>
                </a:solidFill>
                <a:latin typeface="Arial"/>
              </a:rPr>
              <a:t>A parsed, normalised log placed into common fields such as source address, user and timestamp.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a:t>
            </a:r>
          </a:p>
          <a:p>
            <a:pPr algn="l">
              <a:spcAft>
                <a:spcPts val="300"/>
              </a:spcAft>
            </a:pPr>
            <a:r>
              <a:rPr sz="1100" b="0">
                <a:solidFill>
                  <a:srgbClr val="5B6372"/>
                </a:solidFill>
                <a:latin typeface="Arial"/>
              </a:rPr>
              <a:t>An event or correlated set of events that matched a detection rule and needs human attention.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Incident</a:t>
            </a:r>
          </a:p>
          <a:p>
            <a:pPr algn="l">
              <a:spcAft>
                <a:spcPts val="300"/>
              </a:spcAft>
            </a:pPr>
            <a:r>
              <a:rPr sz="1100" b="0">
                <a:solidFill>
                  <a:srgbClr val="5B6372"/>
                </a:solidFill>
                <a:latin typeface="Arial"/>
              </a:rPr>
              <a:t>A confirmed alert with real adverse impact, which triggers the incident response process.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a:t>
            </a:r>
          </a:p>
          <a:p>
            <a:pPr algn="l">
              <a:spcAft>
                <a:spcPts val="300"/>
              </a:spcAft>
            </a:pPr>
            <a:r>
              <a:rPr sz="1100" b="0">
                <a:solidFill>
                  <a:srgbClr val="5B6372"/>
                </a:solidFill>
                <a:latin typeface="Arial"/>
              </a:rPr>
              <a:t>Collecting logs from many hosts into one searchable store so analysts get a single view.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Correlation</a:t>
            </a:r>
          </a:p>
          <a:p>
            <a:pPr algn="l">
              <a:spcAft>
                <a:spcPts val="300"/>
              </a:spcAft>
            </a:pPr>
            <a:r>
              <a:rPr sz="1100" b="0">
                <a:solidFill>
                  <a:srgbClr val="5B6372"/>
                </a:solidFill>
                <a:latin typeface="Arial"/>
              </a:rPr>
              <a:t>Joining events across sources, such as a firewall deny plus a failed login from the same address.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spd="med">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ACTIVITIES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Monitoring Activities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aggregation</a:t>
            </a:r>
          </a:p>
          <a:p>
            <a:pPr algn="l">
              <a:spcAft>
                <a:spcPts val="300"/>
              </a:spcAft>
            </a:pPr>
            <a:r>
              <a:rPr sz="1200" b="0">
                <a:solidFill>
                  <a:srgbClr val="5B6372"/>
                </a:solidFill>
                <a:latin typeface="Arial"/>
              </a:rPr>
              <a:t>Gather logs from every source into one place, normalise them and keep clocks in sync with NTP so correlation is meaningful.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Raise a notification when a rule matches, routed to the right team with enough context to 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Scanning</a:t>
            </a:r>
          </a:p>
          <a:p>
            <a:pPr algn="l">
              <a:spcAft>
                <a:spcPts val="300"/>
              </a:spcAft>
            </a:pPr>
            <a:r>
              <a:rPr sz="1200" b="0">
                <a:solidFill>
                  <a:srgbClr val="5B6372"/>
                </a:solidFill>
                <a:latin typeface="Arial"/>
              </a:rPr>
              <a:t>Periodically scan for vulnerabilities and configuration drift, feeding results into the same monitoring pipeline.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Summarise volume and trends; a steady trickle differs from a sudden spike of similar incidents that signals an attack.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Archiving</a:t>
            </a:r>
          </a:p>
          <a:p>
            <a:pPr algn="l">
              <a:spcAft>
                <a:spcPts val="300"/>
              </a:spcAft>
            </a:pPr>
            <a:r>
              <a:rPr sz="1200" b="0">
                <a:solidFill>
                  <a:srgbClr val="5B6372"/>
                </a:solidFill>
                <a:latin typeface="Arial"/>
              </a:rPr>
              <a:t>Retain logs per regulation and investigation needs, with recent data searchable and older data stored cheaply.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Alert response</a:t>
            </a:r>
          </a:p>
          <a:p>
            <a:pPr algn="l">
              <a:spcAft>
                <a:spcPts val="300"/>
              </a:spcAft>
            </a:pPr>
            <a:r>
              <a:rPr sz="1200" b="0">
                <a:solidFill>
                  <a:srgbClr val="5B6372"/>
                </a:solidFill>
                <a:latin typeface="Arial"/>
              </a:rPr>
              <a:t>Respond and validate: quarantine the affected host or file, remediate, and tune the rule that fired.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spd="med">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4.4 · COLLECTION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Agent-Based versus Agentless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Agent-based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Agentless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 agent on each host ships logs, integrity data and inventory.</a:t>
            </a:r>
          </a:p>
          <a:p>
            <a:pPr>
              <a:spcAft>
                <a:spcPts val="1000"/>
              </a:spcAft>
            </a:pPr>
            <a:r>
              <a:rPr sz="1600" b="0">
                <a:solidFill>
                  <a:srgbClr val="161B26"/>
                </a:solidFill>
                <a:latin typeface="Arial"/>
              </a:rPr>
              <a:t>•  It can run local checks and buffer during network outages.</a:t>
            </a:r>
          </a:p>
          <a:p>
            <a:pPr>
              <a:spcAft>
                <a:spcPts val="1000"/>
              </a:spcAft>
            </a:pPr>
            <a:r>
              <a:rPr sz="1600" b="0">
                <a:solidFill>
                  <a:srgbClr val="161B26"/>
                </a:solidFill>
                <a:latin typeface="Arial"/>
              </a:rPr>
              <a:t>•  It encrypts the channel back to the manager.</a:t>
            </a:r>
          </a:p>
          <a:p>
            <a:pPr>
              <a:spcAft>
                <a:spcPts val="1000"/>
              </a:spcAft>
            </a:pPr>
            <a:r>
              <a:rPr sz="1600" b="0">
                <a:solidFill>
                  <a:srgbClr val="161B26"/>
                </a:solidFill>
                <a:latin typeface="Arial"/>
              </a:rPr>
              <a:t>•  It must be deployed, patched and managed on every host.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manager pulls data over syslog, SNMP, SSH or a cloud API.</a:t>
            </a:r>
          </a:p>
          <a:p>
            <a:pPr>
              <a:spcAft>
                <a:spcPts val="1000"/>
              </a:spcAft>
            </a:pPr>
            <a:r>
              <a:rPr sz="1600" b="0">
                <a:solidFill>
                  <a:srgbClr val="161B26"/>
                </a:solidFill>
                <a:latin typeface="Arial"/>
              </a:rPr>
              <a:t>•  It is the only option for appliances that cannot run software.</a:t>
            </a:r>
          </a:p>
          <a:p>
            <a:pPr>
              <a:spcAft>
                <a:spcPts val="1000"/>
              </a:spcAft>
            </a:pPr>
            <a:r>
              <a:rPr sz="1600" b="0">
                <a:solidFill>
                  <a:srgbClr val="161B26"/>
                </a:solidFill>
                <a:latin typeface="Arial"/>
              </a:rPr>
              <a:t>•  Visibility is limited to whatever the device chooses to emit.</a:t>
            </a:r>
          </a:p>
          <a:p>
            <a:pPr>
              <a:spcAft>
                <a:spcPts val="1000"/>
              </a:spcAft>
            </a:pPr>
            <a:r>
              <a:rPr sz="1600" b="0">
                <a:solidFill>
                  <a:srgbClr val="161B26"/>
                </a:solidFill>
                <a:latin typeface="Arial"/>
              </a:rPr>
              <a:t>•  It adds no endpoint footprint, suiting change-controlled systems.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spd="med">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TUNING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Alert Tuning and Quarantine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 fatigue</a:t>
            </a:r>
          </a:p>
          <a:p>
            <a:pPr algn="l">
              <a:spcAft>
                <a:spcPts val="300"/>
              </a:spcAft>
            </a:pPr>
            <a:r>
              <a:rPr sz="1200" b="0">
                <a:solidFill>
                  <a:srgbClr val="5B6372"/>
                </a:solidFill>
                <a:latin typeface="Arial"/>
              </a:rPr>
              <a:t>Too many false positives train analysts to ignore alerts, so a real detection gets missed in the noise.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 tuning</a:t>
            </a:r>
          </a:p>
          <a:p>
            <a:pPr algn="l">
              <a:spcAft>
                <a:spcPts val="300"/>
              </a:spcAft>
            </a:pPr>
            <a:r>
              <a:rPr sz="1200" b="0">
                <a:solidFill>
                  <a:srgbClr val="5B6372"/>
                </a:solidFill>
                <a:latin typeface="Arial"/>
              </a:rPr>
              <a:t>Suppress or threshold known-good behaviour narrowly rather than disabling the whole rule, so the detection survives.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Quarantine</a:t>
            </a:r>
          </a:p>
          <a:p>
            <a:pPr algn="l">
              <a:spcAft>
                <a:spcPts val="300"/>
              </a:spcAft>
            </a:pPr>
            <a:r>
              <a:rPr sz="1200" b="0">
                <a:solidFill>
                  <a:srgbClr val="5B6372"/>
                </a:solidFill>
                <a:latin typeface="Arial"/>
              </a:rPr>
              <a:t>Isolate the suspect host or file automatically on a confirmed alert, containing the threat while an analyst investigates.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a:t>
            </a:r>
          </a:p>
          <a:p>
            <a:pPr algn="l">
              <a:spcAft>
                <a:spcPts val="300"/>
              </a:spcAft>
            </a:pPr>
            <a:r>
              <a:rPr sz="1200" b="0">
                <a:solidFill>
                  <a:srgbClr val="5B6372"/>
                </a:solidFill>
                <a:latin typeface="Arial"/>
              </a:rPr>
              <a:t>Confirm the response worked and the alert was true before closing, then feed the lesson back into the rule.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ransition spd="med">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Monitoring Toolbox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SIEM</a:t>
            </a:r>
          </a:p>
          <a:p>
            <a:pPr algn="l">
              <a:spcAft>
                <a:spcPts val="300"/>
              </a:spcAft>
            </a:pPr>
            <a:r>
              <a:rPr sz="1200" b="0">
                <a:solidFill>
                  <a:srgbClr val="5B6372"/>
                </a:solidFill>
                <a:latin typeface="Arial"/>
              </a:rPr>
              <a:t>Security information and event management aggregates and correlates logs, raises alerts and holds them for investigation.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SCAP &amp; benchmarks</a:t>
            </a:r>
          </a:p>
          <a:p>
            <a:pPr algn="l">
              <a:spcAft>
                <a:spcPts val="300"/>
              </a:spcAft>
            </a:pPr>
            <a:r>
              <a:rPr sz="1200" b="0">
                <a:solidFill>
                  <a:srgbClr val="5B6372"/>
                </a:solidFill>
                <a:latin typeface="Arial"/>
              </a:rPr>
              <a:t>The Security Content Automation Protocol automates checking hosts against benchmarks such as CIS for compliance monitoring.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Antivirus &amp; DLP</a:t>
            </a:r>
          </a:p>
          <a:p>
            <a:pPr algn="l">
              <a:spcAft>
                <a:spcPts val="300"/>
              </a:spcAft>
            </a:pPr>
            <a:r>
              <a:rPr sz="1200" b="0">
                <a:solidFill>
                  <a:srgbClr val="5B6372"/>
                </a:solidFill>
                <a:latin typeface="Arial"/>
              </a:rPr>
              <a:t>Antivirus watches for malware; data loss prevention enforces conditions and actions to stop sensitive data leaving.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traps</a:t>
            </a:r>
          </a:p>
          <a:p>
            <a:pPr algn="l">
              <a:spcAft>
                <a:spcPts val="300"/>
              </a:spcAft>
            </a:pPr>
            <a:r>
              <a:rPr sz="1200" b="0">
                <a:solidFill>
                  <a:srgbClr val="5B6372"/>
                </a:solidFill>
                <a:latin typeface="Arial"/>
              </a:rPr>
              <a:t>Network devices push asynchronous SNMP trap messages to the manager when a defined condition occurs.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NetFlow</a:t>
            </a:r>
          </a:p>
          <a:p>
            <a:pPr algn="l">
              <a:spcAft>
                <a:spcPts val="300"/>
              </a:spcAft>
            </a:pPr>
            <a:r>
              <a:rPr sz="1200" b="0">
                <a:solidFill>
                  <a:srgbClr val="5B6372"/>
                </a:solidFill>
                <a:latin typeface="Arial"/>
              </a:rPr>
              <a:t>Records traffic metadata (who talked to whom, how much) rather than payloads; cheap to keep and ideal for spotting trends.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scanners</a:t>
            </a:r>
          </a:p>
          <a:p>
            <a:pPr algn="l">
              <a:spcAft>
                <a:spcPts val="300"/>
              </a:spcAft>
            </a:pPr>
            <a:r>
              <a:rPr sz="1200" b="0">
                <a:solidFill>
                  <a:srgbClr val="5B6372"/>
                </a:solidFill>
                <a:latin typeface="Arial"/>
              </a:rPr>
              <a:t>Feed weakness findings into the same monitoring and reporting pipeline as part of continuous assurance.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ransition spd="med">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Alerting &amp;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Log -&gt; event -&gt; alert -&gt; incident: only a confirmed alert with impact is an incident.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Alert tuning suppresses known-good noise narrowly to fight alert fatigue, without disabling the detection.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NetFlow stores metadata only, so it is cheap to retain and good for trend and beaconing analysis; a full packet capture holds payloads.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SCAP automates benchmark/compliance checks; SNMP traps are device-pushed alerts.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spd="med">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a single-node Wazuh SIEM, aggregates an application log, writes a custom detection, triggers and reads real alerts, reports on them, tunes out a known-good source, queries the REST API and enables archiving.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Wazuh manager with a custom log source, a detection and a tuning rule, an alert report and JSON archiving.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wazuh-manager, wazuh-indexer, curl,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spd="med">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Wazuh all-in-one stack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-sO https://packages.wazuh.com/4.9/wazuh-install.sh; bash wazuh-install.sh -a -i</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services and collect the API password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s in wazuh-manager wazuh-indexer wazuh-dashboard; do systemctl is-active $s; done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Aggregate an application log and add a custom detection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/var/ossec/etc/ossec.conf &lt;&lt;'EOF'  (&lt;localfile&gt; /var/log/labapp.log)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security events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$(seq 1 12); do ssh -o BatchMode=yes baduser$i@127.0.0.1 true 2&gt;/dev/null; done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ransition spd="med">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alerts and build a report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'select(.rule.id=="5710" or ...)' alerts.json | tail; write /root/alert-summary.txt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Tune out a known-good source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/var/ossec/etc/rules/local_rules.xml &lt;&lt;'EOF'  (rule id=100110 level=0)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the SIEM through its REST API</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TOKEN=$(curl -sk -u wazuh:$API_PASS -X POST .../security/user/authenticate?raw=true)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Turn on archiving and check retention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's|&lt;logall_json&gt;no|&lt;logall_json&gt;yes|' ossec.conf; systemctl restart wazuh-manager</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ransition spd="med">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SIEM Alerting and Monitoring with Wazuh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Alert counts appear for rule 5710 and the custom rule 100100, no level-0 alerts remain in the alert file, and archives.json exists so archiving is 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spd="med">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baselines critical files with AIDE, detects a defacement, a dropped backdoor and a new account, responds by restoring and quarantining, re-baselines after an approved change and forwards the check to syslog.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scoped AIDE config and protected baseline, a tamper report, a quarantine folder and a scheduled check to the journal.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aide, cron, logger, journalctl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spd="med">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AIDE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aide; aide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content to protect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'&lt;h1&gt;C628 Bank&lt;/h1&gt;' &gt; /srv/webapp/index.html; cp -a to /root/known-good/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a scoped AIDE configuration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/etc/aide/aide-lab.conf &lt;&lt;'EOF'  (database_in/out, report_url=stdout, selection)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Initialise the baseline and protect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aide --config=/etc/aide/aide-lab.conf --init; cp .db.new .db; chmod 400 .db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spd="med">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an intrusion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HACKED &gt; index.html; cp /bin/sh /usr/local/bin/.sysupdate; chmod 4755; useradd -m svc-update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the changes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aide --config=/etc/aide/aide-lab.conf --check &gt; /root/aide-tamper-report.txt; echo exit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Respond: restore and quarantine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-a /root/known-good/index.html /srv/webapp/; mv .sysupdate /root/quarantine/; usermod -L svc-update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Re-baseline after the approved change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-c offhost/aide-db.sha256; aide --config=... --update; cp .db.new .db</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ransition spd="med">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Schedule the check and forward it to syslog</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cat &gt; /etc/cron.d/aide-lab &lt;&lt;'EOF'  (aide --check | logger -t aide-lab)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ransition spd="med">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File Integrity Monitoring with AIDE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clean check exits 0; after the intrusion the report lists the changed page, the added SUID binary and the new account; after re-baseline the check is clean again.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spd="med">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Enterprise Security Capabilities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Firewall · IDS/IPS · Web &amp; DNS filter · Email (SPF/DKIM/DMARC) · EDR/XDR · UBA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spd="med">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FIREWALL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Firewalls: Rules and Placement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 access lists</a:t>
            </a:r>
          </a:p>
          <a:p>
            <a:pPr algn="l">
              <a:spcAft>
                <a:spcPts val="300"/>
              </a:spcAft>
            </a:pPr>
            <a:r>
              <a:rPr sz="1200" b="0">
                <a:solidFill>
                  <a:srgbClr val="5B6372"/>
                </a:solidFill>
                <a:latin typeface="Arial"/>
              </a:rPr>
              <a:t>Ordered allow and deny rules matched top-down on source, destination, port and protocol; an implicit deny ends the 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Ports / protocols</a:t>
            </a:r>
          </a:p>
          <a:p>
            <a:pPr algn="l">
              <a:spcAft>
                <a:spcPts val="300"/>
              </a:spcAft>
            </a:pPr>
            <a:r>
              <a:rPr sz="1200" b="0">
                <a:solidFill>
                  <a:srgbClr val="5B6372"/>
                </a:solidFill>
                <a:latin typeface="Arial"/>
              </a:rPr>
              <a:t>Permit only the services actually needed, by port and protocol, and block everything else to shrink the attack surface.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A DMZ between two firewalls holds internet-facing servers, so a compromise there does not reach the internal network.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vs application</a:t>
            </a:r>
          </a:p>
          <a:p>
            <a:pPr algn="l">
              <a:spcAft>
                <a:spcPts val="300"/>
              </a:spcAft>
            </a:pPr>
            <a:r>
              <a:rPr sz="1200" b="0">
                <a:solidFill>
                  <a:srgbClr val="5B6372"/>
                </a:solidFill>
                <a:latin typeface="Arial"/>
              </a:rPr>
              <a:t>A traditional firewall filters by address and port; a next-gen or application firewall also inspects the application layer.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spd="med">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IDS VS 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IDS versus IPS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IDS: detect only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IPS: detect and block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Receives a copy of traffic from a tap or SPAN, out of band.</a:t>
            </a:r>
          </a:p>
          <a:p>
            <a:pPr>
              <a:spcAft>
                <a:spcPts val="1000"/>
              </a:spcAft>
            </a:pPr>
            <a:r>
              <a:rPr sz="1600" b="0">
                <a:solidFill>
                  <a:srgbClr val="161B26"/>
                </a:solidFill>
                <a:latin typeface="Arial"/>
              </a:rPr>
              <a:t>•  Can only alert and log; the packet already reached the target.</a:t>
            </a:r>
          </a:p>
          <a:p>
            <a:pPr>
              <a:spcAft>
                <a:spcPts val="1000"/>
              </a:spcAft>
            </a:pPr>
            <a:r>
              <a:rPr sz="1600" b="0">
                <a:solidFill>
                  <a:srgbClr val="161B26"/>
                </a:solidFill>
                <a:latin typeface="Arial"/>
              </a:rPr>
              <a:t>•  A failure or overload never breaks production traffic.</a:t>
            </a:r>
          </a:p>
          <a:p>
            <a:pPr>
              <a:spcAft>
                <a:spcPts val="1000"/>
              </a:spcAft>
            </a:pPr>
            <a:r>
              <a:rPr sz="1600" b="0">
                <a:solidFill>
                  <a:srgbClr val="161B26"/>
                </a:solidFill>
                <a:latin typeface="Arial"/>
              </a:rPr>
              <a:t>•  Suits monitoring and tuning new signatures safely.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Sits inline, so every packet passes through and can be dropped.</a:t>
            </a:r>
          </a:p>
          <a:p>
            <a:pPr>
              <a:spcAft>
                <a:spcPts val="1000"/>
              </a:spcAft>
            </a:pPr>
            <a:r>
              <a:rPr sz="1600" b="0">
                <a:solidFill>
                  <a:srgbClr val="161B26"/>
                </a:solidFill>
                <a:latin typeface="Arial"/>
              </a:rPr>
              <a:t>•  A false positive now blocks legitimate business traffic.</a:t>
            </a:r>
          </a:p>
          <a:p>
            <a:pPr>
              <a:spcAft>
                <a:spcPts val="1000"/>
              </a:spcAft>
            </a:pPr>
            <a:r>
              <a:rPr sz="1600" b="0">
                <a:solidFill>
                  <a:srgbClr val="161B26"/>
                </a:solidFill>
                <a:latin typeface="Arial"/>
              </a:rPr>
              <a:t>•  Must be set deliberately to fail-open or fail-closed.</a:t>
            </a:r>
          </a:p>
          <a:p>
            <a:pPr>
              <a:spcAft>
                <a:spcPts val="1000"/>
              </a:spcAft>
            </a:pPr>
            <a:r>
              <a:rPr sz="1600" b="0">
                <a:solidFill>
                  <a:srgbClr val="161B26"/>
                </a:solidFill>
                <a:latin typeface="Arial"/>
              </a:rPr>
              <a:t>•  Uses signatures and trend/anomaly detection to decide.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spd="med">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WEB FILTER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 Filtering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Agent-based</a:t>
            </a:r>
          </a:p>
          <a:p>
            <a:pPr algn="l">
              <a:spcAft>
                <a:spcPts val="300"/>
              </a:spcAft>
            </a:pPr>
            <a:r>
              <a:rPr sz="1200" b="0">
                <a:solidFill>
                  <a:srgbClr val="5B6372"/>
                </a:solidFill>
                <a:latin typeface="Arial"/>
              </a:rPr>
              <a:t>A client agent on the endpoint enforces the policy wherever the device is, including off the corporate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Centralized proxy</a:t>
            </a:r>
          </a:p>
          <a:p>
            <a:pPr algn="l">
              <a:spcAft>
                <a:spcPts val="300"/>
              </a:spcAft>
            </a:pPr>
            <a:r>
              <a:rPr sz="1200" b="0">
                <a:solidFill>
                  <a:srgbClr val="5B6372"/>
                </a:solidFill>
                <a:latin typeface="Arial"/>
              </a:rPr>
              <a:t>All web traffic routes through a proxy that inspects and enforces the policy in one place.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URL scanning &amp; categories</a:t>
            </a:r>
          </a:p>
          <a:p>
            <a:pPr algn="l">
              <a:spcAft>
                <a:spcPts val="300"/>
              </a:spcAft>
            </a:pPr>
            <a:r>
              <a:rPr sz="1200" b="0">
                <a:solidFill>
                  <a:srgbClr val="5B6372"/>
                </a:solidFill>
                <a:latin typeface="Arial"/>
              </a:rPr>
              <a:t>Classify sites into categories (adult, social, malware, phishing) and block whole categories with a tick-box.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Block rules &amp; reputation</a:t>
            </a:r>
          </a:p>
          <a:p>
            <a:pPr algn="l">
              <a:spcAft>
                <a:spcPts val="300"/>
              </a:spcAft>
            </a:pPr>
            <a:r>
              <a:rPr sz="1200" b="0">
                <a:solidFill>
                  <a:srgbClr val="5B6372"/>
                </a:solidFill>
                <a:latin typeface="Arial"/>
              </a:rPr>
              <a:t>Explicit block rules plus reputation scoring stop newly seen or low-reputation sites before a category is even assigned.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spd="med">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OS SECURITY &amp; PROTOCOLS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OS Hardening and Secure Protocols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Group Policy</a:t>
            </a:r>
          </a:p>
          <a:p>
            <a:pPr algn="l">
              <a:spcAft>
                <a:spcPts val="300"/>
              </a:spcAft>
            </a:pPr>
            <a:r>
              <a:rPr sz="1200" b="0">
                <a:solidFill>
                  <a:srgbClr val="5B6372"/>
                </a:solidFill>
                <a:latin typeface="Arial"/>
              </a:rPr>
              <a:t>On Windows domains, Group Policy pushes security settings to every joined machine from one central place.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SELinux</a:t>
            </a:r>
          </a:p>
          <a:p>
            <a:pPr algn="l">
              <a:spcAft>
                <a:spcPts val="300"/>
              </a:spcAft>
            </a:pPr>
            <a:r>
              <a:rPr sz="1200" b="0">
                <a:solidFill>
                  <a:srgbClr val="5B6372"/>
                </a:solidFill>
                <a:latin typeface="Arial"/>
              </a:rPr>
              <a:t>Mandatory access control on Linux that confines each process by policy, so a compromised service cannot exceed its label.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Protocol selection</a:t>
            </a:r>
          </a:p>
          <a:p>
            <a:pPr algn="l">
              <a:spcAft>
                <a:spcPts val="300"/>
              </a:spcAft>
            </a:pPr>
            <a:r>
              <a:rPr sz="1200" b="0">
                <a:solidFill>
                  <a:srgbClr val="5B6372"/>
                </a:solidFill>
                <a:latin typeface="Arial"/>
              </a:rPr>
              <a:t>Choose the secure variant: SSH not Telnet, HTTPS not HTTP, SFTP/FTPS not FTP, IMAPS/POP3S not cleartext.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&amp; transport</a:t>
            </a:r>
          </a:p>
          <a:p>
            <a:pPr algn="l">
              <a:spcAft>
                <a:spcPts val="300"/>
              </a:spcAft>
            </a:pPr>
            <a:r>
              <a:rPr sz="1200" b="0">
                <a:solidFill>
                  <a:srgbClr val="5B6372"/>
                </a:solidFill>
                <a:latin typeface="Arial"/>
              </a:rPr>
              <a:t>Select the matching secure port and a protected transport (TLS), so the right protocol is not undone by the wrong 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ransition spd="med">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DNS &amp; EMAIL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DNS Filtering and Email 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DNS filtering</a:t>
            </a:r>
          </a:p>
          <a:p>
            <a:pPr algn="l">
              <a:spcAft>
                <a:spcPts val="300"/>
              </a:spcAft>
            </a:pPr>
            <a:r>
              <a:rPr sz="1200" b="0">
                <a:solidFill>
                  <a:srgbClr val="5B6372"/>
                </a:solidFill>
                <a:latin typeface="Arial"/>
              </a:rPr>
              <a:t>Block resolution of known-malicious or disallowed domains at the DNS layer, stopping connections before they start.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SPF</a:t>
            </a:r>
          </a:p>
          <a:p>
            <a:pPr algn="l">
              <a:spcAft>
                <a:spcPts val="300"/>
              </a:spcAft>
            </a:pPr>
            <a:r>
              <a:rPr sz="1200" b="0">
                <a:solidFill>
                  <a:srgbClr val="5B6372"/>
                </a:solidFill>
                <a:latin typeface="Arial"/>
              </a:rPr>
              <a:t>Sender Policy Framework lists which servers may send mail for a domain, so spoofed senders are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DKIM</a:t>
            </a:r>
          </a:p>
          <a:p>
            <a:pPr algn="l">
              <a:spcAft>
                <a:spcPts val="300"/>
              </a:spcAft>
            </a:pPr>
            <a:r>
              <a:rPr sz="1200" b="0">
                <a:solidFill>
                  <a:srgbClr val="5B6372"/>
                </a:solidFill>
                <a:latin typeface="Arial"/>
              </a:rPr>
              <a:t>DomainKeys Identified Mail signs outgoing mail, so the recipient can verify it was not altered and came from the domain.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DMARC</a:t>
            </a:r>
          </a:p>
          <a:p>
            <a:pPr algn="l">
              <a:spcAft>
                <a:spcPts val="300"/>
              </a:spcAft>
            </a:pPr>
            <a:r>
              <a:rPr sz="1200" b="0">
                <a:solidFill>
                  <a:srgbClr val="5B6372"/>
                </a:solidFill>
                <a:latin typeface="Arial"/>
              </a:rPr>
              <a:t>Builds on SPF and DKIM to tell receivers what to do with mail that fails (none, quarantine, reject) and to report back.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Secure gateway</a:t>
            </a:r>
          </a:p>
          <a:p>
            <a:pPr algn="l">
              <a:spcAft>
                <a:spcPts val="300"/>
              </a:spcAft>
            </a:pPr>
            <a:r>
              <a:rPr sz="1200" b="0">
                <a:solidFill>
                  <a:srgbClr val="5B6372"/>
                </a:solidFill>
                <a:latin typeface="Arial"/>
              </a:rPr>
              <a:t>An email security gateway filters spam, phishing and malware and enforces DLP on messages before they are delivered.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ransition spd="med">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DATA &amp; ACCESS CONTROLS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FIM, DLP and NAC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File integrity monitoring</a:t>
            </a:r>
          </a:p>
          <a:p>
            <a:pPr algn="l">
              <a:spcAft>
                <a:spcPts val="300"/>
              </a:spcAft>
            </a:pPr>
            <a:r>
              <a:rPr sz="1200" b="0">
                <a:solidFill>
                  <a:srgbClr val="5B6372"/>
                </a:solidFill>
                <a:latin typeface="Arial"/>
              </a:rPr>
              <a:t>Detective control that hashes critical files and alerts when a watched file is modified, added or removed.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DLP</a:t>
            </a:r>
          </a:p>
          <a:p>
            <a:pPr algn="l">
              <a:spcAft>
                <a:spcPts val="300"/>
              </a:spcAft>
            </a:pPr>
            <a:r>
              <a:rPr sz="1200" b="0">
                <a:solidFill>
                  <a:srgbClr val="5B6372"/>
                </a:solidFill>
                <a:latin typeface="Arial"/>
              </a:rPr>
              <a:t>Data loss prevention inspects data in use, in motion and at rest, and blocks sensitive data (card numbers, NRIC) from leaving.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NAC</a:t>
            </a:r>
          </a:p>
          <a:p>
            <a:pPr algn="l">
              <a:spcAft>
                <a:spcPts val="300"/>
              </a:spcAft>
            </a:pPr>
            <a:r>
              <a:rPr sz="1200" b="0">
                <a:solidFill>
                  <a:srgbClr val="5B6372"/>
                </a:solidFill>
                <a:latin typeface="Arial"/>
              </a:rPr>
              <a:t>Network access control checks a device's identity and posture before admitting it, and can quarantine non-compliant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Posture check</a:t>
            </a:r>
          </a:p>
          <a:p>
            <a:pPr algn="l">
              <a:spcAft>
                <a:spcPts val="300"/>
              </a:spcAft>
            </a:pPr>
            <a:r>
              <a:rPr sz="1200" b="0">
                <a:solidFill>
                  <a:srgbClr val="5B6372"/>
                </a:solidFill>
                <a:latin typeface="Arial"/>
              </a:rPr>
              <a:t>NAC can require patch level, antivirus and encryption before a device joins, placing failures on a remediation VLAN.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spd="med">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EDR/XDR &amp; UBA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Antivirus versus EDR/XDR, and UBA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Signature antivirus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EDR / XDR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Matches files against known malware hashes and patterns.</a:t>
            </a:r>
          </a:p>
          <a:p>
            <a:pPr>
              <a:spcAft>
                <a:spcPts val="1000"/>
              </a:spcAft>
            </a:pPr>
            <a:r>
              <a:rPr sz="1600" b="0">
                <a:solidFill>
                  <a:srgbClr val="161B26"/>
                </a:solidFill>
                <a:latin typeface="Arial"/>
              </a:rPr>
              <a:t>•  Blocks at execution, then largely forgets what happened.</a:t>
            </a:r>
          </a:p>
          <a:p>
            <a:pPr>
              <a:spcAft>
                <a:spcPts val="1000"/>
              </a:spcAft>
            </a:pPr>
            <a:r>
              <a:rPr sz="1600" b="0">
                <a:solidFill>
                  <a:srgbClr val="161B26"/>
                </a:solidFill>
                <a:latin typeface="Arial"/>
              </a:rPr>
              <a:t>•  Blind to fileless attacks that live in memory.</a:t>
            </a:r>
          </a:p>
          <a:p>
            <a:pPr>
              <a:spcAft>
                <a:spcPts val="1000"/>
              </a:spcAft>
            </a:pPr>
            <a:r>
              <a:rPr sz="1600" b="0">
                <a:solidFill>
                  <a:srgbClr val="161B26"/>
                </a:solidFill>
                <a:latin typeface="Arial"/>
              </a:rPr>
              <a:t>•  Leaves little history for an investigator to reconstruct.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Continuously records process, file and network telemetry.</a:t>
            </a:r>
          </a:p>
          <a:p>
            <a:pPr>
              <a:spcAft>
                <a:spcPts val="1000"/>
              </a:spcAft>
            </a:pPr>
            <a:r>
              <a:rPr sz="1600" b="0">
                <a:solidFill>
                  <a:srgbClr val="161B26"/>
                </a:solidFill>
                <a:latin typeface="Arial"/>
              </a:rPr>
              <a:t>•  Detects behaviour chains and supports response (kill, isolate).</a:t>
            </a:r>
          </a:p>
          <a:p>
            <a:pPr>
              <a:spcAft>
                <a:spcPts val="1000"/>
              </a:spcAft>
            </a:pPr>
            <a:r>
              <a:rPr sz="1600" b="0">
                <a:solidFill>
                  <a:srgbClr val="161B26"/>
                </a:solidFill>
                <a:latin typeface="Arial"/>
              </a:rPr>
              <a:t>•  XDR correlates endpoint with network, email, identity and cloud.</a:t>
            </a:r>
          </a:p>
          <a:p>
            <a:pPr>
              <a:spcAft>
                <a:spcPts val="1000"/>
              </a:spcAft>
            </a:pPr>
            <a:r>
              <a:rPr sz="1600" b="0">
                <a:solidFill>
                  <a:srgbClr val="161B26"/>
                </a:solidFill>
                <a:latin typeface="Arial"/>
              </a:rPr>
              <a:t>•  UBA baselines normal user behaviour and flags deviations.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spd="med">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Exam Tips — Enterprise Security Capabilities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IDS is passive (tap, alert only); IPS is inline (can drop). Fail-open favours availability, fail-closed favours security.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SPF lists allowed senders, DKIM signs the message, DMARC sets the policy (none/quarantine/reject) and reporting on failures.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EDR records and responds on the endpoint; XDR correlates across layers; UBA/UEBA flags deviations from a learned baseline.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Screened subnet (DMZ) isolates internet-facing servers; a signature IDS misses zero-days that trend/anomaly detection may catch.</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Secure protocol selection: SSH over Telnet, HTTPS over HTTP, SFTP/FTPS over FTP, with the matching secure 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spd="med">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replaces password logins with key-only SSH, restricts the protocol to modern cryptography, and lets Fail2ban turn failed-login logs into automatic firewall blocks against a simulated attacker address.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sshd drop-in with a banner, an Ed25519 key login and a Fail2ban jail that bans 10.10.10.10.</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openssh-server, fail2ban, nftables, ssh-keygen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spd="med">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openssh-server openssh-client fail2ban python3-systemd nftables; systemctl enable --now ssh</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Audit the current exposure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sshd -T | grep -Ei '^(port|permitrootlogin|passwordauthentication|pubkeyauthentication|maxauthtries)'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and authorise an Ed25519 key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ssh-keygen -t ed25519 -f ~/.ssh/c628_ed25519 -N '' -q; cat *.pub &gt;&gt; ~/.ssh/authorized_keys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Harden sshd with a drop-in file</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/etc/issue.net &lt;&lt;'EOF'; cat &gt; /etc/ssh/sshd_config.d/01-c628-hardening.conf &lt;&lt;'EOF'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ransition spd="med">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key-only login and the negotiated crypto</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ssh -i ~/.ssh/c628_ed25519 -o BatchMode=yes root@127.0.0.1 'echo KEY-LOGIN-OK'</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Configure the Fail2ban jail</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 addr add 10.10.10.10/32 dev lo; cat &gt; /etc/fail2ban/jail.d/sshd-c628.local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a brute-force attempt from the attacker address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u in admin oracle test guest ubuntu; do ssh -b 10.10.10.10 ... true;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Confirm the firewall block, then unban</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nft list ruleset | grep 10.10.10.10; fail2ban-client set sshd unbanip 10.10.10.10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ransition spd="med">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Secure Remote Access: SSH Hardening and Fail2ban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sshd -T confirms passwordauthentication no, key login prints KEY-LOGIN-OK, and Fail2ban lists 10.10.10.10 in the banned IP list until it is unbanned.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spd="med">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runs Suricata as a network IDS on loopback, loads the open ruleset, writes three custom signatures (content, web-attack, scan threshold), generates matching traffic and summarises the alerts from eve.json.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Suricata sensor on loopback, a custom rule file with three signatures and a jq alert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suricata, suricata-update, jq, nmap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spd="med">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Suricata and helpers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suricata jq nmap curl python3; suricata --build-info</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the open ruleset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suricata-update -q || echo 'offline: custom rules still work'</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local web server to protect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cd /srv/lab36 &amp;&amp; nohup python3 -m http.server 8080 --bind 127.0.0.1 &amp;</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custom signatures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/etc/suricata/rules/lab36.rules &lt;&lt;'EOF'  (sid 1000001-1000003)</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spd="med">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Suricata in IDS mode on loopback</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suricata -c /etc/suricata/suricata.yaml -i lo -k none -s rules/lab36.rules -l /var/log/suricata -D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suspicious traffic against your own host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.../secret-admin; curl '...?q=1 UNION SELECT...'; nmap -sS -p 1-200 127.0.0.1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and summarise the alerts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'select(.event_type=="alert")' /var/log/suricata/eve.json; count by signature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Tune a noisy rule and compare IDS with IPS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/etc/suricata/threshold.config &lt;&lt;'EOF'  (suppress sig_id 1000003 by_src)</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spd="med">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Network IDS with Suricata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eve.json contains the three local sids 1000001, 1000002 and 1000003, proving the content rule, the web-attack rule and the scan-threshold rule all fired.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spd="med">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learner installs osquery, queries live host state with SQL, schedules a detection pack with osqueryd, plants a suspicious process and cron persistence, hunts them down, then preserves evidence, contains and eradicates.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osquery from the official repo, a scheduled c628-hunt pack logging JSON results and an evidence folder of hashes.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osquery, osqueryd, jq, netcat-openbsd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spd="med">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osquery from the official repository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add pkg.osquery.io apt repo (signed-by key); apt-get install -y osquery; osqueryi --version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Ask the endpoint questions with osqueryi</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name, pid, path FROM processes ORDER BY resident_size DESC LIMIT 5;"</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Baseline the persistence and privilege surface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path,command FROM crontab;' | tee baseline-crontab.json; suid_bin, kernel_modules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Schedule a detection pack with osqueryd</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/etc/osquery/packs/c628-hunt.conf &lt;&lt;'EOF'; systemctl restart osqueryd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spd="med">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Plant a suspicious process and cron persistence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nc /tmp/.kworker-update; nohup /tmp/.kworker-update -lk 4444 &amp;; rm; echo cron &gt; /etc/cron.d/...</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Hunt for the indicators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osqueryi --json "SELECT pid,path,on_disk FROM processes WHERE on_disk=0 OR path LIKE '/tmp/%';"</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detections in the osqueryd telemetry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jq -c 'select(.action=="added" and (.name|test("suspicious_processes")))' osqueryd.results.log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Respond: preserve evidence, contain, eradicate and confirm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cp /proc/$PID/exe /root/edr/evidence; sha256sum; kill $PID; mv cron and suid to evidence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spd="med">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Endpoint Detection and Response with osquery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After response the hunt queries return empty, the results log shows an 'added' then a 'removed' event for suspicious_processes, and the evidence file holds a 64-hex SHA-256 of the planted binary.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spd="med">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Identity &amp; Access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Lifecycle · SSO &amp; federation · Access models · MFA · Passwords · PAM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spd="med">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IDENTITY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Identity Lifecycle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Provisioning: create the account from an approved request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Identity proofing: verify the person is who they claim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Permission assignment: grant role-based access, not ad hoc</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Attestation: managers periodically recertify the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De-provisioning: disable on exit to end orphaned accounts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ransition spd="med">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PROVISIONING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Provisioning, Proofing and Permissions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Provisioning</a:t>
            </a:r>
          </a:p>
          <a:p>
            <a:pPr algn="l">
              <a:spcAft>
                <a:spcPts val="300"/>
              </a:spcAft>
            </a:pPr>
            <a:r>
              <a:rPr sz="1200" b="0">
                <a:solidFill>
                  <a:srgbClr val="5B6372"/>
                </a:solidFill>
                <a:latin typeface="Arial"/>
              </a:rPr>
              <a:t>Create the account to a standard checklist and issue credentials. Automating it keeps every account consistent and auditable.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proofing</a:t>
            </a:r>
          </a:p>
          <a:p>
            <a:pPr algn="l">
              <a:spcAft>
                <a:spcPts val="300"/>
              </a:spcAft>
            </a:pPr>
            <a:r>
              <a:rPr sz="1200" b="0">
                <a:solidFill>
                  <a:srgbClr val="5B6372"/>
                </a:solidFill>
                <a:latin typeface="Arial"/>
              </a:rPr>
              <a:t>Verify the person before issuing access, using documents or checks. It matters most for external users you do not already know.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Permission assignment</a:t>
            </a:r>
          </a:p>
          <a:p>
            <a:pPr algn="l">
              <a:spcAft>
                <a:spcPts val="300"/>
              </a:spcAft>
            </a:pPr>
            <a:r>
              <a:rPr sz="1200" b="0">
                <a:solidFill>
                  <a:srgbClr val="5B6372"/>
                </a:solidFill>
                <a:latin typeface="Arial"/>
              </a:rPr>
              <a:t>Grant access through roles, not one-off rights. The implication of over-granting is privilege creep and a larger blast radius.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periodic review where owners confirm each entitlement is still needed, so unused access is removed.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De-provisioning</a:t>
            </a:r>
          </a:p>
          <a:p>
            <a:pPr algn="l">
              <a:spcAft>
                <a:spcPts val="300"/>
              </a:spcAft>
            </a:pPr>
            <a:r>
              <a:rPr sz="1200" b="0">
                <a:solidFill>
                  <a:srgbClr val="5B6372"/>
                </a:solidFill>
                <a:latin typeface="Arial"/>
              </a:rPr>
              <a:t>Disable the credential, strip entitlements and end sessions on exit. Orphaned accounts are a favourite attacker foothold.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ransition spd="med">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SSO &amp; FEDERATION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SSO, Federation and the Protocols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sign-on</a:t>
            </a:r>
          </a:p>
          <a:p>
            <a:pPr algn="l">
              <a:spcAft>
                <a:spcPts val="300"/>
              </a:spcAft>
            </a:pPr>
            <a:r>
              <a:rPr sz="1200" b="0">
                <a:solidFill>
                  <a:srgbClr val="5B6372"/>
                </a:solidFill>
                <a:latin typeface="Arial"/>
              </a:rPr>
              <a:t>One authentication grants access to many applications. It improves usability but concentrates risk on that one login.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Federation</a:t>
            </a:r>
          </a:p>
          <a:p>
            <a:pPr algn="l">
              <a:spcAft>
                <a:spcPts val="300"/>
              </a:spcAft>
            </a:pPr>
            <a:r>
              <a:rPr sz="1200" b="0">
                <a:solidFill>
                  <a:srgbClr val="5B6372"/>
                </a:solidFill>
                <a:latin typeface="Arial"/>
              </a:rPr>
              <a:t>Two organisations trust each other's identities, so users log in with their home identity. Roles: identity provider and service provider.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SAML</a:t>
            </a:r>
          </a:p>
          <a:p>
            <a:pPr algn="l">
              <a:spcAft>
                <a:spcPts val="300"/>
              </a:spcAft>
            </a:pPr>
            <a:r>
              <a:rPr sz="1200" b="0">
                <a:solidFill>
                  <a:srgbClr val="5B6372"/>
                </a:solidFill>
                <a:latin typeface="Arial"/>
              </a:rPr>
              <a:t>XML-based assertions for federated web SSO, common in enterprise portals. The IdP sends a signed assertion to the service provider.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OAuth 2.0</a:t>
            </a:r>
          </a:p>
          <a:p>
            <a:pPr algn="l">
              <a:spcAft>
                <a:spcPts val="300"/>
              </a:spcAft>
            </a:pPr>
            <a:r>
              <a:rPr sz="1200" b="0">
                <a:solidFill>
                  <a:srgbClr val="5B6372"/>
                </a:solidFill>
                <a:latin typeface="Arial"/>
              </a:rPr>
              <a:t>A delegated authorisation framework; it grants an app limited access via tokens. OpenID Connect adds authentication on top of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LDAP</a:t>
            </a:r>
          </a:p>
          <a:p>
            <a:pPr algn="l">
              <a:spcAft>
                <a:spcPts val="300"/>
              </a:spcAft>
            </a:pPr>
            <a:r>
              <a:rPr sz="1200" b="0">
                <a:solidFill>
                  <a:srgbClr val="5B6372"/>
                </a:solidFill>
                <a:latin typeface="Arial"/>
              </a:rPr>
              <a:t>The directory protocol (such as Active Directory) that stores users and groups and answers authentication and lookup queries.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Interoperability</a:t>
            </a:r>
          </a:p>
          <a:p>
            <a:pPr algn="l">
              <a:spcAft>
                <a:spcPts val="300"/>
              </a:spcAft>
            </a:pPr>
            <a:r>
              <a:rPr sz="1200" b="0">
                <a:solidFill>
                  <a:srgbClr val="5B6372"/>
                </a:solidFill>
                <a:latin typeface="Arial"/>
              </a:rPr>
              <a:t>These protocols must work together; mismatched settings between an IdP and a service provider are a common federation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spd="med">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ACCESS MODELS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Control Models You Must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DAC</a:t>
            </a:r>
          </a:p>
          <a:p>
            <a:pPr algn="l">
              <a:spcAft>
                <a:spcPts val="300"/>
              </a:spcAft>
            </a:pPr>
            <a:r>
              <a:rPr sz="1100" b="0">
                <a:solidFill>
                  <a:srgbClr val="5B6372"/>
                </a:solidFill>
                <a:latin typeface="Arial"/>
              </a:rPr>
              <a:t>Discretionary: the resource owner sets permissions, as Linux file mode bits and ACLs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MAC</a:t>
            </a:r>
          </a:p>
          <a:p>
            <a:pPr algn="l">
              <a:spcAft>
                <a:spcPts val="300"/>
              </a:spcAft>
            </a:pPr>
            <a:r>
              <a:rPr sz="1100" b="0">
                <a:solidFill>
                  <a:srgbClr val="5B6372"/>
                </a:solidFill>
                <a:latin typeface="Arial"/>
              </a:rPr>
              <a:t>Mandatory: system-wide labels and clearances the user cannot override, as in SELinux and government classification.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RBAC</a:t>
            </a:r>
          </a:p>
          <a:p>
            <a:pPr algn="l">
              <a:spcAft>
                <a:spcPts val="300"/>
              </a:spcAft>
            </a:pPr>
            <a:r>
              <a:rPr sz="1100" b="0">
                <a:solidFill>
                  <a:srgbClr val="5B6372"/>
                </a:solidFill>
                <a:latin typeface="Arial"/>
              </a:rPr>
              <a:t>Role-based: permissions attach to roles and users inherit them by holding a role. Linux groups approximate this.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Rule-based</a:t>
            </a:r>
          </a:p>
          <a:p>
            <a:pPr algn="l">
              <a:spcAft>
                <a:spcPts val="300"/>
              </a:spcAft>
            </a:pPr>
            <a:r>
              <a:rPr sz="1100" b="0">
                <a:solidFill>
                  <a:srgbClr val="5B6372"/>
                </a:solidFill>
                <a:latin typeface="Arial"/>
              </a:rPr>
              <a:t>The same rule applies to everyone, such as a firewall ACL or a time-of-day login restriction.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ABAC</a:t>
            </a:r>
          </a:p>
          <a:p>
            <a:pPr algn="l">
              <a:spcAft>
                <a:spcPts val="300"/>
              </a:spcAft>
            </a:pPr>
            <a:r>
              <a:rPr sz="1100" b="0">
                <a:solidFill>
                  <a:srgbClr val="5B6372"/>
                </a:solidFill>
                <a:latin typeface="Arial"/>
              </a:rPr>
              <a:t>Attribute-based: each request is evaluated on attributes such as department, device posture, time and location.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Time-of-day</a:t>
            </a:r>
          </a:p>
          <a:p>
            <a:pPr algn="l">
              <a:spcAft>
                <a:spcPts val="300"/>
              </a:spcAft>
            </a:pPr>
            <a:r>
              <a:rPr sz="1100" b="0">
                <a:solidFill>
                  <a:srgbClr val="5B6372"/>
                </a:solidFill>
                <a:latin typeface="Arial"/>
              </a:rPr>
              <a:t>A rule-based restriction that permits access only during defined hours, enforced on Linux by pam_time.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spd="med">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MFA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Factors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A password, PIN or security question. The weakest factor, because it can be phished, guessed or reused.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A TOTP app, hardware token, smart card or FIDO2 security key. It proves possession of an object.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A biometric such as a fingerprint or face. Judge it by false acceptance, false rejection and crossover error rate.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or network context used as an attribute in conditional access, not a standalone factor.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Implementations</a:t>
            </a:r>
          </a:p>
          <a:p>
            <a:pPr algn="l">
              <a:spcAft>
                <a:spcPts val="300"/>
              </a:spcAft>
            </a:pPr>
            <a:r>
              <a:rPr sz="1200" b="0">
                <a:solidFill>
                  <a:srgbClr val="5B6372"/>
                </a:solidFill>
                <a:latin typeface="Arial"/>
              </a:rPr>
              <a:t>Biometrics, hard and soft authentication tokens, and security keys. Keys bound to an origin are phishing-resistant.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 MFA</a:t>
            </a:r>
          </a:p>
          <a:p>
            <a:pPr algn="l">
              <a:spcAft>
                <a:spcPts val="300"/>
              </a:spcAft>
            </a:pPr>
            <a:r>
              <a:rPr sz="1200" b="0">
                <a:solidFill>
                  <a:srgbClr val="5B6372"/>
                </a:solidFill>
                <a:latin typeface="Arial"/>
              </a:rPr>
              <a:t>Combine two different categories. A password plus a security question is two steps in one category, not MFA.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spd="med">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PASSWORD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Password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Length beats complexity: a long passphrase resists guessing better than short, rule-stuffed passwords.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Block reuse with password history, and set a minimum age so a user cannot cycle back to an old password.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Expiration (maximum age) is now discouraged by NIST unless a compromise is suspected; forced rotation drives weak patterns.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password manager stores unique strong passwords behind one vault (master) password, which must itself be strong and protected.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Passwordless methods (passkeys, FIDO2, biometrics) remove the password entirely and resist phishing.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spd="med">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PAM TOOLS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Privileged Access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JIT permissions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Elevated rights granted only for an approved window</a:t>
            </a:r>
          </a:p>
          <a:p>
            <a:pPr>
              <a:spcAft>
                <a:spcPts val="900"/>
              </a:spcAft>
            </a:pPr>
            <a:r>
              <a:rPr sz="1400" b="0">
                <a:solidFill>
                  <a:srgbClr val="161B26"/>
                </a:solidFill>
                <a:latin typeface="Arial"/>
              </a:rPr>
              <a:t>•  They expire automatically when the task is done</a:t>
            </a:r>
          </a:p>
          <a:p>
            <a:pPr>
              <a:spcAft>
                <a:spcPts val="900"/>
              </a:spcAft>
            </a:pPr>
            <a:r>
              <a:rPr sz="1400" b="0">
                <a:solidFill>
                  <a:srgbClr val="161B26"/>
                </a:solidFill>
                <a:latin typeface="Arial"/>
              </a:rPr>
              <a:t>•  No standing admin access to steal or misuse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Password vaulting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Shared and admin credentials live in a vault</a:t>
            </a:r>
          </a:p>
          <a:p>
            <a:pPr>
              <a:spcAft>
                <a:spcPts val="900"/>
              </a:spcAft>
            </a:pPr>
            <a:r>
              <a:rPr sz="1400" b="0">
                <a:solidFill>
                  <a:srgbClr val="161B26"/>
                </a:solidFill>
                <a:latin typeface="Arial"/>
              </a:rPr>
              <a:t>•  Users check them out; use is logged and audited</a:t>
            </a:r>
          </a:p>
          <a:p>
            <a:pPr>
              <a:spcAft>
                <a:spcPts val="900"/>
              </a:spcAft>
            </a:pPr>
            <a:r>
              <a:rPr sz="1400" b="0">
                <a:solidFill>
                  <a:srgbClr val="161B26"/>
                </a:solidFill>
                <a:latin typeface="Arial"/>
              </a:rPr>
              <a:t>•  Passwords are rotated after each checkout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Ephemeral creds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Short-lived, single-use credentials or tokens</a:t>
            </a:r>
          </a:p>
          <a:p>
            <a:pPr>
              <a:spcAft>
                <a:spcPts val="900"/>
              </a:spcAft>
            </a:pPr>
            <a:r>
              <a:rPr sz="1400" b="0">
                <a:solidFill>
                  <a:srgbClr val="161B26"/>
                </a:solidFill>
                <a:latin typeface="Arial"/>
              </a:rPr>
              <a:t>•  They cannot be reused once they expire</a:t>
            </a:r>
          </a:p>
          <a:p>
            <a:pPr>
              <a:spcAft>
                <a:spcPts val="900"/>
              </a:spcAft>
            </a:pPr>
            <a:r>
              <a:rPr sz="1400" b="0">
                <a:solidFill>
                  <a:srgbClr val="161B26"/>
                </a:solidFill>
                <a:latin typeface="Arial"/>
              </a:rPr>
              <a:t>•  Common for cloud and service-to-service access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spd="med">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4.6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Identity &amp; Access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RBAC grants rights to roles; rule-based applies one rule to everyone (time of day, ACL). Do not confuse the two.</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DAC = owner decides (file permissions); MAC = labels the user cannot change (SELinux, classification).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SAML = enterprise web SSO (XML assertions); OAuth = delegated authorisation (tokens); OIDC = authentication on OAuth.</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True MFA needs factors from different categories; a password plus a PIN is still only something you know.</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JIT, vaulting and ephemeral credentials all reduce standing privilege, the thing PAM tools exist to remove.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spd="med">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Provision role-based users, scope sudo per role, add JIT elevation, enforce a pwquality and faillock policy, apply a time-of-day rule, then de-provision a leaver.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RBAC roles with scoped sudo, a self-revoking JIT grant, pwquality, pam_faillock, pam_time and an offboarded account.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sudo, acl, libpam-pwquality, pam_faillock, pam_time, pamtester, chage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spd="med">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sudo acl libpam-pwquality libpwquality-tools pamtester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Provision role groups and users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while IFS=: read -r u g gecos; do useradd -m -G "$g" -c "$gecos" "$u"; done &lt;&lt;'EOF'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Assign file permissions with DAC and ACLs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chown root:auditor /srv/reports; chmod 750 /srv/reports; setfacl -m u:bob:rx /srv/reports</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Scope sudo per role (RBAC)</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/etc/sudoers.d/10-roles &lt;&lt;'EOF' ... ; visudo -cf /etc/sudoers.d/10-roles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spd="med">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Grant a self-revoking JIT privilege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systemd-run --unit=jit-revoke-carol --on-active=120 /bin/rm -f /etc/sudoers.d/90-jit-carol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a password policy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&gt;&gt; /etc/security/pwquality.conf &lt;&lt;'EOF'; chage -M 365 -m 1 -W 14 alice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Lock out repeated failures with pam_faillock</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1 2 3 4 5 6; do echo 'wrong-guess' | pamtester labauth alice authenticate; done; faillock --user alice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Restrict logins by time of day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'labauth;*;alice;Wk0800-1900' &gt;&gt; /etc/security/time.conf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spd="med">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De-provision a leaver</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usermod -L -e 1 -s /usr/sbin/nologin bob; gpasswd -d bob dbops; pkill -KILL -u bob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spd="med">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Identity &amp; Access Management with PAM and sudo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90-jit-carol is auto-removed after 2 minutes, roles still work, alice is locked after 5 bad guesses, and bob (the leaver) can no longer authenticate.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spd="med">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Enrol a user in TOTP, build a password-plus-code PAM service, prove one factor is not enough, test replay protection and backup codes, then enforce MFA for SSH.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TOTP-enrolled account, a two-factor PAM service, and an SSH Match block demanding keyboard-interactive MFA.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libpam-google-authenticator, oathtool, qrencode, pamtester,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ransition spd="med">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libpam-google-authenticator oathtool qrencode pamtester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 user and enrol a TOTP secret</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sudo -u mfauser google-authenticator -t -d -f -r 10 -R 30 -w 3 -e 5 -q -s /home/mfauser/.google_authenticator</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Inspect the shared secret and QR code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qrencode -t ANSIUTF8 "otpauth://totp/C628-Lab:mfauser?secret=$SECRET&amp;issuer=C628-Lab"</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codes like an authenticator app</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oathtool --totp -b "$SECRET"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spd="med">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two-factor PAM service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/etc/pam.d/mfa-lab &lt;&lt;'EOF' (pam_google_authenticator forward_pass + pam_unix use_first_pass)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Prove that one factor is not enough</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'Labs-Pass-2026' | pamtester mfa-lab mfauser authenticate  # rejected</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Log in with both factors, test replay and a backup code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echo "Labs-Pass-2026$(oathtool --totp -b "$SECRET")" | pamtester mfa-lab mfauser authenticate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MFA for SSH logins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'\nMatch User mfauser\n  AuthenticationMethods keyboard-interactive\n' &gt;&gt; /etc/ssh/sshd_config; sshd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spd="med">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with TOTP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Password alone is rejected, password plus the current code is accepted, a replayed code is refused, and sshd -T shows keyboard-interactive for mfauser.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ransition spd="med">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Automation &amp; Orchestration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Use cases · Benefits · Considerations · SOAR playbooks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spd="med">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4.7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Machines do the repetitive work at machine speed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Automation performs one task reliably; orchestration chains many tasks across tools into a workflow. Together they cut reaction time and remove human error from routine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spd="med">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USE CASES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of Automation and Scripting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User provisioning</a:t>
            </a:r>
          </a:p>
          <a:p>
            <a:pPr algn="l">
              <a:spcAft>
                <a:spcPts val="300"/>
              </a:spcAft>
            </a:pPr>
            <a:r>
              <a:rPr sz="1200" b="0">
                <a:solidFill>
                  <a:srgbClr val="5B6372"/>
                </a:solidFill>
                <a:latin typeface="Arial"/>
              </a:rPr>
              <a:t>Create, group and disable accounts straight from an HR feed, so every account is consistent and leavers are closed on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 provisioning</a:t>
            </a:r>
          </a:p>
          <a:p>
            <a:pPr algn="l">
              <a:spcAft>
                <a:spcPts val="300"/>
              </a:spcAft>
            </a:pPr>
            <a:r>
              <a:rPr sz="1200" b="0">
                <a:solidFill>
                  <a:srgbClr val="5B6372"/>
                </a:solidFill>
                <a:latin typeface="Arial"/>
              </a:rPr>
              <a:t>Stand up servers, storage and networks from code, with the secure baseline already applied.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 rails</a:t>
            </a:r>
          </a:p>
          <a:p>
            <a:pPr algn="l">
              <a:spcAft>
                <a:spcPts val="300"/>
              </a:spcAft>
            </a:pPr>
            <a:r>
              <a:rPr sz="1200" b="0">
                <a:solidFill>
                  <a:srgbClr val="5B6372"/>
                </a:solidFill>
                <a:latin typeface="Arial"/>
              </a:rPr>
              <a:t>Automated limits that stop an unsafe action, such as refusing to block the management network or open a public bucket.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groups</a:t>
            </a:r>
          </a:p>
          <a:p>
            <a:pPr algn="l">
              <a:spcAft>
                <a:spcPts val="300"/>
              </a:spcAft>
            </a:pPr>
            <a:r>
              <a:rPr sz="1200" b="0">
                <a:solidFill>
                  <a:srgbClr val="5B6372"/>
                </a:solidFill>
                <a:latin typeface="Arial"/>
              </a:rPr>
              <a:t>Apply the same firewall or cloud access rules to many resources at once, consistently.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Ticketing and escalation</a:t>
            </a:r>
          </a:p>
          <a:p>
            <a:pPr algn="l">
              <a:spcAft>
                <a:spcPts val="300"/>
              </a:spcAft>
            </a:pPr>
            <a:r>
              <a:rPr sz="1200" b="0">
                <a:solidFill>
                  <a:srgbClr val="5B6372"/>
                </a:solidFill>
                <a:latin typeface="Arial"/>
              </a:rPr>
              <a:t>Open a ticket automatically on an alert and escalate or page a human when thresholds are crossed.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Enable/disable access</a:t>
            </a:r>
          </a:p>
          <a:p>
            <a:pPr algn="l">
              <a:spcAft>
                <a:spcPts val="300"/>
              </a:spcAft>
            </a:pPr>
            <a:r>
              <a:rPr sz="1200" b="0">
                <a:solidFill>
                  <a:srgbClr val="5B6372"/>
                </a:solidFill>
                <a:latin typeface="Arial"/>
              </a:rPr>
              <a:t>Turn services and access on or off on a schedule or in response to an event, such as JIT elevation.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spd="med">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USE CASES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Pipelines and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CI and testing</a:t>
            </a:r>
          </a:p>
          <a:p>
            <a:pPr algn="l">
              <a:spcAft>
                <a:spcPts val="300"/>
              </a:spcAft>
            </a:pPr>
            <a:r>
              <a:rPr sz="1200" b="0">
                <a:solidFill>
                  <a:srgbClr val="5B6372"/>
                </a:solidFill>
                <a:latin typeface="Arial"/>
              </a:rPr>
              <a:t>Every change is built, scanned and tested automatically before it ships, so flaws are caught early.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Integrations and APIs</a:t>
            </a:r>
          </a:p>
          <a:p>
            <a:pPr algn="l">
              <a:spcAft>
                <a:spcPts val="300"/>
              </a:spcAft>
            </a:pPr>
            <a:r>
              <a:rPr sz="1200" b="0">
                <a:solidFill>
                  <a:srgbClr val="5B6372"/>
                </a:solidFill>
                <a:latin typeface="Arial"/>
              </a:rPr>
              <a:t>Tools talk to each other through APIs, which is what lets one alert drive actions across many systems.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Playbooks (SOAR)</a:t>
            </a:r>
          </a:p>
          <a:p>
            <a:pPr algn="l">
              <a:spcAft>
                <a:spcPts val="300"/>
              </a:spcAft>
            </a:pPr>
            <a:r>
              <a:rPr sz="1200" b="0">
                <a:solidFill>
                  <a:srgbClr val="5B6372"/>
                </a:solidFill>
                <a:latin typeface="Arial"/>
              </a:rPr>
              <a:t>A playbook is a machine-executable version of the runbook an analyst would follow by hand.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Infrastructure as code</a:t>
            </a:r>
          </a:p>
          <a:p>
            <a:pPr algn="l">
              <a:spcAft>
                <a:spcPts val="300"/>
              </a:spcAft>
            </a:pPr>
            <a:r>
              <a:rPr sz="1200" b="0">
                <a:solidFill>
                  <a:srgbClr val="5B6372"/>
                </a:solidFill>
                <a:latin typeface="Arial"/>
              </a:rPr>
              <a:t>Configuration lives in version control, so changes are reviewed, repeatable and easy to roll 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spd="med">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SOAR LOOP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Detect, Decide, Act, Record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Detect: an alert or webhook triggers the playbook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Enrich: add threat intel, asset owner and user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apply logic and pause for approval if high impact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 contain, block, disable or open a ticket automatically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log every step to the case for audit and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spd="med">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BENEFITS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Benefits of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Efficiency and reaction time</a:t>
            </a:r>
          </a:p>
          <a:p>
            <a:pPr algn="l">
              <a:spcAft>
                <a:spcPts val="300"/>
              </a:spcAft>
            </a:pPr>
            <a:r>
              <a:rPr sz="1200" b="0">
                <a:solidFill>
                  <a:srgbClr val="5B6372"/>
                </a:solidFill>
                <a:latin typeface="Arial"/>
              </a:rPr>
              <a:t>Routine responses happen in seconds, which cuts attacker dwell time and the blast radius of an incident.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Enforcing baselines</a:t>
            </a:r>
          </a:p>
          <a:p>
            <a:pPr algn="l">
              <a:spcAft>
                <a:spcPts val="300"/>
              </a:spcAft>
            </a:pPr>
            <a:r>
              <a:rPr sz="1200" b="0">
                <a:solidFill>
                  <a:srgbClr val="5B6372"/>
                </a:solidFill>
                <a:latin typeface="Arial"/>
              </a:rPr>
              <a:t>Every system is built from the same standard configuration, so drift and one-off mistakes disappear.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scaling</a:t>
            </a:r>
          </a:p>
          <a:p>
            <a:pPr algn="l">
              <a:spcAft>
                <a:spcPts val="300"/>
              </a:spcAft>
            </a:pPr>
            <a:r>
              <a:rPr sz="1200" b="0">
                <a:solidFill>
                  <a:srgbClr val="5B6372"/>
                </a:solidFill>
                <a:latin typeface="Arial"/>
              </a:rPr>
              <a:t>The same controls apply whether you run ten hosts or ten thousand, without more staff.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Workforce multiplier</a:t>
            </a:r>
          </a:p>
          <a:p>
            <a:pPr algn="l">
              <a:spcAft>
                <a:spcPts val="300"/>
              </a:spcAft>
            </a:pPr>
            <a:r>
              <a:rPr sz="1200" b="0">
                <a:solidFill>
                  <a:srgbClr val="5B6372"/>
                </a:solidFill>
                <a:latin typeface="Arial"/>
              </a:rPr>
              <a:t>Analysts stop doing repetitive toil and focus on real analysis, which also improves employee retention.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ransition spd="med">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CONSIDERATIONS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Other Considerations (the Trade-offs)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Complexity</a:t>
            </a:r>
          </a:p>
          <a:p>
            <a:pPr algn="l">
              <a:spcAft>
                <a:spcPts val="300"/>
              </a:spcAft>
            </a:pPr>
            <a:r>
              <a:rPr sz="1200" b="0">
                <a:solidFill>
                  <a:srgbClr val="5B6372"/>
                </a:solidFill>
                <a:latin typeface="Arial"/>
              </a:rPr>
              <a:t>A big automation estate is hard to understand, test and troubleshoot when something goes wrong.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a:t>
            </a:r>
          </a:p>
          <a:p>
            <a:pPr algn="l">
              <a:spcAft>
                <a:spcPts val="300"/>
              </a:spcAft>
            </a:pPr>
            <a:r>
              <a:rPr sz="1200" b="0">
                <a:solidFill>
                  <a:srgbClr val="5B6372"/>
                </a:solidFill>
                <a:latin typeface="Arial"/>
              </a:rPr>
              <a:t>Orchestration platforms are licensed separately and are not cheap; add the cost of building and maintaining playbooks.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point of failure</a:t>
            </a:r>
          </a:p>
          <a:p>
            <a:pPr algn="l">
              <a:spcAft>
                <a:spcPts val="300"/>
              </a:spcAft>
            </a:pPr>
            <a:r>
              <a:rPr sz="1200" b="0">
                <a:solidFill>
                  <a:srgbClr val="5B6372"/>
                </a:solidFill>
                <a:latin typeface="Arial"/>
              </a:rPr>
              <a:t>If one platform automates everything, its outage or compromise stops or endangers everything at once.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Technical debt</a:t>
            </a:r>
          </a:p>
          <a:p>
            <a:pPr algn="l">
              <a:spcAft>
                <a:spcPts val="300"/>
              </a:spcAft>
            </a:pPr>
            <a:r>
              <a:rPr sz="1200" b="0">
                <a:solidFill>
                  <a:srgbClr val="5B6372"/>
                </a:solidFill>
                <a:latin typeface="Arial"/>
              </a:rPr>
              <a:t>Quick scripts nobody maintains rot over time and break silently when the environment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Ongoing supportability</a:t>
            </a:r>
          </a:p>
          <a:p>
            <a:pPr algn="l">
              <a:spcAft>
                <a:spcPts val="300"/>
              </a:spcAft>
            </a:pPr>
            <a:r>
              <a:rPr sz="1200" b="0">
                <a:solidFill>
                  <a:srgbClr val="5B6372"/>
                </a:solidFill>
                <a:latin typeface="Arial"/>
              </a:rPr>
              <a:t>Someone must own, patch, test and update the automation for its whole life, not just build it once.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ransition spd="med">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4.7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Automation &amp; Orchestration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Automation = one task; orchestration = many tasks and tools chained into a workflow.</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SIEM detects and alerts; SOAR orchestrates the response (block, disable, ticket). 'Automatically open a ticket' points to SOAR.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Benefits: efficiency, reaction time, enforced baselines, secure scaling, workforce multiplier.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Drawbacks: complexity, cost, single point of failure, technical debt, ongoing supportability.</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Guard rails prevent unsafe automated actions; security groups apply consistent access to many resources.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ransition spd="med">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4.7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Automate user provisioning from an HR feed, then build a detect-decide-act-record playbook with guard rails that blocks an attacker, opens a ticket and escalates through a mock API, tested CI-style.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provision.sh, soar.sh, a mock ticketing/paging API, a systemd service running the playbook, and a documented rollback.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jq, shellcheck, iptables, curl, python3, systemd, logger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ransition spd="med">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jq shellcheck iptables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Automate user provisioning from an HR feed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provision.sh /etc/soar/hr_feed.csv  # create active staff, add to sg-&lt;dept&gt;, disable leavers</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mock ticketing and paging API</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nohup python3 /usr/local/bin/mock-api.py &amp; ; curl -s -X POST -d '{"test":"ping"}' http://127.0.0.1:8088/hook</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playbook with guard rails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/usr/local/bin/soar.sh &lt;&lt;'EOF' (allowlist, THRESHOLD, DRY_RUN guard rails)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ransition spd="med">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Test the playbook the CI way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bash -n soar.sh; shellcheck -S warning soar.sh; DRY_RUN=1 soar.sh &lt; /tmp/ci-sample.log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playbook as a service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systemctl enable --now soar.service  # journalctl -f -t sshd | soar.sh</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Trigger an incident and observe the response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for i in $(seq 1 6); do logger -p auth.warning -t sshd 'Failed password ... from 203.0.113.50 ...'; done</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Roll back: re-enable access after review</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iptables -D INPUT -s 203.0.113.50 -j DROP; jq '.status="closed"' "$T" &gt; "$T.tmp" &amp;&amp; mv "$T.tmp" "$T"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spd="med">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Automation and Orchestration with a Mini-SOAR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service is active; a fresh attacker IP is blocked once in iptables, gets one ticket JSON and one escalation in the API log, with no human involved.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spd="med">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Incident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Process · Training &amp; testing · RCA · Threat hunting · Forensics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spd="med">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IR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Incident Response Process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Preparation: plan, team, tools and playbooks in place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Detection and analysis: validate, scope and prioritise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Containment: isolate to stop the spread</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Eradication: remove the malware, accounts and persistence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Recovery: restore service and monitor closely</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Lessons learned: review and feed back into preparation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spd="med">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PHASES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Each Phase Means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Preparation</a:t>
            </a:r>
          </a:p>
          <a:p>
            <a:pPr algn="l">
              <a:spcAft>
                <a:spcPts val="300"/>
              </a:spcAft>
            </a:pPr>
            <a:r>
              <a:rPr sz="1200" b="0">
                <a:solidFill>
                  <a:srgbClr val="5B6372"/>
                </a:solidFill>
                <a:latin typeface="Arial"/>
              </a:rPr>
              <a:t>The work done before any incident: the IR plan, trained team, communication plan, jump-bag tools and playbooks.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Detection</a:t>
            </a:r>
          </a:p>
          <a:p>
            <a:pPr algn="l">
              <a:spcAft>
                <a:spcPts val="300"/>
              </a:spcAft>
            </a:pPr>
            <a:r>
              <a:rPr sz="1200" b="0">
                <a:solidFill>
                  <a:srgbClr val="5B6372"/>
                </a:solidFill>
                <a:latin typeface="Arial"/>
              </a:rPr>
              <a:t>Recognising an incident from an alert, a user report, a hunt or a third party, and confirming it is real.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Analysis</a:t>
            </a:r>
          </a:p>
          <a:p>
            <a:pPr algn="l">
              <a:spcAft>
                <a:spcPts val="300"/>
              </a:spcAft>
            </a:pPr>
            <a:r>
              <a:rPr sz="1200" b="0">
                <a:solidFill>
                  <a:srgbClr val="5B6372"/>
                </a:solidFill>
                <a:latin typeface="Arial"/>
              </a:rPr>
              <a:t>Scoping what is affected, assessing impact and setting priority so the response matches the severity.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Containment</a:t>
            </a:r>
          </a:p>
          <a:p>
            <a:pPr algn="l">
              <a:spcAft>
                <a:spcPts val="300"/>
              </a:spcAft>
            </a:pPr>
            <a:r>
              <a:rPr sz="1200" b="0">
                <a:solidFill>
                  <a:srgbClr val="5B6372"/>
                </a:solidFill>
                <a:latin typeface="Arial"/>
              </a:rPr>
              <a:t>Short-term isolation then a durable fix, chosen so it stops damage without destroying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Eradication</a:t>
            </a:r>
          </a:p>
          <a:p>
            <a:pPr algn="l">
              <a:spcAft>
                <a:spcPts val="300"/>
              </a:spcAft>
            </a:pPr>
            <a:r>
              <a:rPr sz="1200" b="0">
                <a:solidFill>
                  <a:srgbClr val="5B6372"/>
                </a:solidFill>
                <a:latin typeface="Arial"/>
              </a:rPr>
              <a:t>Removing the root cause: malware, rogue accounts, persistence and the exploited weakness.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Recovery</a:t>
            </a:r>
          </a:p>
          <a:p>
            <a:pPr algn="l">
              <a:spcAft>
                <a:spcPts val="300"/>
              </a:spcAft>
            </a:pPr>
            <a:r>
              <a:rPr sz="1200" b="0">
                <a:solidFill>
                  <a:srgbClr val="5B6372"/>
                </a:solidFill>
                <a:latin typeface="Arial"/>
              </a:rPr>
              <a:t>Returning systems to normal service only after verification, with heightened monitoring for a period.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spd="med">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READINESS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Training, Testing and 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a:t>
            </a:r>
          </a:p>
          <a:p>
            <a:pPr algn="l">
              <a:spcAft>
                <a:spcPts val="300"/>
              </a:spcAft>
            </a:pPr>
            <a:r>
              <a:rPr sz="1200" b="0">
                <a:solidFill>
                  <a:srgbClr val="5B6372"/>
                </a:solidFill>
                <a:latin typeface="Arial"/>
              </a:rPr>
              <a:t>Everyone knows their role and the plan before an incident, so no one improvises under pressure.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Tabletop exercise</a:t>
            </a:r>
          </a:p>
          <a:p>
            <a:pPr algn="l">
              <a:spcAft>
                <a:spcPts val="300"/>
              </a:spcAft>
            </a:pPr>
            <a:r>
              <a:rPr sz="1200" b="0">
                <a:solidFill>
                  <a:srgbClr val="5B6372"/>
                </a:solidFill>
                <a:latin typeface="Arial"/>
              </a:rPr>
              <a:t>A discussion-based walk through a scenario; no live systems are touched, cheap and good for decision practice.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Simulation</a:t>
            </a:r>
          </a:p>
          <a:p>
            <a:pPr algn="l">
              <a:spcAft>
                <a:spcPts val="300"/>
              </a:spcAft>
            </a:pPr>
            <a:r>
              <a:rPr sz="1200" b="0">
                <a:solidFill>
                  <a:srgbClr val="5B6372"/>
                </a:solidFill>
                <a:latin typeface="Arial"/>
              </a:rPr>
              <a:t>A hands-on exercise with realistic, synthetic events, such as a simulated phishing or breach, to test the response for real.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cause analysis</a:t>
            </a:r>
          </a:p>
          <a:p>
            <a:pPr algn="l">
              <a:spcAft>
                <a:spcPts val="300"/>
              </a:spcAft>
            </a:pPr>
            <a:r>
              <a:rPr sz="1200" b="0">
                <a:solidFill>
                  <a:srgbClr val="5B6372"/>
                </a:solidFill>
                <a:latin typeface="Arial"/>
              </a:rPr>
              <a:t>Drill to the underlying cause, for example with the five whys, so the same incident cannot recur.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 hunting</a:t>
            </a:r>
          </a:p>
          <a:p>
            <a:pPr algn="l">
              <a:spcAft>
                <a:spcPts val="300"/>
              </a:spcAft>
            </a:pPr>
            <a:r>
              <a:rPr sz="1200" b="0">
                <a:solidFill>
                  <a:srgbClr val="5B6372"/>
                </a:solidFill>
                <a:latin typeface="Arial"/>
              </a:rPr>
              <a:t>Proactively searching for indicators across the estate on the assumption a compromise may already exist.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Lessons learned</a:t>
            </a:r>
          </a:p>
          <a:p>
            <a:pPr algn="l">
              <a:spcAft>
                <a:spcPts val="300"/>
              </a:spcAft>
            </a:pPr>
            <a:r>
              <a:rPr sz="1200" b="0">
                <a:solidFill>
                  <a:srgbClr val="5B6372"/>
                </a:solidFill>
                <a:latin typeface="Arial"/>
              </a:rPr>
              <a:t>A blameless review that turns findings into concrete improvements back in the preparation phase.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ransition spd="med">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VOLATILITY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Order of Volatility for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1. CPU and memory</a:t>
            </a:r>
          </a:p>
          <a:p>
            <a:pPr algn="l">
              <a:spcAft>
                <a:spcPts val="300"/>
              </a:spcAft>
            </a:pPr>
            <a:r>
              <a:rPr sz="1100" b="0">
                <a:solidFill>
                  <a:srgbClr val="5B6372"/>
                </a:solidFill>
                <a:latin typeface="Arial"/>
              </a:rPr>
              <a:t>Registers, cache and RAM, which hold keys and injected code that vanish when power is lost.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 Network and process state</a:t>
            </a:r>
          </a:p>
          <a:p>
            <a:pPr algn="l">
              <a:spcAft>
                <a:spcPts val="300"/>
              </a:spcAft>
            </a:pPr>
            <a:r>
              <a:rPr sz="1100" b="0">
                <a:solidFill>
                  <a:srgbClr val="5B6372"/>
                </a:solidFill>
                <a:latin typeface="Arial"/>
              </a:rPr>
              <a:t>Active connections, routing and ARP tables, running processes and open file handles.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3. Temporary data</a:t>
            </a:r>
          </a:p>
          <a:p>
            <a:pPr algn="l">
              <a:spcAft>
                <a:spcPts val="300"/>
              </a:spcAft>
            </a:pPr>
            <a:r>
              <a:rPr sz="1100" b="0">
                <a:solidFill>
                  <a:srgbClr val="5B6372"/>
                </a:solidFill>
                <a:latin typeface="Arial"/>
              </a:rPr>
              <a:t>Swap space and temporary directories that are overwritten quickly.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4. Disk</a:t>
            </a:r>
          </a:p>
          <a:p>
            <a:pPr algn="l">
              <a:spcAft>
                <a:spcPts val="300"/>
              </a:spcAft>
            </a:pPr>
            <a:r>
              <a:rPr sz="1100" b="0">
                <a:solidFill>
                  <a:srgbClr val="5B6372"/>
                </a:solidFill>
                <a:latin typeface="Arial"/>
              </a:rPr>
              <a:t>The full storage device, imaged bit by bit through a write blocker.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 Remote logs</a:t>
            </a:r>
          </a:p>
          <a:p>
            <a:pPr algn="l">
              <a:spcAft>
                <a:spcPts val="300"/>
              </a:spcAft>
            </a:pPr>
            <a:r>
              <a:rPr sz="1100" b="0">
                <a:solidFill>
                  <a:srgbClr val="5B6372"/>
                </a:solidFill>
                <a:latin typeface="Arial"/>
              </a:rPr>
              <a:t>Firewall, platform and cloud logs held off the compromised host.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6. Archival media</a:t>
            </a:r>
          </a:p>
          <a:p>
            <a:pPr algn="l">
              <a:spcAft>
                <a:spcPts val="300"/>
              </a:spcAft>
            </a:pPr>
            <a:r>
              <a:rPr sz="1100" b="0">
                <a:solidFill>
                  <a:srgbClr val="5B6372"/>
                </a:solidFill>
                <a:latin typeface="Arial"/>
              </a:rPr>
              <a:t>Backups and offline archives: the most stable and least urgent.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ransition spd="med">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FORENSICS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Forensics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hold</a:t>
            </a:r>
          </a:p>
          <a:p>
            <a:pPr algn="l">
              <a:spcAft>
                <a:spcPts val="300"/>
              </a:spcAft>
            </a:pPr>
            <a:r>
              <a:rPr sz="1200" b="0">
                <a:solidFill>
                  <a:srgbClr val="5B6372"/>
                </a:solidFill>
                <a:latin typeface="Arial"/>
              </a:rPr>
              <a:t>A formal instruction to suspend routine deletion and retention once litigation or investigation is anticipated.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Chain of custody</a:t>
            </a:r>
          </a:p>
          <a:p>
            <a:pPr algn="l">
              <a:spcAft>
                <a:spcPts val="300"/>
              </a:spcAft>
            </a:pPr>
            <a:r>
              <a:rPr sz="1200" b="0">
                <a:solidFill>
                  <a:srgbClr val="5B6372"/>
                </a:solidFill>
                <a:latin typeface="Arial"/>
              </a:rPr>
              <a:t>An unbroken record of who handled each item, when, why and where. A gap can make evidence inadmissible.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Acquisition</a:t>
            </a:r>
          </a:p>
          <a:p>
            <a:pPr algn="l">
              <a:spcAft>
                <a:spcPts val="300"/>
              </a:spcAft>
            </a:pPr>
            <a:r>
              <a:rPr sz="1200" b="0">
                <a:solidFill>
                  <a:srgbClr val="5B6372"/>
                </a:solidFill>
                <a:latin typeface="Arial"/>
              </a:rPr>
              <a:t>A bit-for-bit image taken through a write blocker, with source and image hashed to prove they match.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Preservation</a:t>
            </a:r>
          </a:p>
          <a:p>
            <a:pPr algn="l">
              <a:spcAft>
                <a:spcPts val="300"/>
              </a:spcAft>
            </a:pPr>
            <a:r>
              <a:rPr sz="1200" b="0">
                <a:solidFill>
                  <a:srgbClr val="5B6372"/>
                </a:solidFill>
                <a:latin typeface="Arial"/>
              </a:rPr>
              <a:t>The original is sealed and untouched; all analysis runs on a verified working copy.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A clear record of method, findings and hashes that another examiner could reproduce.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E-discovery</a:t>
            </a:r>
          </a:p>
          <a:p>
            <a:pPr algn="l">
              <a:spcAft>
                <a:spcPts val="300"/>
              </a:spcAft>
            </a:pPr>
            <a:r>
              <a:rPr sz="1200" b="0">
                <a:solidFill>
                  <a:srgbClr val="5B6372"/>
                </a:solidFill>
                <a:latin typeface="Arial"/>
              </a:rPr>
              <a:t>The legal process of identifying, preserving and producing relevant electronically stored information.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ransition spd="med">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4.8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Incident Response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Order: preparation, detection, analysis, containment, eradication, recovery, lessons learned.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'Isolate the host' = containment; 'remove the malware' = eradication; 'restore from backup' = recovery.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Tabletop = discussion only; simulation = hands-on exercise. Root cause analysis belongs to lessons learned.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Collect volatile data (memory, connections) before disk; image drives through a write blocker and hash both sides.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Legal hold preserves; chain of custody proves handling; e-discovery finds and produces ESI.</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ransition spd="med">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Take a simulated host incident through preparation, detection, analysis, containment, eradication, recovery and lessons learned, collecting hashed volatile evidence before containing.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case folder of hashed evidence, a contained and eradicated incident, a recovery check and a lessons-learned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cron, procps, iproute2, psmisc, lsof, sha256sum, iptables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spd="med">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Prepare: install tools and open a case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mkdir -p /evidence/IR-2026-041; cat &gt; case.txt &lt;&lt;EOF</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Simulate the incident (exercise set-up)</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useradd -m svc-update; echo '* * * * * /tmp/.update.sh' | crontab -u svc-update -; python3 -m http.server 4444 --bi...</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confirm the alert and list the IoCs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4444; awk -F: '$3&gt;=1000 {print $1,$3}' /etc/passwd; crontab -u svc-update -l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Analyse: collect volatile evidence in order, then hash</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ps auxwwf &gt; 01-processes.txt; ss -tunap &gt; 02-sockets.txt; sha256sum 0* &gt; evidence.sha256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spd="med">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Contain: stop the spread without destroying evidence</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usermod -L -e 1 svc-update; iptables -I INPUT -p tcp --dport 4444 -j DROP; pkill -u svc-update</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Eradicate: remove the cause and persistence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crontab -u svc-update -r; rm -f /tmp/.update.sh; userdel -r svc-update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Recover: validate the host is clean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ss -tlnp | grep -q 4444 || echo clean; sha256sum -c evidence.sha256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Lessons learned: root cause analysis and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report.md &lt;&lt;EOF (five whys + actions); sha256sum report.md | tee -a evidence.sha256</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spd="med">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Incident Response: Live Triage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case folder holds numbered evidence, report.md and evidence.sha256; every hash verifies OK; no listener, rogue account or cron persistence remains.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spd="med">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4.8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Issue a legal hold, capture volatile data in order of volatility, write-protect a loop-device suspect disk, acquire dd and dcfldd images, verify hashes before and after, examine a read-only copy and preserve the master.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legal hold, a custody log, write-blocked images with matching SHA-256 hashes, recovered files and a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dcfldd, dd, sleuthkit, foremost, losetup, blockdev, sha256sum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ransition spd="med">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dcfldd sleuthkit foremost e2fsprogs</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Open the case: legal hold and custody form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reports/legal-hold-notice.txt &lt;&lt;EOF; printf 'utc_time,item_id,action,handler,location,sha256\n' &gt; reports/cha...</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volatile data first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ps auxww &gt; v02-processes.txt; ss -tunap &gt; v03-network.txt; sha256sum v0* | tee volatile.sha256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the suspect disk and write-protect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LOOP=$(losetup -f --show /cases/CASE-042/FIN-LT-0457.raw); blockdev --setro "$LOOP"</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ransition spd="med">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Hash the source before acquisition</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sha256sum "$LOOP" | awk '{print $1}' | tee reports/source-before.sha256</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Acquire images with dd and dcfldd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dd if="$LOOP" of=images/FIN-LT-0457.dd bs=1M conv=noerror,sync; dcfldd if="$LOOP" of=images/..img hash=sha256 hashl...</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Verify the images and record custody</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diff reports/source-before.sha256 reports/source-after.sha256 &amp;&amp; echo UNCHANGED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Examine a read-only copy and recover artefacts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mount -o ro,noload,loop work/working-copy.dd /mnt/case042; fls -r -d work/working-copy.dd; foremost -c work/foremos...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ransition spd="med">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Preserve the evidence and write the report</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chmod 0444 images/*; chattr +i images/FIN-LT-0457.dd; losetup -d "$LOOP"; cat &gt; reports/forensic-report.txt &lt;&lt;EOF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ransition spd="med">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Digital Forensics: Acquisition &amp; Chain of Custody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image hashes equal the source hash before and after, sha256sum -c reports OK, the deleted file content is recovered and the custody log has an entry per handling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spd="med">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OBJECTIVE 4.9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Investigation Data Sources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 data · Metadata · Scans · Reports · Dashboards · PCAPs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spd="med">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LOG DATA</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Log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 logs</a:t>
            </a:r>
          </a:p>
          <a:p>
            <a:pPr algn="l">
              <a:spcAft>
                <a:spcPts val="300"/>
              </a:spcAft>
            </a:pPr>
            <a:r>
              <a:rPr sz="1200" b="0">
                <a:solidFill>
                  <a:srgbClr val="5B6372"/>
                </a:solidFill>
                <a:latin typeface="Arial"/>
              </a:rPr>
              <a:t>Allowed and denied connections, showing scanning, blocked traffic and suspicious egress.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 logs</a:t>
            </a:r>
          </a:p>
          <a:p>
            <a:pPr algn="l">
              <a:spcAft>
                <a:spcPts val="300"/>
              </a:spcAft>
            </a:pPr>
            <a:r>
              <a:rPr sz="1200" b="0">
                <a:solidFill>
                  <a:srgbClr val="5B6372"/>
                </a:solidFill>
                <a:latin typeface="Arial"/>
              </a:rPr>
              <a:t>Events from a service such as a web server, revealing attack patterns in requests and errors.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logs</a:t>
            </a:r>
          </a:p>
          <a:p>
            <a:pPr algn="l">
              <a:spcAft>
                <a:spcPts val="300"/>
              </a:spcAft>
            </a:pPr>
            <a:r>
              <a:rPr sz="1200" b="0">
                <a:solidFill>
                  <a:srgbClr val="5B6372"/>
                </a:solidFill>
                <a:latin typeface="Arial"/>
              </a:rPr>
              <a:t>Process, file and account activity on a host, often from an EDR agent.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OS-specific security logs</a:t>
            </a:r>
          </a:p>
          <a:p>
            <a:pPr algn="l">
              <a:spcAft>
                <a:spcPts val="300"/>
              </a:spcAft>
            </a:pPr>
            <a:r>
              <a:rPr sz="1200" b="0">
                <a:solidFill>
                  <a:srgbClr val="5B6372"/>
                </a:solidFill>
                <a:latin typeface="Arial"/>
              </a:rPr>
              <a:t>Linux auth.log and the journal, or the Windows Security log: logons, privilege use and account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IPS/IDS logs</a:t>
            </a:r>
          </a:p>
          <a:p>
            <a:pPr algn="l">
              <a:spcAft>
                <a:spcPts val="300"/>
              </a:spcAft>
            </a:pPr>
            <a:r>
              <a:rPr sz="1200" b="0">
                <a:solidFill>
                  <a:srgbClr val="5B6372"/>
                </a:solidFill>
                <a:latin typeface="Arial"/>
              </a:rPr>
              <a:t>Signature and anomaly alerts naming the rule, the source and the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logs</a:t>
            </a:r>
          </a:p>
          <a:p>
            <a:pPr algn="l">
              <a:spcAft>
                <a:spcPts val="300"/>
              </a:spcAft>
            </a:pPr>
            <a:r>
              <a:rPr sz="1200" b="0">
                <a:solidFill>
                  <a:srgbClr val="5B6372"/>
                </a:solidFill>
                <a:latin typeface="Arial"/>
              </a:rPr>
              <a:t>Flow records and DNS logs showing who talked to whom, when and how much.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spd="med">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DEPTH vs BREADTH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Packet Capture versus Flow and Logs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Packet capture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Flow / log data</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Full packet content, including payloads, credentials and files.</a:t>
            </a:r>
          </a:p>
          <a:p>
            <a:pPr>
              <a:spcAft>
                <a:spcPts val="1000"/>
              </a:spcAft>
            </a:pPr>
            <a:r>
              <a:rPr sz="1600" b="0">
                <a:solidFill>
                  <a:srgbClr val="161B26"/>
                </a:solidFill>
                <a:latin typeface="Arial"/>
              </a:rPr>
              <a:t>•  The most detailed source, so it proves exactly what was sent.</a:t>
            </a:r>
          </a:p>
          <a:p>
            <a:pPr>
              <a:spcAft>
                <a:spcPts val="1000"/>
              </a:spcAft>
            </a:pPr>
            <a:r>
              <a:rPr sz="1600" b="0">
                <a:solidFill>
                  <a:srgbClr val="161B26"/>
                </a:solidFill>
                <a:latin typeface="Arial"/>
              </a:rPr>
              <a:t>•  Large and storage-heavy, so captures are short and targeted.</a:t>
            </a:r>
          </a:p>
          <a:p>
            <a:pPr>
              <a:spcAft>
                <a:spcPts val="1000"/>
              </a:spcAft>
            </a:pPr>
            <a:r>
              <a:rPr sz="1600" b="0">
                <a:solidFill>
                  <a:srgbClr val="161B26"/>
                </a:solidFill>
                <a:latin typeface="Arial"/>
              </a:rPr>
              <a:t>•  Used to confirm an alert and reconstruct a conversation.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Metadata only: source, destination, port, time, packets and bytes.</a:t>
            </a:r>
          </a:p>
          <a:p>
            <a:pPr>
              <a:spcAft>
                <a:spcPts val="1000"/>
              </a:spcAft>
            </a:pPr>
            <a:r>
              <a:rPr sz="1600" b="0">
                <a:solidFill>
                  <a:srgbClr val="161B26"/>
                </a:solidFill>
                <a:latin typeface="Arial"/>
              </a:rPr>
              <a:t>•  Cheap to keep for months, ideal for trends and beaconing.</a:t>
            </a:r>
          </a:p>
          <a:p>
            <a:pPr>
              <a:spcAft>
                <a:spcPts val="1000"/>
              </a:spcAft>
            </a:pPr>
            <a:r>
              <a:rPr sz="1600" b="0">
                <a:solidFill>
                  <a:srgbClr val="161B26"/>
                </a:solidFill>
                <a:latin typeface="Arial"/>
              </a:rPr>
              <a:t>•  Shows the shape of traffic, not its contents.</a:t>
            </a:r>
          </a:p>
          <a:p>
            <a:pPr>
              <a:spcAft>
                <a:spcPts val="1000"/>
              </a:spcAft>
            </a:pPr>
            <a:r>
              <a:rPr sz="1600" b="0">
                <a:solidFill>
                  <a:srgbClr val="161B26"/>
                </a:solidFill>
                <a:latin typeface="Arial"/>
              </a:rPr>
              <a:t>•  Used to scope activity across the whole network over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spd="med">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OTHER SOURCES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Other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Metadata</a:t>
            </a:r>
          </a:p>
          <a:p>
            <a:pPr algn="l">
              <a:spcAft>
                <a:spcPts val="300"/>
              </a:spcAft>
            </a:pPr>
            <a:r>
              <a:rPr sz="1200" b="0">
                <a:solidFill>
                  <a:srgbClr val="5B6372"/>
                </a:solidFill>
                <a:latin typeface="Arial"/>
              </a:rPr>
              <a:t>Data about data: email headers, file timestamps and EXIF, which reveal origin, timing and tampering.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 scans</a:t>
            </a:r>
          </a:p>
          <a:p>
            <a:pPr algn="l">
              <a:spcAft>
                <a:spcPts val="300"/>
              </a:spcAft>
            </a:pPr>
            <a:r>
              <a:rPr sz="1200" b="0">
                <a:solidFill>
                  <a:srgbClr val="5B6372"/>
                </a:solidFill>
                <a:latin typeface="Arial"/>
              </a:rPr>
              <a:t>Show which weaknesses exist on which hosts, helping confirm how an attacker got 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Automated reports</a:t>
            </a:r>
          </a:p>
          <a:p>
            <a:pPr algn="l">
              <a:spcAft>
                <a:spcPts val="300"/>
              </a:spcAft>
            </a:pPr>
            <a:r>
              <a:rPr sz="1200" b="0">
                <a:solidFill>
                  <a:srgbClr val="5B6372"/>
                </a:solidFill>
                <a:latin typeface="Arial"/>
              </a:rPr>
              <a:t>Scheduled summaries that surface changes and anomalies without manual effort.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Dashboards</a:t>
            </a:r>
          </a:p>
          <a:p>
            <a:pPr algn="l">
              <a:spcAft>
                <a:spcPts val="300"/>
              </a:spcAft>
            </a:pPr>
            <a:r>
              <a:rPr sz="1200" b="0">
                <a:solidFill>
                  <a:srgbClr val="5B6372"/>
                </a:solidFill>
                <a:latin typeface="Arial"/>
              </a:rPr>
              <a:t>At-a-glance views that correlate sources so an analyst can spot the odd event quickly.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Packet captures</a:t>
            </a:r>
          </a:p>
          <a:p>
            <a:pPr algn="l">
              <a:spcAft>
                <a:spcPts val="300"/>
              </a:spcAft>
            </a:pPr>
            <a:r>
              <a:rPr sz="1200" b="0">
                <a:solidFill>
                  <a:srgbClr val="5B6372"/>
                </a:solidFill>
                <a:latin typeface="Arial"/>
              </a:rPr>
              <a:t>The deepest evidence of what actually crossed the wire during the incident.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SIEM correlation</a:t>
            </a:r>
          </a:p>
          <a:p>
            <a:pPr algn="l">
              <a:spcAft>
                <a:spcPts val="300"/>
              </a:spcAft>
            </a:pPr>
            <a:r>
              <a:rPr sz="1200" b="0">
                <a:solidFill>
                  <a:srgbClr val="5B6372"/>
                </a:solidFill>
                <a:latin typeface="Arial"/>
              </a:rPr>
              <a:t>Brings all these sources together, normalises timestamps and raises the alert that starts the investigation.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ransition spd="med">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TIMELINE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an Investigation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Collect the relevant logs and captures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Normalise every timestamp to one time zone (UTC)</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Correlate events across sources by IP, user and time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Order them chronologically into a single timeline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Answer who, what, when, where and how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ransition spd="med">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READING LOGS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the Logs Reveal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Many failed logins then one success from the same source is the signature of a successful brute force or spray.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sudo COMMAND= lines record privilege escalation and exactly what was run as root.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Web logs expose attacks in the URI (../ traversal, UNION SELECT, &lt;script&gt;) and in scanner user agents.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Response codes matter: a 302 after repeated 401s on a login, or a 200 on a web shell, means an attempt worked.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Regular fixed-interval connections suggest C2 beaconing; long random subdomains suggest DNS tunnelling.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ransition spd="med">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4.9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Investigation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Packet capture = full content; NetFlow/IPFIX and logs = metadata. Choose flow data for trends, PCAP to prove content.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Know the log types by name: firewall, application, endpoint, OS-specific security, IPS/IDS, network, plus metadata.</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Correlation across sources builds the timeline; NTP-synchronised clocks and UTC make correlation possible.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success immediately after many failures from one source is the classic brute-force signature.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Dashboards and automated reports give breadth and speed; a packet capture gives depth for one event.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ransition spd="med">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Capture generated HTTP and DNS traffic with tcpdump, apply capture and display filters, follow a TCP stream, recover cleartext basic-auth credentials, and build a NetFlow-style flow summary.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saved PCAP, a list of exposed credentials, a reconstructed HTTP conversation and a per-flow summary.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tcpdump, tshark, dnsutils, curl, python3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spd="med">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tcpdump tshark dnsutils curl python3</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a local web service and a capture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python3 -m http.server 8080 --bind 127.0.0.1; tcpdump -i any -U -s 0 -w /root/pcap/lab43.pcap 'tcp port 8080 or por...</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HTTP, DNS and beaconing traffic</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-u alice:Summer2026 http://127.0.0.1:8080/; dig +short example.com</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Stop the capture and summarise 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pkill -INT tcpdump; capinfos /root/pcap/lab43.pcap; tshark -r ... -q -z io,phs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spd="med">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display filters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'http.request' -T fields -e http.request.method -e http.request.uri</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Follow a TCP stream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-q -z follow,tcp,ascii,0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Spot cleartext credentials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'http.authorization' -T fields -e http.authbasic  # alice:Summer2026</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a NetFlow-style summary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-T fields -e ip.src -e ip.dst -e tcp.dstport -e frame.len | awk '...'</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spd="med">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Hunt for beaconing and DNS tunnelling</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tshark -r lab43.pcap -Y 'http.request.uri contains "id=host42"' -e frame.time_relative | awk '...interval...'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spd="med">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Packet Capture and Traffic Analysis with tcpdump and tshark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PCAP is saved, tshark lists at least 7 HTTP requests and the DNS queries, and alice:Summer2026 is recovered from the capture.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spd="med">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4.9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Generate synthetic auth.log and nginx access-log data, find the brute-force source, the compromised account, the sudo privilege escalation and the web attacks, then merge both logs into one chronological timeline.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Synthetic auth.log and access.log, grep/awk findings, and a merged, time-ordered incident timeline.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grep, awk, sed, sort, uniq, journalctl, logger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spd="med">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 and prepare a work area</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gawk coreutils; mkdir -p /root/investigation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synthetic auth.log</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/root/investigation/auth.log &lt;&lt;'EOF' (brute force + Accepted + sudo)</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 synthetic nginx access log</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/root/investigation/access.log &lt;&lt;'EOF' (traversal, SQLi, XSS, web shell)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brute-force source and count failures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'Failed password' auth.log | grep -oE 'from [0-9.]+' | awk '{print $2}' | sort | uniq -c | sort -rn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spd="med">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successful login and link it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 'Accepted .* from 203.0.113.66' auth.log</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Find the privilege escalation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'sudo:' auth.log | sed -E 's/.*sudo:  *([a-z]+) .*USER=([a-z]+) ; COMMAND=(.*)/\1 -&gt; \2 : \3/'</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Investigate the web attacks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grep -En '\.\./|UNION SELECT|&lt;script&gt;|shell\.php' access.log</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Use journalctl on a live system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journalctl -t sshd --since '-5 min' -o short-iso --no-pager | grep 'Accepted\|Failed'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ransition spd="med">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9–9 OF 9</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10" name="TextBox 9"/>
          <p:cNvSpPr txBox="1"/>
          <p:nvPr/>
        </p:nvSpPr>
        <p:spPr>
          <a:xfrm>
            <a:off x="1417320" y="2212848"/>
            <a:ext cx="10058400" cy="1829714"/>
          </a:xfrm>
          <a:prstGeom prst="rect">
            <a:avLst/>
          </a:prstGeom>
          <a:noFill/>
        </p:spPr>
        <p:txBody>
          <a:bodyPr wrap="square" anchor="ctr">
            <a:spAutoFit/>
          </a:bodyPr>
          <a:lstStyle/>
          <a:p>
            <a:pPr algn="l">
              <a:spcAft>
                <a:spcPts val="400"/>
              </a:spcAft>
            </a:pPr>
            <a:r>
              <a:rPr sz="1500" b="0">
                <a:solidFill>
                  <a:srgbClr val="161B26"/>
                </a:solidFill>
                <a:latin typeface="Arial"/>
              </a:rPr>
              <a:t>Build the merged timeline</a:t>
            </a:r>
          </a:p>
        </p:txBody>
      </p:sp>
      <p:sp>
        <p:nvSpPr>
          <p:cNvPr id="11" name="Rectangle 10"/>
          <p:cNvSpPr/>
          <p:nvPr/>
        </p:nvSpPr>
        <p:spPr>
          <a:xfrm>
            <a:off x="1417320" y="4042562"/>
            <a:ext cx="10058400" cy="15910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42562"/>
            <a:ext cx="9784080" cy="1591056"/>
          </a:xfrm>
          <a:prstGeom prst="rect">
            <a:avLst/>
          </a:prstGeom>
          <a:noFill/>
        </p:spPr>
        <p:txBody>
          <a:bodyPr wrap="square" anchor="ctr">
            <a:spAutoFit/>
          </a:bodyPr>
          <a:lstStyle/>
          <a:p>
            <a:pPr algn="l">
              <a:spcAft>
                <a:spcPts val="400"/>
              </a:spcAft>
            </a:pPr>
            <a:r>
              <a:rPr sz="1050" b="0">
                <a:solidFill>
                  <a:srgbClr val="9CDCFE"/>
                </a:solidFill>
                <a:latin typeface="Arial"/>
              </a:rPr>
              <a:t>$ { grep -E 'Failed|Accepted|sudo:' auth.log | awk ...; awk -F'[][]' ... access.log; } | sort &gt; timeline.txt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ransition spd="med">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Log Investigation: Building an Attack Timeline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top attacker is 203.0.113.66 with 8 failures, the webadmin compromise and the 'support' account creation are both found, and timeline.txt holds all merged events in time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spd="med">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pair is done BEFORE placing wireless access points for good coverage? A) Pen test and audit B) Site survey and heat map C) MDM and BYOD D) WPA3 and RADIUS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company owns the phones but lets staff use them personally within an AUP. Which deployment model is this? A) BYOD B) CYOD C) COPE D) MDM</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wireless option is the MOST secure if offered? A) WPA2 B) WEP C) WPA3 D) BitLocker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cookie flag stops client-side JavaScript from reading a session cookie? A) Secure B) SameSite C) HttpOnly D) Domain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failed encrypted drive holding Restricted data cannot be overwritten. What is the correct disposal? A) Format B) Delete C) Physical destruction D) Reuse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What must be checked BEFORE disposing of any asset? A) CVSS score B) Data retention and legal hold C) Warranty D) Heat map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spd="med">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scan reports a flaw that does not actually exist. This is a: A) True positive B) False positive C) False negative D) Zero-day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Two findings: CVSS 9.8 on an isolated lab host, CVSS 7.5 on an internet-facing server. Which comes first? A) 9.8 B) 7.5 C) Neither D) Both equal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benign backup job triggers 400 SIEM alerts a day and analysts ignore them. Best first step? A) Disable the SIEM B) Tune the rule C) Hire analysts D) Archive logs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inline IPS misclassifies legitimate traffic as an attack. The immediate impact is: A) Data theft B) Blocked legitimate traffic C) Missed attack D) None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email record tells a receiver to REJECT mail that fails authentication? A) SPF B) DKIM C) DMARC D) MX</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user enters a password and then a secret question answer. Is this MFA? A) Yes B) No, same factor category C) Yes, know plus have D) Needs biometrics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spd="med">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access control model evaluates attributes such as department, device and time on every request? A) DAC B) MAC C) RBAC D) ABAC</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admin needs root on one server for a 30-minute change, with no standing access. Which PAM capability fits? A) Vaulting B) JIT permissions C) SSO D) Federation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protocol provides XML-based assertions for federated enterprise web single sign-on? A) OAuth B) LDAP C) SAML D) RADIUS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platform automatically blocks an IP, opens a ticket and pages on-call from one alert. Which best describes it? A) SIEM B) SOAR C) IDS D) DLP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is a RISK of automation rather than a benefit? A) Reaction time B) Enforced baselines C) Single point of failure D) Workforce multiplier</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Responders isolate the infected host from the network while they plan a fix. Which IR phase is this? A) Detection B) Containment C) Eradication D) Recovery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spd="med">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Before shutting a compromised server down, what should be collected FIRST? A) Disk image B) Backups C) Memory and network state D) Firewall logs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activity formally suspends routine deletion of data once litigation is anticipated? A) Chain of custody B) Legal hold C) E-discovery D) Acquisition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analyst must prove a password was sent in cleartext during an incident. Which source is best? A) NetFlow B) Firewall log C) Packet capture D) Dashboard</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Eight 'Failed password' lines then one 'Accepted password' from the same IP in seconds indicates: A) Normal login B) Successful brute force C) Lockout D) Tunnelling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data source is cheapest to keep for months and best for spotting long-term beaconing? A) Full PCAP B) Flow data C) Memory dump D) Disk image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spd="med">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A site survey measures real signal and a heat map visualises coverage, driving AP placement and power.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COPE: corporate-owned, personally enabled; the firm owns it but permits personal use under policy.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C - WPA3 is the strongest; BitLocker is disk encryption, not wireless. Order: WPA3 &gt; WPA2 &gt; WPA &gt; WEP.</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C - HttpOnly hides the cookie from JavaScript, reducing XSS session theft; Secure forces HTTPS.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If it cannot be sanitised by overwrite, Restricted media must be physically destroyed and certified.</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B - Destroying data still under a retention requirement or legal hold is itself a compliance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ransition spd="med">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Q7: B - A false positive is a false alarm; a false negative (a missed real flaw) is the more dangerous error.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Q8: B - CVSS is severity, not risk; exposure and impact make the 7.5 internet-facing flaw the higher risk.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Q9: B - Alert tuning removes the known false positives so real alerts are not lost to alert fatigue.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Q10: B - Inline, a false positive drops real traffic and can cause an outage; this is the IPS trade-off versus IDS.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Q11: C - DMARC sets the policy (none/quarantine/reject) on top of SPF and DKIM and provides failure reporting.</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Q12: B - Both are 'something you know', so it is two steps in one category, not true MFA.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ransition spd="med">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Q13: D - ABAC (attribute-based) decides per request using multiple attributes.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Q14: B - Just-in-time permissions grant elevated access for a short, approved window, then revoke 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Q15: C - SAML exchanges signed XML assertions between an identity provider and a service provider.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Q16: B - SOAR orchestrates the automated response; a SIEM only detects and alerts.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Q17: C - If one platform automates everything, its failure or compromise endangers everything at once.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Q18: B - Isolating to stop the spread is containment; removing the malware later is eradication.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spd="med">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4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Q19: C - Order of volatility: capture volatile memory and connection state before anything is powered off.</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Q20: B - A legal hold stops normal retention/deletion so relevant evidence is preserved.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Q21: C - Only a full packet capture contains the payload, so it proves what was actually sent.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Q22: B - A success immediately after many failures from one source is the classic brute-force signature.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Q23: B - Flow data (NetFlow/IPFIX) stores only metadata, so it is cheap to retain and ideal for trends.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spd="med">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4.1 Securing Computing Resources: A secure baseline is the minimum approved configuration for a class of system; it is established once, deployed to every host, and maintained as threats and the estate change.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4.2 Asset Management: You cannot protect what you do not know you own, so asset management underpins almost every other control in the course.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4.3 Vulnerability Management: Vulnerability management is a continuous cycle: identify weaknesses, analyse and prioritise them, respond, then validate and report on the result.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4.4 Alerting &amp; Monitoring: Monitoring watches the systems, applications and infrastructure that matter, turning raw activity into events, alerts and, when confirmed, incidents.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4.5 Enterprise Security Capabilities: This objective is the enterprise defence toolkit: the controls you add or reconfigure to raise the security of an existing network.</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4.6 Identity &amp; Access Management: Identity and access management governs the whole life of an account, from provisioning after identity proofing, through permission assignment and attestation, to de-provisioning when a person leaves.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spd="med">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Security Operations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4.7 Automation &amp; Orchestration: Automation runs a single task without human effort; orchestration chains many automated tasks and systems into a workflow.</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4.8 Incident Response: The incident response process runs from preparation, through detection, analysis, containment, eradication and recovery, to lessons learned.</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4.9 Investigation Data Sources: Investigations correlate many data sources into one timeline that answers who, what, when, where and how.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spd="med">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DOMAIN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Program Management &amp; Oversight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5.1 Governance · 5.2 Risk · 5.3 Third parties · 5.4 Compliance · 5.5 Audits &amp; pentest · 5.6 Awareness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spd="med">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EXAM WEIGHTING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Domain 5 Objectives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5.1  Security Governance</a:t>
            </a:r>
          </a:p>
          <a:p>
            <a:pPr algn="l">
              <a:spcAft>
                <a:spcPts val="300"/>
              </a:spcAft>
            </a:pPr>
            <a:r>
              <a:rPr sz="1200" b="0">
                <a:solidFill>
                  <a:srgbClr val="5B6372"/>
                </a:solidFill>
                <a:latin typeface="Arial"/>
              </a:rPr>
              <a:t>Summarize elements of effective security governance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5.2  Risk Management</a:t>
            </a:r>
          </a:p>
          <a:p>
            <a:pPr algn="l">
              <a:spcAft>
                <a:spcPts val="300"/>
              </a:spcAft>
            </a:pPr>
            <a:r>
              <a:rPr sz="1200" b="0">
                <a:solidFill>
                  <a:srgbClr val="5B6372"/>
                </a:solidFill>
                <a:latin typeface="Arial"/>
              </a:rPr>
              <a:t>Explain elements of the risk management process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5.3  Third-Party Risk</a:t>
            </a:r>
          </a:p>
          <a:p>
            <a:pPr algn="l">
              <a:spcAft>
                <a:spcPts val="300"/>
              </a:spcAft>
            </a:pPr>
            <a:r>
              <a:rPr sz="1200" b="0">
                <a:solidFill>
                  <a:srgbClr val="5B6372"/>
                </a:solidFill>
                <a:latin typeface="Arial"/>
              </a:rPr>
              <a:t>Explain the processes associated with third-party risk assessment and management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5.4  Security Compliance</a:t>
            </a:r>
          </a:p>
          <a:p>
            <a:pPr algn="l">
              <a:spcAft>
                <a:spcPts val="300"/>
              </a:spcAft>
            </a:pPr>
            <a:r>
              <a:rPr sz="1200" b="0">
                <a:solidFill>
                  <a:srgbClr val="5B6372"/>
                </a:solidFill>
                <a:latin typeface="Arial"/>
              </a:rPr>
              <a:t>Summarize elements of effective security compliance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5.5  Audits &amp; Assessments</a:t>
            </a:r>
          </a:p>
          <a:p>
            <a:pPr algn="l">
              <a:spcAft>
                <a:spcPts val="300"/>
              </a:spcAft>
            </a:pPr>
            <a:r>
              <a:rPr sz="1200" b="0">
                <a:solidFill>
                  <a:srgbClr val="5B6372"/>
                </a:solidFill>
                <a:latin typeface="Arial"/>
              </a:rPr>
              <a:t>Explain types and purposes of audits and assessments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5.6  Security Awareness</a:t>
            </a:r>
          </a:p>
          <a:p>
            <a:pPr algn="l">
              <a:spcAft>
                <a:spcPts val="300"/>
              </a:spcAft>
            </a:pPr>
            <a:r>
              <a:rPr sz="1200" b="0">
                <a:solidFill>
                  <a:srgbClr val="5B6372"/>
                </a:solidFill>
                <a:latin typeface="Arial"/>
              </a:rPr>
              <a:t>Given a scenario, implement security awareness practices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spd="med">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Security Program Management &amp;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45–47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45. Governance: Policies, Standards, Procedures</a:t>
            </a:r>
          </a:p>
          <a:p>
            <a:pPr>
              <a:spcAft>
                <a:spcPts val="900"/>
              </a:spcAft>
            </a:pPr>
            <a:r>
              <a:rPr sz="1400" b="0">
                <a:solidFill>
                  <a:srgbClr val="161B26"/>
                </a:solidFill>
                <a:latin typeface="Arial"/>
              </a:rPr>
              <a:t>•  46. Risk Register, CVSS Scoring, and Quantitative Risk</a:t>
            </a:r>
          </a:p>
          <a:p>
            <a:pPr>
              <a:spcAft>
                <a:spcPts val="900"/>
              </a:spcAft>
            </a:pPr>
            <a:r>
              <a:rPr sz="1400" b="0">
                <a:solidFill>
                  <a:srgbClr val="161B26"/>
                </a:solidFill>
                <a:latin typeface="Arial"/>
              </a:rPr>
              <a:t>•  47. Supply Chain Security: SBOM and Vendor Trust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48–50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48. Compliance Audit with OpenSCAP</a:t>
            </a:r>
          </a:p>
          <a:p>
            <a:pPr>
              <a:spcAft>
                <a:spcPts val="900"/>
              </a:spcAft>
            </a:pPr>
            <a:r>
              <a:rPr sz="1400" b="0">
                <a:solidFill>
                  <a:srgbClr val="161B26"/>
                </a:solidFill>
                <a:latin typeface="Arial"/>
              </a:rPr>
              <a:t>•  49. Passive Reconnaissance / OSINT</a:t>
            </a:r>
          </a:p>
          <a:p>
            <a:pPr>
              <a:spcAft>
                <a:spcPts val="900"/>
              </a:spcAft>
            </a:pPr>
            <a:r>
              <a:rPr sz="1400" b="0">
                <a:solidFill>
                  <a:srgbClr val="161B26"/>
                </a:solidFill>
                <a:latin typeface="Arial"/>
              </a:rPr>
              <a:t>•  50. Active Reconnaissance with Nmap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51–52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51. Penetration Testing in an Authorised Lab</a:t>
            </a:r>
          </a:p>
          <a:p>
            <a:pPr>
              <a:spcAft>
                <a:spcPts val="900"/>
              </a:spcAft>
            </a:pPr>
            <a:r>
              <a:rPr sz="1400" b="0">
                <a:solidFill>
                  <a:srgbClr val="161B26"/>
                </a:solidFill>
                <a:latin typeface="Arial"/>
              </a:rPr>
              <a:t>•  52. Security Awareness: Phishing Simulation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ransition spd="med">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Governance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Policies, standards, procedures, guidelines; structures and roles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ransition spd="med">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DOCUMENT HIERARCHY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Guidelines,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a:t>
            </a:r>
          </a:p>
          <a:p>
            <a:pPr algn="l">
              <a:spcAft>
                <a:spcPts val="300"/>
              </a:spcAft>
            </a:pPr>
            <a:r>
              <a:rPr sz="1200" b="0">
                <a:solidFill>
                  <a:srgbClr val="5B6372"/>
                </a:solidFill>
                <a:latin typeface="Arial"/>
              </a:rPr>
              <a:t>A high-level, mandatory statement of management intent that sets direction. It says what and why, not how, and changes rarely.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Standard</a:t>
            </a:r>
          </a:p>
          <a:p>
            <a:pPr algn="l">
              <a:spcAft>
                <a:spcPts val="300"/>
              </a:spcAft>
            </a:pPr>
            <a:r>
              <a:rPr sz="1200" b="0">
                <a:solidFill>
                  <a:srgbClr val="5B6372"/>
                </a:solidFill>
                <a:latin typeface="Arial"/>
              </a:rPr>
              <a:t>A mandatory, specific requirement that implements a policy, such as a minimum password length or an approved cipher suite.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Procedure</a:t>
            </a:r>
          </a:p>
          <a:p>
            <a:pPr algn="l">
              <a:spcAft>
                <a:spcPts val="300"/>
              </a:spcAft>
            </a:pPr>
            <a:r>
              <a:rPr sz="1200" b="0">
                <a:solidFill>
                  <a:srgbClr val="5B6372"/>
                </a:solidFill>
                <a:latin typeface="Arial"/>
              </a:rPr>
              <a:t>A step-by-step, mandatory instruction telling a named role exactly how to carry out a task such as onboarding or patching.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Guideline</a:t>
            </a:r>
          </a:p>
          <a:p>
            <a:pPr algn="l">
              <a:spcAft>
                <a:spcPts val="300"/>
              </a:spcAft>
            </a:pPr>
            <a:r>
              <a:rPr sz="1200" b="0">
                <a:solidFill>
                  <a:srgbClr val="5B6372"/>
                </a:solidFill>
                <a:latin typeface="Arial"/>
              </a:rPr>
              <a:t>Recommended, optional advice that helps people apply a standard sensibly where some discretion is allowed.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ransition spd="med">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POLICIES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Policies the Exam Names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AUP</a:t>
            </a:r>
          </a:p>
          <a:p>
            <a:pPr algn="l">
              <a:spcAft>
                <a:spcPts val="300"/>
              </a:spcAft>
            </a:pPr>
            <a:r>
              <a:rPr sz="1200" b="0">
                <a:solidFill>
                  <a:srgbClr val="5B6372"/>
                </a:solidFill>
                <a:latin typeface="Arial"/>
              </a:rPr>
              <a:t>The Acceptable Use Policy defines what users may and may not do with company systems, data and network access.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Information security</a:t>
            </a:r>
          </a:p>
          <a:p>
            <a:pPr algn="l">
              <a:spcAft>
                <a:spcPts val="300"/>
              </a:spcAft>
            </a:pPr>
            <a:r>
              <a:rPr sz="1200" b="0">
                <a:solidFill>
                  <a:srgbClr val="5B6372"/>
                </a:solidFill>
                <a:latin typeface="Arial"/>
              </a:rPr>
              <a:t>Sets the overall security requirements, roles and expectations that every other control document supports.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continuity</a:t>
            </a:r>
          </a:p>
          <a:p>
            <a:pPr algn="l">
              <a:spcAft>
                <a:spcPts val="300"/>
              </a:spcAft>
            </a:pPr>
            <a:r>
              <a:rPr sz="1200" b="0">
                <a:solidFill>
                  <a:srgbClr val="5B6372"/>
                </a:solidFill>
                <a:latin typeface="Arial"/>
              </a:rPr>
              <a:t>The BC policy keeps critical business functions running during a disruption, before full recovery is possible.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Disaster recovery</a:t>
            </a:r>
          </a:p>
          <a:p>
            <a:pPr algn="l">
              <a:spcAft>
                <a:spcPts val="300"/>
              </a:spcAft>
            </a:pPr>
            <a:r>
              <a:rPr sz="1200" b="0">
                <a:solidFill>
                  <a:srgbClr val="5B6372"/>
                </a:solidFill>
                <a:latin typeface="Arial"/>
              </a:rPr>
              <a:t>The DR policy restores IT systems and data after a major outage, defining priorities and recovery targets.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Incident response</a:t>
            </a:r>
          </a:p>
          <a:p>
            <a:pPr algn="l">
              <a:spcAft>
                <a:spcPts val="300"/>
              </a:spcAft>
            </a:pPr>
            <a:r>
              <a:rPr sz="1200" b="0">
                <a:solidFill>
                  <a:srgbClr val="5B6372"/>
                </a:solidFill>
                <a:latin typeface="Arial"/>
              </a:rPr>
              <a:t>The IR policy sets how incidents are detected, reported, contained, eradicated and reviewed.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SDLC and change mgmt</a:t>
            </a:r>
          </a:p>
          <a:p>
            <a:pPr algn="l">
              <a:spcAft>
                <a:spcPts val="300"/>
              </a:spcAft>
            </a:pPr>
            <a:r>
              <a:rPr sz="1200" b="0">
                <a:solidFill>
                  <a:srgbClr val="5B6372"/>
                </a:solidFill>
                <a:latin typeface="Arial"/>
              </a:rPr>
              <a:t>The SDLC policy builds security into development; change management governs how changes reach production safely.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ransition spd="med">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STANDARDS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Standards That Implement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Password standard</a:t>
            </a:r>
          </a:p>
          <a:p>
            <a:pPr algn="l">
              <a:spcAft>
                <a:spcPts val="300"/>
              </a:spcAft>
            </a:pPr>
            <a:r>
              <a:rPr sz="1200" b="0">
                <a:solidFill>
                  <a:srgbClr val="5B6372"/>
                </a:solidFill>
                <a:latin typeface="Arial"/>
              </a:rPr>
              <a:t>Sets concrete rules: length, complexity, history, rotation and lockout, enforced technically rather than merely advised.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 control standard</a:t>
            </a:r>
          </a:p>
          <a:p>
            <a:pPr algn="l">
              <a:spcAft>
                <a:spcPts val="300"/>
              </a:spcAft>
            </a:pPr>
            <a:r>
              <a:rPr sz="1200" b="0">
                <a:solidFill>
                  <a:srgbClr val="5B6372"/>
                </a:solidFill>
                <a:latin typeface="Arial"/>
              </a:rPr>
              <a:t>Defines how access is granted, reviewed and revoked, and which model (RBAC, least privilege) applies.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standard</a:t>
            </a:r>
          </a:p>
          <a:p>
            <a:pPr algn="l">
              <a:spcAft>
                <a:spcPts val="300"/>
              </a:spcAft>
            </a:pPr>
            <a:r>
              <a:rPr sz="1200" b="0">
                <a:solidFill>
                  <a:srgbClr val="5B6372"/>
                </a:solidFill>
                <a:latin typeface="Arial"/>
              </a:rPr>
              <a:t>Specifies physical protections such as badge access, visitor logging, server-room controls and CCTV coverage.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Encryption standard</a:t>
            </a:r>
          </a:p>
          <a:p>
            <a:pPr algn="l">
              <a:spcAft>
                <a:spcPts val="300"/>
              </a:spcAft>
            </a:pPr>
            <a:r>
              <a:rPr sz="1200" b="0">
                <a:solidFill>
                  <a:srgbClr val="5B6372"/>
                </a:solidFill>
                <a:latin typeface="Arial"/>
              </a:rPr>
              <a:t>Names approved algorithms, key lengths and where data must be encrypted at rest and in transit.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spd="med">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PROCEDURES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Procedures: How the Work Is Done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Change management</a:t>
            </a:r>
          </a:p>
          <a:p>
            <a:pPr algn="l">
              <a:spcAft>
                <a:spcPts val="300"/>
              </a:spcAft>
            </a:pPr>
            <a:r>
              <a:rPr sz="1200" b="0">
                <a:solidFill>
                  <a:srgbClr val="5B6372"/>
                </a:solidFill>
                <a:latin typeface="Arial"/>
              </a:rPr>
              <a:t>The documented sequence for requesting, approving, testing, scheduling and backing out a change to production.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Onboarding</a:t>
            </a:r>
          </a:p>
          <a:p>
            <a:pPr algn="l">
              <a:spcAft>
                <a:spcPts val="300"/>
              </a:spcAft>
            </a:pPr>
            <a:r>
              <a:rPr sz="1200" b="0">
                <a:solidFill>
                  <a:srgbClr val="5B6372"/>
                </a:solidFill>
                <a:latin typeface="Arial"/>
              </a:rPr>
              <a:t>Provisions a new joiner's accounts, access and equipment on a least-privilege basis and records acknowledgements.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Offboarding</a:t>
            </a:r>
          </a:p>
          <a:p>
            <a:pPr algn="l">
              <a:spcAft>
                <a:spcPts val="300"/>
              </a:spcAft>
            </a:pPr>
            <a:r>
              <a:rPr sz="1200" b="0">
                <a:solidFill>
                  <a:srgbClr val="5B6372"/>
                </a:solidFill>
                <a:latin typeface="Arial"/>
              </a:rPr>
              <a:t>Revokes access, recovers assets and preserves data the moment a person leaves, closing the insider-risk window.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Playbooks</a:t>
            </a:r>
          </a:p>
          <a:p>
            <a:pPr algn="l">
              <a:spcAft>
                <a:spcPts val="300"/>
              </a:spcAft>
            </a:pPr>
            <a:r>
              <a:rPr sz="1200" b="0">
                <a:solidFill>
                  <a:srgbClr val="5B6372"/>
                </a:solidFill>
                <a:latin typeface="Arial"/>
              </a:rPr>
              <a:t>Repeatable response recipes for a specific scenario, such as a ransomware or phishing playbook used during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spd="med">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EXTERNAL FACTORS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External Considerations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Regulatory</a:t>
            </a:r>
          </a:p>
          <a:p>
            <a:pPr algn="l">
              <a:spcAft>
                <a:spcPts val="300"/>
              </a:spcAft>
            </a:pPr>
            <a:r>
              <a:rPr sz="1200" b="0">
                <a:solidFill>
                  <a:srgbClr val="5B6372"/>
                </a:solidFill>
                <a:latin typeface="Arial"/>
              </a:rPr>
              <a:t>Rules imposed by regulators, such as PCI DSS oversight or a central bank's technology-risk expectations.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Legal</a:t>
            </a:r>
          </a:p>
          <a:p>
            <a:pPr algn="l">
              <a:spcAft>
                <a:spcPts val="300"/>
              </a:spcAft>
            </a:pPr>
            <a:r>
              <a:rPr sz="1200" b="0">
                <a:solidFill>
                  <a:srgbClr val="5B6372"/>
                </a:solidFill>
                <a:latin typeface="Arial"/>
              </a:rPr>
              <a:t>Statutory duties and contract law, including breach-notification and data-protection obligations you cannot waive.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Industry</a:t>
            </a:r>
          </a:p>
          <a:p>
            <a:pPr algn="l">
              <a:spcAft>
                <a:spcPts val="300"/>
              </a:spcAft>
            </a:pPr>
            <a:r>
              <a:rPr sz="1200" b="0">
                <a:solidFill>
                  <a:srgbClr val="5B6372"/>
                </a:solidFill>
                <a:latin typeface="Arial"/>
              </a:rPr>
              <a:t>Sector norms and frameworks peers and customers expect, such as ISO 27001 or NIST CSF.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Jurisdiction scope</a:t>
            </a:r>
          </a:p>
          <a:p>
            <a:pPr algn="l">
              <a:spcAft>
                <a:spcPts val="300"/>
              </a:spcAft>
            </a:pPr>
            <a:r>
              <a:rPr sz="1200" b="0">
                <a:solidFill>
                  <a:srgbClr val="5B6372"/>
                </a:solidFill>
                <a:latin typeface="Arial"/>
              </a:rPr>
              <a:t>The same obligation may apply at local, regional, national and global levels, and the strictest usually governs.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spd="med">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5.1 · STRUCTURES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Governance Structures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Oversight Bodies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board sets direction and owns ultimate accountability.</a:t>
            </a:r>
          </a:p>
          <a:p>
            <a:pPr>
              <a:spcAft>
                <a:spcPts val="900"/>
              </a:spcAft>
            </a:pPr>
            <a:r>
              <a:rPr sz="1400" b="0">
                <a:solidFill>
                  <a:srgbClr val="161B26"/>
                </a:solidFill>
                <a:latin typeface="Arial"/>
              </a:rPr>
              <a:t>•  Committees handle specific areas like risk or audit.</a:t>
            </a:r>
          </a:p>
          <a:p>
            <a:pPr>
              <a:spcAft>
                <a:spcPts val="900"/>
              </a:spcAft>
            </a:pPr>
            <a:r>
              <a:rPr sz="1400" b="0">
                <a:solidFill>
                  <a:srgbClr val="161B26"/>
                </a:solidFill>
                <a:latin typeface="Arial"/>
              </a:rPr>
              <a:t>•  Government entities impose law and regulatory limits.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Centralized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central team sets and enforces policy for all.</a:t>
            </a:r>
          </a:p>
          <a:p>
            <a:pPr>
              <a:spcAft>
                <a:spcPts val="900"/>
              </a:spcAft>
            </a:pPr>
            <a:r>
              <a:rPr sz="1400" b="0">
                <a:solidFill>
                  <a:srgbClr val="161B26"/>
                </a:solidFill>
                <a:latin typeface="Arial"/>
              </a:rPr>
              <a:t>•  Consistent and easy to audit across the estate.</a:t>
            </a:r>
          </a:p>
          <a:p>
            <a:pPr>
              <a:spcAft>
                <a:spcPts val="900"/>
              </a:spcAft>
            </a:pPr>
            <a:r>
              <a:rPr sz="1400" b="0">
                <a:solidFill>
                  <a:srgbClr val="161B26"/>
                </a:solidFill>
                <a:latin typeface="Arial"/>
              </a:rPr>
              <a:t>•  Can be slower and less sensitive to local needs.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Decentralized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units set policy close to their own risk.</a:t>
            </a:r>
          </a:p>
          <a:p>
            <a:pPr>
              <a:spcAft>
                <a:spcPts val="900"/>
              </a:spcAft>
            </a:pPr>
            <a:r>
              <a:rPr sz="1400" b="0">
                <a:solidFill>
                  <a:srgbClr val="161B26"/>
                </a:solidFill>
                <a:latin typeface="Arial"/>
              </a:rPr>
              <a:t>•  Faster and more context-aware for each unit.</a:t>
            </a:r>
          </a:p>
          <a:p>
            <a:pPr>
              <a:spcAft>
                <a:spcPts val="900"/>
              </a:spcAft>
            </a:pPr>
            <a:r>
              <a:rPr sz="1400" b="0">
                <a:solidFill>
                  <a:srgbClr val="161B26"/>
                </a:solidFill>
                <a:latin typeface="Arial"/>
              </a:rPr>
              <a:t>•  Harder to keep consistent and to audit centrally.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spd="med">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5.1 · ROLES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Roles for Systems and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A senior accountable person who sets the classification and acceptable use of a system or data set.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Controller</a:t>
            </a:r>
          </a:p>
          <a:p>
            <a:pPr algn="l">
              <a:spcAft>
                <a:spcPts val="300"/>
              </a:spcAft>
            </a:pPr>
            <a:r>
              <a:rPr sz="1100" b="0">
                <a:solidFill>
                  <a:srgbClr val="5B6372"/>
                </a:solidFill>
                <a:latin typeface="Arial"/>
              </a:rPr>
              <a:t>The party that decides why and how personal data is processed; it carries the legal obligations under privacy law.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Processor</a:t>
            </a:r>
          </a:p>
          <a:p>
            <a:pPr algn="l">
              <a:spcAft>
                <a:spcPts val="300"/>
              </a:spcAft>
            </a:pPr>
            <a:r>
              <a:rPr sz="1100" b="0">
                <a:solidFill>
                  <a:srgbClr val="5B6372"/>
                </a:solidFill>
                <a:latin typeface="Arial"/>
              </a:rPr>
              <a:t>The party that processes personal data on the controller's behalf and only on the controller's documented instructions.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Custodian/steward</a:t>
            </a:r>
          </a:p>
          <a:p>
            <a:pPr algn="l">
              <a:spcAft>
                <a:spcPts val="300"/>
              </a:spcAft>
            </a:pPr>
            <a:r>
              <a:rPr sz="1100" b="0">
                <a:solidFill>
                  <a:srgbClr val="5B6372"/>
                </a:solidFill>
                <a:latin typeface="Arial"/>
              </a:rPr>
              <a:t>The hands-on role that implements the owner's decisions day to day, maintaining backups, access and data quality.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spd="med">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5.1 · LIVING DOCUMENTS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Governance is only effective if it is monitored and revised.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Policies and standards must be reviewed on a schedule and after major change, or they drift out of step with the real environment.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spd="med">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5.1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Policy = what/why (broad, mandatory); standard = specific requirement; procedure = step-by-step how; guideline = optional advice.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Controller decides why/how data is processed; processor acts on its instructions. Owner sets classification; custodian/steward operates.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warning banner or AUP is directive governance, not a technical fix. Expect doc-type and role-matching questions.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Centralized governance is consistent and auditable; decentralized is faster and context-aware. Know the trade-off either way.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spd="med">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Author a policy, a standard and a procedure as files, enforce them with a login banner, pwquality and sudoers, and map data roles with a RACI chart.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governance pack: policy, standard, procedure and RACI, enforced on the host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bash, libpam-pwquality, visudo, /etc/issue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spd="med">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update -qq &amp;&amp; apt-get install -y libpam-pwquality</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acceptable use policy</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governance/aup.md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password standard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governance/password-standard.md &lt;&lt;'EOF' ... EOF</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Enforce the standard with pwquality</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 minlen.*/minlen = 12/' /etc/security/pwquality.conf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ransition spd="med">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Add a directive login banner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printf '%s\n' 'Authorised use only. Activity is monitored.' &gt; /etc/issue.net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onboarding procedure</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&gt; governance/onboarding.md &lt;&lt;'EOF' ... EOF</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Apply a least-privilege sudoers rule</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visudo -cf /etc/sudoers.d/helpdesk</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RACI data-roles chart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governance/raci.csv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ransition spd="med">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Governance: Policies, Standards, Procedures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pwquality rejects a weak password, the banner shows in /etc/issue.net, and raci.csv names owner, controller, processor and custodian.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spd="med">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Risk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Identify, assess, analyse; register, appetite, strategies, BIA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spd="med">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Risk Management Cycle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1. Identify assets, threats and vulnerabilities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2. Assess which risks are credible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3. Analyse likelihood and impact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4. Treat: mitigate, transfer, accept or avoid</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5. Report to owners and the board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6. Monitor and repeat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ransition spd="med">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ASSESSMENT CADENCE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Often You Assess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Ad hoc</a:t>
            </a:r>
          </a:p>
          <a:p>
            <a:pPr algn="l">
              <a:spcAft>
                <a:spcPts val="300"/>
              </a:spcAft>
            </a:pPr>
            <a:r>
              <a:rPr sz="1200" b="0">
                <a:solidFill>
                  <a:srgbClr val="5B6372"/>
                </a:solidFill>
                <a:latin typeface="Arial"/>
              </a:rPr>
              <a:t>A one-off assessment triggered by an event, such as a new acquisition, a breach or an emerging threat.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Recurring</a:t>
            </a:r>
          </a:p>
          <a:p>
            <a:pPr algn="l">
              <a:spcAft>
                <a:spcPts val="300"/>
              </a:spcAft>
            </a:pPr>
            <a:r>
              <a:rPr sz="1200" b="0">
                <a:solidFill>
                  <a:srgbClr val="5B6372"/>
                </a:solidFill>
                <a:latin typeface="Arial"/>
              </a:rPr>
              <a:t>Scheduled assessments on a fixed cycle, for example quarterly or annually, to catch drift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One-time</a:t>
            </a:r>
          </a:p>
          <a:p>
            <a:pPr algn="l">
              <a:spcAft>
                <a:spcPts val="300"/>
              </a:spcAft>
            </a:pPr>
            <a:r>
              <a:rPr sz="1200" b="0">
                <a:solidFill>
                  <a:srgbClr val="5B6372"/>
                </a:solidFill>
                <a:latin typeface="Arial"/>
              </a:rPr>
              <a:t>A single assessment for a specific project or decision that is not meant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Continuous</a:t>
            </a:r>
          </a:p>
          <a:p>
            <a:pPr algn="l">
              <a:spcAft>
                <a:spcPts val="300"/>
              </a:spcAft>
            </a:pPr>
            <a:r>
              <a:rPr sz="1200" b="0">
                <a:solidFill>
                  <a:srgbClr val="5B6372"/>
                </a:solidFill>
                <a:latin typeface="Arial"/>
              </a:rPr>
              <a:t>Always-on monitoring and automated scanning that keeps the risk picture current between formal reviews.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spd="med">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ANALYSIS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Qualitative versus Quantitative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Qualitative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Quantitative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Rates risk with judgement labels such as High, Medium and Low.</a:t>
            </a:r>
          </a:p>
          <a:p>
            <a:pPr>
              <a:spcAft>
                <a:spcPts val="1000"/>
              </a:spcAft>
            </a:pPr>
            <a:r>
              <a:rPr sz="1600" b="0">
                <a:solidFill>
                  <a:srgbClr val="161B26"/>
                </a:solidFill>
                <a:latin typeface="Arial"/>
              </a:rPr>
              <a:t>•  Fast, cheap and good for ranking many risks quickly.</a:t>
            </a:r>
          </a:p>
          <a:p>
            <a:pPr>
              <a:spcAft>
                <a:spcPts val="1000"/>
              </a:spcAft>
            </a:pPr>
            <a:r>
              <a:rPr sz="1600" b="0">
                <a:solidFill>
                  <a:srgbClr val="161B26"/>
                </a:solidFill>
                <a:latin typeface="Arial"/>
              </a:rPr>
              <a:t>•  Subjective, so two assessors may disagree on a rating.</a:t>
            </a:r>
          </a:p>
          <a:p>
            <a:pPr>
              <a:spcAft>
                <a:spcPts val="1000"/>
              </a:spcAft>
            </a:pPr>
            <a:r>
              <a:rPr sz="1600" b="0">
                <a:solidFill>
                  <a:srgbClr val="161B26"/>
                </a:solidFill>
                <a:latin typeface="Arial"/>
              </a:rPr>
              <a:t>•  Often shown as a likelihood-by-impact heat-map matrix.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Puts a money value on risk using SLE, ARO and ALE.</a:t>
            </a:r>
          </a:p>
          <a:p>
            <a:pPr>
              <a:spcAft>
                <a:spcPts val="1000"/>
              </a:spcAft>
            </a:pPr>
            <a:r>
              <a:rPr sz="1600" b="0">
                <a:solidFill>
                  <a:srgbClr val="161B26"/>
                </a:solidFill>
                <a:latin typeface="Arial"/>
              </a:rPr>
              <a:t>•  Objective and directly comparable against control cost.</a:t>
            </a:r>
          </a:p>
          <a:p>
            <a:pPr>
              <a:spcAft>
                <a:spcPts val="1000"/>
              </a:spcAft>
            </a:pPr>
            <a:r>
              <a:rPr sz="1600" b="0">
                <a:solidFill>
                  <a:srgbClr val="161B26"/>
                </a:solidFill>
                <a:latin typeface="Arial"/>
              </a:rPr>
              <a:t>•  Needs reliable data, which is often hard to obtain.</a:t>
            </a:r>
          </a:p>
          <a:p>
            <a:pPr>
              <a:spcAft>
                <a:spcPts val="1000"/>
              </a:spcAft>
            </a:pPr>
            <a:r>
              <a:rPr sz="1600" b="0">
                <a:solidFill>
                  <a:srgbClr val="161B26"/>
                </a:solidFill>
                <a:latin typeface="Arial"/>
              </a:rPr>
              <a:t>•  Drives the budget conversation with finance and the 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spd="med">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QUANT MATH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SLE, ARO and ALE Worked Through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Asset Value (AV)</a:t>
            </a:r>
          </a:p>
          <a:p>
            <a:pPr algn="l">
              <a:spcAft>
                <a:spcPts val="300"/>
              </a:spcAft>
            </a:pPr>
            <a:r>
              <a:rPr sz="1100" b="0">
                <a:solidFill>
                  <a:srgbClr val="5B6372"/>
                </a:solidFill>
                <a:latin typeface="Arial"/>
              </a:rPr>
              <a:t>The full value of the asset. A customer database is valued at 200,000 dollars.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Exposure Factor (EF)</a:t>
            </a:r>
          </a:p>
          <a:p>
            <a:pPr algn="l">
              <a:spcAft>
                <a:spcPts val="300"/>
              </a:spcAft>
            </a:pPr>
            <a:r>
              <a:rPr sz="1100" b="0">
                <a:solidFill>
                  <a:srgbClr val="5B6372"/>
                </a:solidFill>
                <a:latin typeface="Arial"/>
              </a:rPr>
              <a:t>The percentage of the asset lost in one event. A breach destroys 60 percent, so EF is 0.6.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SLE</a:t>
            </a:r>
          </a:p>
          <a:p>
            <a:pPr algn="l">
              <a:spcAft>
                <a:spcPts val="300"/>
              </a:spcAft>
            </a:pPr>
            <a:r>
              <a:rPr sz="1100" b="0">
                <a:solidFill>
                  <a:srgbClr val="5B6372"/>
                </a:solidFill>
                <a:latin typeface="Arial"/>
              </a:rPr>
              <a:t>Single Loss Expectancy equals AV times EF. That is 200,000 times 0.6, which is 120,000 dollars per event.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ARO</a:t>
            </a:r>
          </a:p>
          <a:p>
            <a:pPr algn="l">
              <a:spcAft>
                <a:spcPts val="300"/>
              </a:spcAft>
            </a:pPr>
            <a:r>
              <a:rPr sz="1100" b="0">
                <a:solidFill>
                  <a:srgbClr val="5B6372"/>
                </a:solidFill>
                <a:latin typeface="Arial"/>
              </a:rPr>
              <a:t>Annualised Rate of Occurrence is expected events per year. Once every two years means ARO is 0.5.</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a:t>
            </a:r>
          </a:p>
          <a:p>
            <a:pPr algn="l">
              <a:spcAft>
                <a:spcPts val="300"/>
              </a:spcAft>
            </a:pPr>
            <a:r>
              <a:rPr sz="1100" b="0">
                <a:solidFill>
                  <a:srgbClr val="5B6372"/>
                </a:solidFill>
                <a:latin typeface="Arial"/>
              </a:rPr>
              <a:t>Annualised Loss Expectancy equals SLE times ARO. That is 120,000 times 0.5, which is 60,000 dollars a year.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Probability vs likelihood</a:t>
            </a:r>
          </a:p>
          <a:p>
            <a:pPr algn="l">
              <a:spcAft>
                <a:spcPts val="300"/>
              </a:spcAft>
            </a:pPr>
            <a:r>
              <a:rPr sz="1100" b="0">
                <a:solidFill>
                  <a:srgbClr val="5B6372"/>
                </a:solidFill>
                <a:latin typeface="Arial"/>
              </a:rPr>
              <a:t>Probability is the numeric chance; likelihood is the qualitative sense of it. Impact is the harm if it happens.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spd="med">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REGISTER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Risk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Core Fields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ID, description, category and date raised.</a:t>
            </a:r>
          </a:p>
          <a:p>
            <a:pPr>
              <a:spcAft>
                <a:spcPts val="900"/>
              </a:spcAft>
            </a:pPr>
            <a:r>
              <a:rPr sz="1400" b="0">
                <a:solidFill>
                  <a:srgbClr val="161B26"/>
                </a:solidFill>
                <a:latin typeface="Arial"/>
              </a:rPr>
              <a:t>•  Inherent score, controls and residual score.</a:t>
            </a:r>
          </a:p>
          <a:p>
            <a:pPr>
              <a:spcAft>
                <a:spcPts val="900"/>
              </a:spcAft>
            </a:pPr>
            <a:r>
              <a:rPr sz="1400" b="0">
                <a:solidFill>
                  <a:srgbClr val="161B26"/>
                </a:solidFill>
                <a:latin typeface="Arial"/>
              </a:rPr>
              <a:t>•  Treatment decision, target date and status.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Owner &amp; Threshold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risk names a human risk owner.</a:t>
            </a:r>
          </a:p>
          <a:p>
            <a:pPr>
              <a:spcAft>
                <a:spcPts val="900"/>
              </a:spcAft>
            </a:pPr>
            <a:r>
              <a:rPr sz="1400" b="0">
                <a:solidFill>
                  <a:srgbClr val="161B26"/>
                </a:solidFill>
                <a:latin typeface="Arial"/>
              </a:rPr>
              <a:t>•  A threshold is the level that triggers action.</a:t>
            </a:r>
          </a:p>
          <a:p>
            <a:pPr>
              <a:spcAft>
                <a:spcPts val="900"/>
              </a:spcAft>
            </a:pPr>
            <a:r>
              <a:rPr sz="1400" b="0">
                <a:solidFill>
                  <a:srgbClr val="161B26"/>
                </a:solidFill>
                <a:latin typeface="Arial"/>
              </a:rPr>
              <a:t>•  Breaching it escalates to the named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Key Risk Indicators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KRIs are metrics that warn a risk is worsening.</a:t>
            </a:r>
          </a:p>
          <a:p>
            <a:pPr>
              <a:spcAft>
                <a:spcPts val="900"/>
              </a:spcAft>
            </a:pPr>
            <a:r>
              <a:rPr sz="1400" b="0">
                <a:solidFill>
                  <a:srgbClr val="161B26"/>
                </a:solidFill>
                <a:latin typeface="Arial"/>
              </a:rPr>
              <a:t>•  Example: percentage of laptops without encryption.</a:t>
            </a:r>
          </a:p>
          <a:p>
            <a:pPr>
              <a:spcAft>
                <a:spcPts val="900"/>
              </a:spcAft>
            </a:pPr>
            <a:r>
              <a:rPr sz="1400" b="0">
                <a:solidFill>
                  <a:srgbClr val="161B26"/>
                </a:solidFill>
                <a:latin typeface="Arial"/>
              </a:rPr>
              <a:t>•  They are leading signals, measured over time.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ransition spd="med">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APPETITE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Appetite and Tolerance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appetite</a:t>
            </a:r>
          </a:p>
          <a:p>
            <a:pPr algn="l">
              <a:spcAft>
                <a:spcPts val="300"/>
              </a:spcAft>
            </a:pPr>
            <a:r>
              <a:rPr sz="1200" b="0">
                <a:solidFill>
                  <a:srgbClr val="5B6372"/>
                </a:solidFill>
                <a:latin typeface="Arial"/>
              </a:rPr>
              <a:t>The amount and type of risk the board is willing to pursue to meet its objectives.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Expansionary</a:t>
            </a:r>
          </a:p>
          <a:p>
            <a:pPr algn="l">
              <a:spcAft>
                <a:spcPts val="300"/>
              </a:spcAft>
            </a:pPr>
            <a:r>
              <a:rPr sz="1200" b="0">
                <a:solidFill>
                  <a:srgbClr val="5B6372"/>
                </a:solidFill>
                <a:latin typeface="Arial"/>
              </a:rPr>
              <a:t>A growth-seeking appetite that accepts more risk to chase opportunity and market share.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Conservative</a:t>
            </a:r>
          </a:p>
          <a:p>
            <a:pPr algn="l">
              <a:spcAft>
                <a:spcPts val="300"/>
              </a:spcAft>
            </a:pPr>
            <a:r>
              <a:rPr sz="1200" b="0">
                <a:solidFill>
                  <a:srgbClr val="5B6372"/>
                </a:solidFill>
                <a:latin typeface="Arial"/>
              </a:rPr>
              <a:t>A cautious appetite that minimises risk, accepting slower growth for greater safety.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Neutral</a:t>
            </a:r>
          </a:p>
          <a:p>
            <a:pPr algn="l">
              <a:spcAft>
                <a:spcPts val="300"/>
              </a:spcAft>
            </a:pPr>
            <a:r>
              <a:rPr sz="1200" b="0">
                <a:solidFill>
                  <a:srgbClr val="5B6372"/>
                </a:solidFill>
                <a:latin typeface="Arial"/>
              </a:rPr>
              <a:t>A balanced appetite sitting between expansionary and conservative.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tolerance</a:t>
            </a:r>
          </a:p>
          <a:p>
            <a:pPr algn="l">
              <a:spcAft>
                <a:spcPts val="300"/>
              </a:spcAft>
            </a:pPr>
            <a:r>
              <a:rPr sz="1200" b="0">
                <a:solidFill>
                  <a:srgbClr val="5B6372"/>
                </a:solidFill>
                <a:latin typeface="Arial"/>
              </a:rPr>
              <a:t>The acceptable variance around the appetite before action is required; tighter than appetite.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ransition spd="med">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STRATEGIES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Mitigate</a:t>
            </a:r>
          </a:p>
          <a:p>
            <a:pPr algn="l">
              <a:spcAft>
                <a:spcPts val="300"/>
              </a:spcAft>
            </a:pPr>
            <a:r>
              <a:rPr sz="1200" b="0">
                <a:solidFill>
                  <a:srgbClr val="5B6372"/>
                </a:solidFill>
                <a:latin typeface="Arial"/>
              </a:rPr>
              <a:t>Apply controls to reduce likelihood or impact, such as patching or adding MFA. The most common treatment.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Transfer</a:t>
            </a:r>
          </a:p>
          <a:p>
            <a:pPr algn="l">
              <a:spcAft>
                <a:spcPts val="300"/>
              </a:spcAft>
            </a:pPr>
            <a:r>
              <a:rPr sz="1200" b="0">
                <a:solidFill>
                  <a:srgbClr val="5B6372"/>
                </a:solidFill>
                <a:latin typeface="Arial"/>
              </a:rPr>
              <a:t>Shift the financial loss to a third party via insurance or a contract clause. The risk still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Avoid</a:t>
            </a:r>
          </a:p>
          <a:p>
            <a:pPr algn="l">
              <a:spcAft>
                <a:spcPts val="300"/>
              </a:spcAft>
            </a:pPr>
            <a:r>
              <a:rPr sz="1200" b="0">
                <a:solidFill>
                  <a:srgbClr val="5B6372"/>
                </a:solidFill>
                <a:latin typeface="Arial"/>
              </a:rPr>
              <a:t>Stop the activity that creates the risk entirely, for example decommissioning a vulnerable legacy feature.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Accept</a:t>
            </a:r>
          </a:p>
          <a:p>
            <a:pPr algn="l">
              <a:spcAft>
                <a:spcPts val="300"/>
              </a:spcAft>
            </a:pPr>
            <a:r>
              <a:rPr sz="1200" b="0">
                <a:solidFill>
                  <a:srgbClr val="5B6372"/>
                </a:solidFill>
                <a:latin typeface="Arial"/>
              </a:rPr>
              <a:t>Formally document that the residual risk is tolerable. An exemption is a standing waiver; an exception is a time-bound, approved deviation.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ransition spd="med">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5.2 · BIA METRICS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Business Impact Analysis Targets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RTO</a:t>
            </a:r>
          </a:p>
          <a:p>
            <a:pPr algn="l">
              <a:spcAft>
                <a:spcPts val="300"/>
              </a:spcAft>
            </a:pPr>
            <a:r>
              <a:rPr sz="1100" b="0">
                <a:solidFill>
                  <a:srgbClr val="5B6372"/>
                </a:solidFill>
                <a:latin typeface="Arial"/>
              </a:rPr>
              <a:t>Recovery Time Objective: the maximum acceptable time to restore a function after an outage.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RPO</a:t>
            </a:r>
          </a:p>
          <a:p>
            <a:pPr algn="l">
              <a:spcAft>
                <a:spcPts val="300"/>
              </a:spcAft>
            </a:pPr>
            <a:r>
              <a:rPr sz="1100" b="0">
                <a:solidFill>
                  <a:srgbClr val="5B6372"/>
                </a:solidFill>
                <a:latin typeface="Arial"/>
              </a:rPr>
              <a:t>Recovery Point Objective: the maximum acceptable data loss, measured as time back to the last good backup.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MTTR</a:t>
            </a:r>
          </a:p>
          <a:p>
            <a:pPr algn="l">
              <a:spcAft>
                <a:spcPts val="300"/>
              </a:spcAft>
            </a:pPr>
            <a:r>
              <a:rPr sz="1100" b="0">
                <a:solidFill>
                  <a:srgbClr val="5B6372"/>
                </a:solidFill>
                <a:latin typeface="Arial"/>
              </a:rPr>
              <a:t>Mean Time To Repair: the average time taken to fix a failed component and bring it back.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MTBF</a:t>
            </a:r>
          </a:p>
          <a:p>
            <a:pPr algn="l">
              <a:spcAft>
                <a:spcPts val="300"/>
              </a:spcAft>
            </a:pPr>
            <a:r>
              <a:rPr sz="1100" b="0">
                <a:solidFill>
                  <a:srgbClr val="5B6372"/>
                </a:solidFill>
                <a:latin typeface="Arial"/>
              </a:rPr>
              <a:t>Mean Time Between Failures: the average operating time between failures, a reliability measure for repairable systems.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ransition spd="med">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5.2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Risk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SLE = AV x EF; ALE = SLE x ARO. Be ready to compute ALE from AV, EF and ARO in one step.</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RTO = time to restore a service; RPO = tolerable data loss (time to last backup). A classic swapped-answer trap.</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Transfer (e.g. insurance) does not remove the risk; it moves the financial loss. Avoid removes the activity entirely.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Exemption is an ongoing waiver of a requirement; exception is a documented, time-limited approved deviation.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Appetite = how much risk you will take (expansionary/neutral/conservative); tolerance = allowed variance around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spd="med">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a CSV risk register, score a finding with CVSS v3.1, and compute SLE and ALE to justify control spend to the business.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CSV risk register with CVSS scores, KRIs and a board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python3, FIRST.org CVSS calculator, column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spd="med">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Create and view the CSV risk register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column -t -s, risk-register.csv</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Score R-001 on the FIRST.org CVSS v3.1 calculator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https://www.first.org/cvss/calculator/3.1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Compute SLE and ALE in Python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python3 -c "print(200000*0.6*0.5)"</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795528"/>
          </a:xfrm>
          <a:prstGeom prst="rect">
            <a:avLst/>
          </a:prstGeom>
          <a:noFill/>
        </p:spPr>
        <p:txBody>
          <a:bodyPr wrap="square" anchor="ctr">
            <a:spAutoFit/>
          </a:bodyPr>
          <a:lstStyle/>
          <a:p>
            <a:pPr algn="l">
              <a:spcAft>
                <a:spcPts val="400"/>
              </a:spcAft>
            </a:pPr>
            <a:r>
              <a:rPr sz="1500" b="0">
                <a:solidFill>
                  <a:srgbClr val="161B26"/>
                </a:solidFill>
                <a:latin typeface="Arial"/>
              </a:rPr>
              <a:t>Choose a risk treatment (mitigate vs accept)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spd="med">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Add Key Risk Indicators to a CSV</a:t>
            </a:r>
          </a:p>
        </p:txBody>
      </p:sp>
      <p:sp>
        <p:nvSpPr>
          <p:cNvPr id="11" name="Rectangle 10"/>
          <p:cNvSpPr/>
          <p:nvPr/>
        </p:nvSpPr>
        <p:spPr>
          <a:xfrm>
            <a:off x="1417320" y="312770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312770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column -t -s, kri.csv</a:t>
            </a:r>
          </a:p>
        </p:txBody>
      </p:sp>
      <p:sp>
        <p:nvSpPr>
          <p:cNvPr id="13" name="Oval 12"/>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420166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Generate the one-page board risk report</a:t>
            </a:r>
          </a:p>
        </p:txBody>
      </p:sp>
      <p:sp>
        <p:nvSpPr>
          <p:cNvPr id="16" name="Rectangle 15"/>
          <p:cNvSpPr/>
          <p:nvPr/>
        </p:nvSpPr>
        <p:spPr>
          <a:xfrm>
            <a:off x="1417320" y="511652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511652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cat board-report.md</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spd="med">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Risk Register, CVSS Scoring, and Quantitative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Python output shows ALE 60,000 per year and board-report.md lists the open risks with their treatments.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spd="med">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Third-Party Risk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Vendor assessment and selection; agreement types; monitoring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spd="med">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Vendor Assessment Methods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Penetration testing</a:t>
            </a:r>
          </a:p>
          <a:p>
            <a:pPr algn="l">
              <a:spcAft>
                <a:spcPts val="300"/>
              </a:spcAft>
            </a:pPr>
            <a:r>
              <a:rPr sz="1200" b="0">
                <a:solidFill>
                  <a:srgbClr val="5B6372"/>
                </a:solidFill>
                <a:latin typeface="Arial"/>
              </a:rPr>
              <a:t>Testing the vendor's systems, or reviewing their test results, to confirm their controls actually hold.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Right-to-audit clause</a:t>
            </a:r>
          </a:p>
          <a:p>
            <a:pPr algn="l">
              <a:spcAft>
                <a:spcPts val="300"/>
              </a:spcAft>
            </a:pPr>
            <a:r>
              <a:rPr sz="1200" b="0">
                <a:solidFill>
                  <a:srgbClr val="5B6372"/>
                </a:solidFill>
                <a:latin typeface="Arial"/>
              </a:rPr>
              <a:t>A contract term letting you inspect the vendor's security, directly or through an agent, during the relationship.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of internal audits</a:t>
            </a:r>
          </a:p>
          <a:p>
            <a:pPr algn="l">
              <a:spcAft>
                <a:spcPts val="300"/>
              </a:spcAft>
            </a:pPr>
            <a:r>
              <a:rPr sz="1200" b="0">
                <a:solidFill>
                  <a:srgbClr val="5B6372"/>
                </a:solidFill>
                <a:latin typeface="Arial"/>
              </a:rPr>
              <a:t>The vendor's own audit reports, showing they check themselves and act on the findings.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Independent assessments</a:t>
            </a:r>
          </a:p>
          <a:p>
            <a:pPr algn="l">
              <a:spcAft>
                <a:spcPts val="300"/>
              </a:spcAft>
            </a:pPr>
            <a:r>
              <a:rPr sz="1200" b="0">
                <a:solidFill>
                  <a:srgbClr val="5B6372"/>
                </a:solidFill>
                <a:latin typeface="Arial"/>
              </a:rPr>
              <a:t>Third-party attestations such as SOC 2 or ISO 27001 certification that an outside auditor has verified controls.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Supply chain analysis</a:t>
            </a:r>
          </a:p>
          <a:p>
            <a:pPr algn="l">
              <a:spcAft>
                <a:spcPts val="300"/>
              </a:spcAft>
            </a:pPr>
            <a:r>
              <a:rPr sz="1200" b="0">
                <a:solidFill>
                  <a:srgbClr val="5B6372"/>
                </a:solidFill>
                <a:latin typeface="Arial"/>
              </a:rPr>
              <a:t>Mapping the vendor's own suppliers, because their fourth parties become your risk too.</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spd="med">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SELECTION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Choosing a Vendor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Due diligence</a:t>
            </a:r>
          </a:p>
          <a:p>
            <a:pPr algn="l">
              <a:spcAft>
                <a:spcPts val="300"/>
              </a:spcAft>
            </a:pPr>
            <a:r>
              <a:rPr sz="1200" b="0">
                <a:solidFill>
                  <a:srgbClr val="5B6372"/>
                </a:solidFill>
                <a:latin typeface="Arial"/>
              </a:rPr>
              <a:t>Investigating a vendor's financial health, security posture, reputation and references before signing.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Conflict of interest</a:t>
            </a:r>
          </a:p>
          <a:p>
            <a:pPr algn="l">
              <a:spcAft>
                <a:spcPts val="300"/>
              </a:spcAft>
            </a:pPr>
            <a:r>
              <a:rPr sz="1200" b="0">
                <a:solidFill>
                  <a:srgbClr val="5B6372"/>
                </a:solidFill>
                <a:latin typeface="Arial"/>
              </a:rPr>
              <a:t>Checking that the decision is not swayed by personal ties or undisclosed incentives that bias selection.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Questionnaires</a:t>
            </a:r>
          </a:p>
          <a:p>
            <a:pPr algn="l">
              <a:spcAft>
                <a:spcPts val="300"/>
              </a:spcAft>
            </a:pPr>
            <a:r>
              <a:rPr sz="1200" b="0">
                <a:solidFill>
                  <a:srgbClr val="5B6372"/>
                </a:solidFill>
                <a:latin typeface="Arial"/>
              </a:rPr>
              <a:t>Structured security questionnaires (such as SIG or CAIQ) gather a comparable baseline across candidate vendors.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of engagement</a:t>
            </a:r>
          </a:p>
          <a:p>
            <a:pPr algn="l">
              <a:spcAft>
                <a:spcPts val="300"/>
              </a:spcAft>
            </a:pPr>
            <a:r>
              <a:rPr sz="1200" b="0">
                <a:solidFill>
                  <a:srgbClr val="5B6372"/>
                </a:solidFill>
                <a:latin typeface="Arial"/>
              </a:rPr>
              <a:t>Agreed scope, timing and limits for any testing done on or by the vendor, set before work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spd="med">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5.3 · AGREEMENTS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Agreement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SLA</a:t>
            </a:r>
          </a:p>
          <a:p>
            <a:pPr algn="l">
              <a:spcAft>
                <a:spcPts val="300"/>
              </a:spcAft>
            </a:pPr>
            <a:r>
              <a:rPr sz="1100" b="0">
                <a:solidFill>
                  <a:srgbClr val="5B6372"/>
                </a:solidFill>
                <a:latin typeface="Arial"/>
              </a:rPr>
              <a:t>Service-Level Agreement: measurable performance and availability targets, with remedies if the vendor misses them.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MOA / MOU</a:t>
            </a:r>
          </a:p>
          <a:p>
            <a:pPr algn="l">
              <a:spcAft>
                <a:spcPts val="300"/>
              </a:spcAft>
            </a:pPr>
            <a:r>
              <a:rPr sz="1100" b="0">
                <a:solidFill>
                  <a:srgbClr val="5B6372"/>
                </a:solidFill>
                <a:latin typeface="Arial"/>
              </a:rPr>
              <a:t>Memorandum of Agreement is a more formal, sometimes binding commitment; MOU states shared intent and is usually non-binding.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MSA</a:t>
            </a:r>
          </a:p>
          <a:p>
            <a:pPr algn="l">
              <a:spcAft>
                <a:spcPts val="300"/>
              </a:spcAft>
            </a:pPr>
            <a:r>
              <a:rPr sz="1100" b="0">
                <a:solidFill>
                  <a:srgbClr val="5B6372"/>
                </a:solidFill>
                <a:latin typeface="Arial"/>
              </a:rPr>
              <a:t>Master Service Agreement: the umbrella contract of standing terms under which individual pieces of work are ordered.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 / SOW</a:t>
            </a:r>
          </a:p>
          <a:p>
            <a:pPr algn="l">
              <a:spcAft>
                <a:spcPts val="300"/>
              </a:spcAft>
            </a:pPr>
            <a:r>
              <a:rPr sz="1100" b="0">
                <a:solidFill>
                  <a:srgbClr val="5B6372"/>
                </a:solidFill>
                <a:latin typeface="Arial"/>
              </a:rPr>
              <a:t>Work Order or Statement of Work: the specific deliverables, timeline and price for one engagement under an MSA.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NDA</a:t>
            </a:r>
          </a:p>
          <a:p>
            <a:pPr algn="l">
              <a:spcAft>
                <a:spcPts val="300"/>
              </a:spcAft>
            </a:pPr>
            <a:r>
              <a:rPr sz="1100" b="0">
                <a:solidFill>
                  <a:srgbClr val="5B6372"/>
                </a:solidFill>
                <a:latin typeface="Arial"/>
              </a:rPr>
              <a:t>Non-Disclosure Agreement: binds the parties to keep shared confidential information secret.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BPA</a:t>
            </a:r>
          </a:p>
          <a:p>
            <a:pPr algn="l">
              <a:spcAft>
                <a:spcPts val="300"/>
              </a:spcAft>
            </a:pPr>
            <a:r>
              <a:rPr sz="1100" b="0">
                <a:solidFill>
                  <a:srgbClr val="5B6372"/>
                </a:solidFill>
                <a:latin typeface="Arial"/>
              </a:rPr>
              <a:t>Business Partners Agreement: governs a joint venture, setting each partner's responsibilities, liabilities and profit share.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spd="med">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5.3 · ONGOING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Vendors need monitoring for the life of the contract.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Vendor monitoring tracks performance against the SLA, re-runs questionnaires and watches for breaches, because a vendor secure at signing can drift.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spd="med">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5.3 · ASSURANCE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Internal Audit Evidence vs Independent 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Vendor internal audit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Independent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Produced by the vendor's own audit function.</a:t>
            </a:r>
          </a:p>
          <a:p>
            <a:pPr>
              <a:spcAft>
                <a:spcPts val="1000"/>
              </a:spcAft>
            </a:pPr>
            <a:r>
              <a:rPr sz="1600" b="0">
                <a:solidFill>
                  <a:srgbClr val="161B26"/>
                </a:solidFill>
                <a:latin typeface="Arial"/>
              </a:rPr>
              <a:t>•  Shows the vendor checks itself and acts on findings.</a:t>
            </a:r>
          </a:p>
          <a:p>
            <a:pPr>
              <a:spcAft>
                <a:spcPts val="1000"/>
              </a:spcAft>
            </a:pPr>
            <a:r>
              <a:rPr sz="1600" b="0">
                <a:solidFill>
                  <a:srgbClr val="161B26"/>
                </a:solidFill>
                <a:latin typeface="Arial"/>
              </a:rPr>
              <a:t>•  Cheaper and timely, but self-reported and less objective.</a:t>
            </a:r>
          </a:p>
          <a:p>
            <a:pPr>
              <a:spcAft>
                <a:spcPts val="1000"/>
              </a:spcAft>
            </a:pPr>
            <a:r>
              <a:rPr sz="1600" b="0">
                <a:solidFill>
                  <a:srgbClr val="161B26"/>
                </a:solidFill>
                <a:latin typeface="Arial"/>
              </a:rPr>
              <a:t>•  You rely on the vendor's honesty and competence.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Performed by a qualified outside firm.</a:t>
            </a:r>
          </a:p>
          <a:p>
            <a:pPr>
              <a:spcAft>
                <a:spcPts val="1000"/>
              </a:spcAft>
            </a:pPr>
            <a:r>
              <a:rPr sz="1600" b="0">
                <a:solidFill>
                  <a:srgbClr val="161B26"/>
                </a:solidFill>
                <a:latin typeface="Arial"/>
              </a:rPr>
              <a:t>•  Yields an objective attestation such as SOC 2 or ISO 27001.</a:t>
            </a:r>
          </a:p>
          <a:p>
            <a:pPr>
              <a:spcAft>
                <a:spcPts val="1000"/>
              </a:spcAft>
            </a:pPr>
            <a:r>
              <a:rPr sz="1600" b="0">
                <a:solidFill>
                  <a:srgbClr val="161B26"/>
                </a:solidFill>
                <a:latin typeface="Arial"/>
              </a:rPr>
              <a:t>•  More credible to your own auditors and regulators.</a:t>
            </a:r>
          </a:p>
          <a:p>
            <a:pPr>
              <a:spcAft>
                <a:spcPts val="1000"/>
              </a:spcAft>
            </a:pPr>
            <a:r>
              <a:rPr sz="1600" b="0">
                <a:solidFill>
                  <a:srgbClr val="161B26"/>
                </a:solidFill>
                <a:latin typeface="Arial"/>
              </a:rPr>
              <a:t>•  Costs more and happens less often than internal checks.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spd="med">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5.3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Third-Party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Right-to-audit clause = your contractual permission to inspect the vendor's security; negotiate it before you sign.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SLA = measurable service targets; MOU = intent (often non-binding); MSA = umbrella terms; SOW/WO = the specific scoped job.</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Independent assessments (SOC 2, ISO 27001) are third-party attestations; evidence of internal audits is the vendor's own review.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Supply chain analysis matters because your vendor's suppliers (fourth parties) inherit into your risk.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spd="med">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Generate a software bill of materials with Syft, verify a vendor download by checksum and GPG signature, and record right-to-audit and questionnaire notes.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SBOM plus a verified vendor download and a vendor-trust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syft, sha256sum, gpg, curl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ransition spd="med">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Syft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-sSfL https://raw.githubusercontent.com/anchore/syft/main/install.sh | sh -s -- -b /usr/local/bin</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Generate an SBOM of the filesystem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syft dir:/usr/bin -o spdx-json=sbom.spdx.json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Read the SBOM component list</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syft dir:/usr/bin -o table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a vendor release and its checksum</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-LO https://.../tool.tar.gz &amp;&amp; curl -LO https://.../checksums.txt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ransition spd="med">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SHA-256 checksum</a:t>
            </a:r>
          </a:p>
        </p:txBody>
      </p:sp>
      <p:sp>
        <p:nvSpPr>
          <p:cNvPr id="11" name="Rectangle 10"/>
          <p:cNvSpPr/>
          <p:nvPr/>
        </p:nvSpPr>
        <p:spPr>
          <a:xfrm>
            <a:off x="1417320" y="282275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82275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sha256sum -c checksums.txt 2&gt;/dev/null | grep OK</a:t>
            </a:r>
          </a:p>
        </p:txBody>
      </p:sp>
      <p:sp>
        <p:nvSpPr>
          <p:cNvPr id="13" name="Oval 12"/>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53872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Verify the GPG signature</a:t>
            </a:r>
          </a:p>
        </p:txBody>
      </p:sp>
      <p:sp>
        <p:nvSpPr>
          <p:cNvPr id="16" name="Rectangle 15"/>
          <p:cNvSpPr/>
          <p:nvPr/>
        </p:nvSpPr>
        <p:spPr>
          <a:xfrm>
            <a:off x="1417320" y="414863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14863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gpg --verify tool.tar.gz.asc tool.tar.gz</a:t>
            </a:r>
          </a:p>
        </p:txBody>
      </p:sp>
      <p:sp>
        <p:nvSpPr>
          <p:cNvPr id="18" name="Oval 17"/>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864608"/>
            <a:ext cx="10058400" cy="609904"/>
          </a:xfrm>
          <a:prstGeom prst="rect">
            <a:avLst/>
          </a:prstGeom>
          <a:noFill/>
        </p:spPr>
        <p:txBody>
          <a:bodyPr wrap="square" anchor="ctr">
            <a:spAutoFit/>
          </a:bodyPr>
          <a:lstStyle/>
          <a:p>
            <a:pPr algn="l">
              <a:spcAft>
                <a:spcPts val="400"/>
              </a:spcAft>
            </a:pPr>
            <a:r>
              <a:rPr sz="1500" b="0">
                <a:solidFill>
                  <a:srgbClr val="161B26"/>
                </a:solidFill>
                <a:latin typeface="Arial"/>
              </a:rPr>
              <a:t>Write the vendor-trust checklist</a:t>
            </a:r>
          </a:p>
        </p:txBody>
      </p:sp>
      <p:sp>
        <p:nvSpPr>
          <p:cNvPr id="21" name="Rectangle 20"/>
          <p:cNvSpPr/>
          <p:nvPr/>
        </p:nvSpPr>
        <p:spPr>
          <a:xfrm>
            <a:off x="1417320" y="5474512"/>
            <a:ext cx="100584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5474512"/>
            <a:ext cx="9784080" cy="530352"/>
          </a:xfrm>
          <a:prstGeom prst="rect">
            <a:avLst/>
          </a:prstGeom>
          <a:noFill/>
        </p:spPr>
        <p:txBody>
          <a:bodyPr wrap="square" anchor="ctr">
            <a:spAutoFit/>
          </a:bodyPr>
          <a:lstStyle/>
          <a:p>
            <a:pPr algn="l">
              <a:spcAft>
                <a:spcPts val="400"/>
              </a:spcAft>
            </a:pPr>
            <a:r>
              <a:rPr sz="1050" b="0">
                <a:solidFill>
                  <a:srgbClr val="9CDCFE"/>
                </a:solidFill>
                <a:latin typeface="Arial"/>
              </a:rPr>
              <a:t>$ cat vendor-trust.md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spd="med">
    <p:fade/>
  </p:transition>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Supply Chain Security: SBOM and Vendor Trust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sbom.spdx.json lists components with versions, the checksum verifies OK, and vendor-trust.md records right-to-audit and questionnaire items.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transition spd="med">
    <p:fade/>
  </p:transition>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Reporting, consequences, monitoring; privacy and data roles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transition spd="med">
    <p:fade/>
  </p:transition>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REPORTING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reporting</a:t>
            </a:r>
          </a:p>
          <a:p>
            <a:pPr algn="l">
              <a:spcAft>
                <a:spcPts val="300"/>
              </a:spcAft>
            </a:pPr>
            <a:r>
              <a:rPr sz="1200" b="0">
                <a:solidFill>
                  <a:srgbClr val="5B6372"/>
                </a:solidFill>
                <a:latin typeface="Arial"/>
              </a:rPr>
              <a:t>Reporting compliance status up to management and the board so leaders can act on gaps they own.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External reporting</a:t>
            </a:r>
          </a:p>
          <a:p>
            <a:pPr algn="l">
              <a:spcAft>
                <a:spcPts val="300"/>
              </a:spcAft>
            </a:pPr>
            <a:r>
              <a:rPr sz="1200" b="0">
                <a:solidFill>
                  <a:srgbClr val="5B6372"/>
                </a:solidFill>
                <a:latin typeface="Arial"/>
              </a:rPr>
              <a:t>Reporting to regulators, auditors, customers or the public, often on a mandated schedule or after a breach.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formal signed statement that controls are in place and operating, by management or an external auditor.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Acknowledgement</a:t>
            </a:r>
          </a:p>
          <a:p>
            <a:pPr algn="l">
              <a:spcAft>
                <a:spcPts val="300"/>
              </a:spcAft>
            </a:pPr>
            <a:r>
              <a:rPr sz="1200" b="0">
                <a:solidFill>
                  <a:srgbClr val="5B6372"/>
                </a:solidFill>
                <a:latin typeface="Arial"/>
              </a:rPr>
              <a:t>Confirmation that staff have read and accepted a policy, creating an auditable record of awareness.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transition spd="med">
    <p:fade/>
  </p:transition>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CONSEQUENCES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Consequences of Non-Compliance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Fines</a:t>
            </a:r>
          </a:p>
          <a:p>
            <a:pPr algn="l">
              <a:spcAft>
                <a:spcPts val="300"/>
              </a:spcAft>
            </a:pPr>
            <a:r>
              <a:rPr sz="1200" b="0">
                <a:solidFill>
                  <a:srgbClr val="5B6372"/>
                </a:solidFill>
                <a:latin typeface="Arial"/>
              </a:rPr>
              <a:t>Monetary penalties from a regulator, which for privacy law can reach a percentage of global turnover.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Sanctions</a:t>
            </a:r>
          </a:p>
          <a:p>
            <a:pPr algn="l">
              <a:spcAft>
                <a:spcPts val="300"/>
              </a:spcAft>
            </a:pPr>
            <a:r>
              <a:rPr sz="1200" b="0">
                <a:solidFill>
                  <a:srgbClr val="5B6372"/>
                </a:solidFill>
                <a:latin typeface="Arial"/>
              </a:rPr>
              <a:t>Formal restrictions or enforcement actions imposed by an authority on how you may operate.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Reputational damage</a:t>
            </a:r>
          </a:p>
          <a:p>
            <a:pPr algn="l">
              <a:spcAft>
                <a:spcPts val="300"/>
              </a:spcAft>
            </a:pPr>
            <a:r>
              <a:rPr sz="1200" b="0">
                <a:solidFill>
                  <a:srgbClr val="5B6372"/>
                </a:solidFill>
                <a:latin typeface="Arial"/>
              </a:rPr>
              <a:t>Lost customer and partner trust after a public failure, often the most lasting cost of 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Loss of license</a:t>
            </a:r>
          </a:p>
          <a:p>
            <a:pPr algn="l">
              <a:spcAft>
                <a:spcPts val="300"/>
              </a:spcAft>
            </a:pPr>
            <a:r>
              <a:rPr sz="1200" b="0">
                <a:solidFill>
                  <a:srgbClr val="5B6372"/>
                </a:solidFill>
                <a:latin typeface="Arial"/>
              </a:rPr>
              <a:t>A regulator can revoke the licence you need to trade in a sector, ending the business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Contractual impacts</a:t>
            </a:r>
          </a:p>
          <a:p>
            <a:pPr algn="l">
              <a:spcAft>
                <a:spcPts val="300"/>
              </a:spcAft>
            </a:pPr>
            <a:r>
              <a:rPr sz="1200" b="0">
                <a:solidFill>
                  <a:srgbClr val="5B6372"/>
                </a:solidFill>
                <a:latin typeface="Arial"/>
              </a:rPr>
              <a:t>Breaching a compliance clause can void contracts, trigger penalties or lose you the customer.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transition spd="med">
    <p:fade/>
  </p:transition>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5.4 · MONITORING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Due Diligence vs Care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Due diligence is investigating before you act.</a:t>
            </a:r>
          </a:p>
          <a:p>
            <a:pPr>
              <a:spcAft>
                <a:spcPts val="900"/>
              </a:spcAft>
            </a:pPr>
            <a:r>
              <a:rPr sz="1400" b="0">
                <a:solidFill>
                  <a:srgbClr val="161B26"/>
                </a:solidFill>
                <a:latin typeface="Arial"/>
              </a:rPr>
              <a:t>•  Due care is acting responsibly on an ongoing basis.</a:t>
            </a:r>
          </a:p>
          <a:p>
            <a:pPr>
              <a:spcAft>
                <a:spcPts val="900"/>
              </a:spcAft>
            </a:pPr>
            <a:r>
              <a:rPr sz="1400" b="0">
                <a:solidFill>
                  <a:srgbClr val="161B26"/>
                </a:solidFill>
                <a:latin typeface="Arial"/>
              </a:rPr>
              <a:t>•  Together they show a reasonable standard was met.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Internal &amp; External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Internal monitoring is your own continuous checks.</a:t>
            </a:r>
          </a:p>
          <a:p>
            <a:pPr>
              <a:spcAft>
                <a:spcPts val="900"/>
              </a:spcAft>
            </a:pPr>
            <a:r>
              <a:rPr sz="1400" b="0">
                <a:solidFill>
                  <a:srgbClr val="161B26"/>
                </a:solidFill>
                <a:latin typeface="Arial"/>
              </a:rPr>
              <a:t>•  External monitoring is audits and regulator review.</a:t>
            </a:r>
          </a:p>
          <a:p>
            <a:pPr>
              <a:spcAft>
                <a:spcPts val="900"/>
              </a:spcAft>
            </a:pPr>
            <a:r>
              <a:rPr sz="1400" b="0">
                <a:solidFill>
                  <a:srgbClr val="161B26"/>
                </a:solidFill>
                <a:latin typeface="Arial"/>
              </a:rPr>
              <a:t>•  Both feed the reporting cycle above.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Automation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Automated tools scan configs against a baseline.</a:t>
            </a:r>
          </a:p>
          <a:p>
            <a:pPr>
              <a:spcAft>
                <a:spcPts val="900"/>
              </a:spcAft>
            </a:pPr>
            <a:r>
              <a:rPr sz="1400" b="0">
                <a:solidFill>
                  <a:srgbClr val="161B26"/>
                </a:solidFill>
                <a:latin typeface="Arial"/>
              </a:rPr>
              <a:t>•  They produce continuous evidence, not point-in-time.</a:t>
            </a:r>
          </a:p>
          <a:p>
            <a:pPr>
              <a:spcAft>
                <a:spcPts val="900"/>
              </a:spcAft>
            </a:pPr>
            <a:r>
              <a:rPr sz="1400" b="0">
                <a:solidFill>
                  <a:srgbClr val="161B26"/>
                </a:solidFill>
                <a:latin typeface="Arial"/>
              </a:rPr>
              <a:t>•  Automation scales compliance across large estates.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transition spd="med">
    <p:fade/>
  </p:transition>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DATA ROLES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Privacy Roles and Ownership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Data subject</a:t>
            </a:r>
          </a:p>
          <a:p>
            <a:pPr algn="l">
              <a:spcAft>
                <a:spcPts val="300"/>
              </a:spcAft>
            </a:pPr>
            <a:r>
              <a:rPr sz="1100" b="0">
                <a:solidFill>
                  <a:srgbClr val="5B6372"/>
                </a:solidFill>
                <a:latin typeface="Arial"/>
              </a:rPr>
              <a:t>The identified living individual the personal data is about; privacy law exists to protect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Controller</a:t>
            </a:r>
          </a:p>
          <a:p>
            <a:pPr algn="l">
              <a:spcAft>
                <a:spcPts val="300"/>
              </a:spcAft>
            </a:pPr>
            <a:r>
              <a:rPr sz="1100" b="0">
                <a:solidFill>
                  <a:srgbClr val="5B6372"/>
                </a:solidFill>
                <a:latin typeface="Arial"/>
              </a:rPr>
              <a:t>Decides why and how personal data is processed and carries the primary legal accountability.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Processor</a:t>
            </a:r>
          </a:p>
          <a:p>
            <a:pPr algn="l">
              <a:spcAft>
                <a:spcPts val="300"/>
              </a:spcAft>
            </a:pPr>
            <a:r>
              <a:rPr sz="1100" b="0">
                <a:solidFill>
                  <a:srgbClr val="5B6372"/>
                </a:solidFill>
                <a:latin typeface="Arial"/>
              </a:rPr>
              <a:t>Processes personal data only on the controller's documented instructions, such as a cloud or payroll provider.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Ownership</a:t>
            </a:r>
          </a:p>
          <a:p>
            <a:pPr algn="l">
              <a:spcAft>
                <a:spcPts val="300"/>
              </a:spcAft>
            </a:pPr>
            <a:r>
              <a:rPr sz="1100" b="0">
                <a:solidFill>
                  <a:srgbClr val="5B6372"/>
                </a:solidFill>
                <a:latin typeface="Arial"/>
              </a:rPr>
              <a:t>The accountable role that sets classification and permitted use of a data set within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transition spd="med">
    <p:fade/>
  </p:transition>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5.4 · PRIVACY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Privacy Concepts and Laws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Legal implications</a:t>
            </a:r>
          </a:p>
          <a:p>
            <a:pPr algn="l">
              <a:spcAft>
                <a:spcPts val="300"/>
              </a:spcAft>
            </a:pPr>
            <a:r>
              <a:rPr sz="1200" b="0">
                <a:solidFill>
                  <a:srgbClr val="5B6372"/>
                </a:solidFill>
                <a:latin typeface="Arial"/>
              </a:rPr>
              <a:t>Privacy duties apply at local, regional, national and global levels; cross-border transfers add further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GDPR</a:t>
            </a:r>
          </a:p>
          <a:p>
            <a:pPr algn="l">
              <a:spcAft>
                <a:spcPts val="300"/>
              </a:spcAft>
            </a:pPr>
            <a:r>
              <a:rPr sz="1200" b="0">
                <a:solidFill>
                  <a:srgbClr val="5B6372"/>
                </a:solidFill>
                <a:latin typeface="Arial"/>
              </a:rPr>
              <a:t>The EU regulation granting data-subject rights and imposing heavy fines, often the reference privacy law on the exam.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Singapore PDPA</a:t>
            </a:r>
          </a:p>
          <a:p>
            <a:pPr algn="l">
              <a:spcAft>
                <a:spcPts val="300"/>
              </a:spcAft>
            </a:pPr>
            <a:r>
              <a:rPr sz="1200" b="0">
                <a:solidFill>
                  <a:srgbClr val="5B6372"/>
                </a:solidFill>
                <a:latin typeface="Arial"/>
              </a:rPr>
              <a:t>Singapore's Personal Data Protection Act is the local equivalent, governing consent, purpose and protection of personal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inventory &amp; retention</a:t>
            </a:r>
          </a:p>
          <a:p>
            <a:pPr algn="l">
              <a:spcAft>
                <a:spcPts val="300"/>
              </a:spcAft>
            </a:pPr>
            <a:r>
              <a:rPr sz="1200" b="0">
                <a:solidFill>
                  <a:srgbClr val="5B6372"/>
                </a:solidFill>
                <a:latin typeface="Arial"/>
              </a:rPr>
              <a:t>Know what personal data you hold and where, and keep it only for a defined, lawful retention period.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 to be forgotten</a:t>
            </a:r>
          </a:p>
          <a:p>
            <a:pPr algn="l">
              <a:spcAft>
                <a:spcPts val="300"/>
              </a:spcAft>
            </a:pPr>
            <a:r>
              <a:rPr sz="1200" b="0">
                <a:solidFill>
                  <a:srgbClr val="5B6372"/>
                </a:solidFill>
                <a:latin typeface="Arial"/>
              </a:rPr>
              <a:t>A data subject can request erasure of their personal data where there is no lawful basis to keep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transition spd="med">
    <p:fade/>
  </p:transition>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5.4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controller stays accountable even when a processor does the work.</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Outsourcing processing never outsources the legal duty; the controller must bind the processor by contract and still answer for the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transition spd="med">
    <p:fade/>
  </p:transition>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5.4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Compliance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Controller decides the why/how of processing and is accountable; processor only acts on the controller's instructions.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Due diligence = investigate before acting; due care = act responsibly over time. Attestation is a signed assurance.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Right to be forgotten = a data subject's request to erase their personal data (GDPR; PDPA is Singapore's local law).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Consequences of non-compliance: fines, sanctions, reputational damage, loss of licence, contractual impacts.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transition spd="med">
    <p:fade/>
  </p:transition>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Audit an Ubuntu host against a CIS profile with OpenSCAP, produce the HTML report as compliance evidence, and remediate one failed control.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OpenSCAP CIS scan, HTML report and a remediated control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openscap-scanner/libopenscap8, ssg-base, ssg-debderived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transition spd="med">
    <p:fade/>
  </p:transition>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SCAP Security Guide content and OpenSCAP scanner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openscap-scanner || apt-get install -y libopenscap8</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Select the Ubuntu SCAP datastream</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DS=$(ls /usr/share/xml/scap/ssg/content/ssg-ubuntu*-ds.xml | head -1)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List available compliance profiles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oscap info $DS | grep -A1 Profile | head -20</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the CIS Level 1 audit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oscap xccdf eval --profile ...cis_level1_server --report report.html $DS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transition spd="med">
    <p:fade/>
  </p:transition>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Generate the auto-remediation script</a:t>
            </a:r>
          </a:p>
        </p:txBody>
      </p:sp>
      <p:sp>
        <p:nvSpPr>
          <p:cNvPr id="11" name="Rectangle 10"/>
          <p:cNvSpPr/>
          <p:nvPr/>
        </p:nvSpPr>
        <p:spPr>
          <a:xfrm>
            <a:off x="1417320" y="312770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312770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oscap xccdf generate fix --profile ...cis_level1_server --output remediate.sh $DS</a:t>
            </a:r>
          </a:p>
        </p:txBody>
      </p:sp>
      <p:sp>
        <p:nvSpPr>
          <p:cNvPr id="13" name="Oval 12"/>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4201668"/>
            <a:ext cx="10058400" cy="914857"/>
          </a:xfrm>
          <a:prstGeom prst="rect">
            <a:avLst/>
          </a:prstGeom>
          <a:noFill/>
        </p:spPr>
        <p:txBody>
          <a:bodyPr wrap="square" anchor="ctr">
            <a:spAutoFit/>
          </a:bodyPr>
          <a:lstStyle/>
          <a:p>
            <a:pPr algn="l">
              <a:spcAft>
                <a:spcPts val="400"/>
              </a:spcAft>
            </a:pPr>
            <a:r>
              <a:rPr sz="1500" b="0">
                <a:solidFill>
                  <a:srgbClr val="161B26"/>
                </a:solidFill>
                <a:latin typeface="Arial"/>
              </a:rPr>
              <a:t>Apply one fix and re-check the rule</a:t>
            </a:r>
          </a:p>
        </p:txBody>
      </p:sp>
      <p:sp>
        <p:nvSpPr>
          <p:cNvPr id="16" name="Rectangle 15"/>
          <p:cNvSpPr/>
          <p:nvPr/>
        </p:nvSpPr>
        <p:spPr>
          <a:xfrm>
            <a:off x="1417320" y="5116525"/>
            <a:ext cx="10058400" cy="7955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5116525"/>
            <a:ext cx="9784080" cy="795528"/>
          </a:xfrm>
          <a:prstGeom prst="rect">
            <a:avLst/>
          </a:prstGeom>
          <a:noFill/>
        </p:spPr>
        <p:txBody>
          <a:bodyPr wrap="square" anchor="ctr">
            <a:spAutoFit/>
          </a:bodyPr>
          <a:lstStyle/>
          <a:p>
            <a:pPr algn="l">
              <a:spcAft>
                <a:spcPts val="400"/>
              </a:spcAft>
            </a:pPr>
            <a:r>
              <a:rPr sz="1050" b="0">
                <a:solidFill>
                  <a:srgbClr val="9CDCFE"/>
                </a:solidFill>
                <a:latin typeface="Arial"/>
              </a:rPr>
              <a:t>$ oscap xccdf eval --rule ...package_telnet_removed $DS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transition spd="med">
    <p:fade/>
  </p:transition>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Compliance Audit with OpenSCAP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report.html shows pass/fail per control and the score rises after the single remediation is applied.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transition spd="med">
    <p:fade/>
  </p:transition>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Audits &amp; Assessments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Attestation; internal and external audits; penetration testing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transition spd="med">
    <p:fade/>
  </p:transition>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INTERNAL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Attestation and Internal Audits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Attestation</a:t>
            </a:r>
          </a:p>
          <a:p>
            <a:pPr algn="l">
              <a:spcAft>
                <a:spcPts val="300"/>
              </a:spcAft>
            </a:pPr>
            <a:r>
              <a:rPr sz="1200" b="0">
                <a:solidFill>
                  <a:srgbClr val="5B6372"/>
                </a:solidFill>
                <a:latin typeface="Arial"/>
              </a:rPr>
              <a:t>A formal signed assertion that controls are implemented and operating, by management or an auditor.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Compliance (internal)</a:t>
            </a:r>
          </a:p>
          <a:p>
            <a:pPr algn="l">
              <a:spcAft>
                <a:spcPts val="300"/>
              </a:spcAft>
            </a:pPr>
            <a:r>
              <a:rPr sz="1200" b="0">
                <a:solidFill>
                  <a:srgbClr val="5B6372"/>
                </a:solidFill>
                <a:latin typeface="Arial"/>
              </a:rPr>
              <a:t>The internal team checks the organisation against the obligations it must meet, before anyone external does.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Audit committee</a:t>
            </a:r>
          </a:p>
          <a:p>
            <a:pPr algn="l">
              <a:spcAft>
                <a:spcPts val="300"/>
              </a:spcAft>
            </a:pPr>
            <a:r>
              <a:rPr sz="1200" b="0">
                <a:solidFill>
                  <a:srgbClr val="5B6372"/>
                </a:solidFill>
                <a:latin typeface="Arial"/>
              </a:rPr>
              <a:t>A board-level committee that oversees audit activity independently of day-to-day management.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Self-assessments</a:t>
            </a:r>
          </a:p>
          <a:p>
            <a:pPr algn="l">
              <a:spcAft>
                <a:spcPts val="300"/>
              </a:spcAft>
            </a:pPr>
            <a:r>
              <a:rPr sz="1200" b="0">
                <a:solidFill>
                  <a:srgbClr val="5B6372"/>
                </a:solidFill>
                <a:latin typeface="Arial"/>
              </a:rPr>
              <a:t>A team evaluates its own controls against a checklist; cheap and frequent, but the least independent.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transition spd="med">
    <p:fade/>
  </p:transition>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EXTERNAL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External Audits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Regulatory</a:t>
            </a:r>
          </a:p>
          <a:p>
            <a:pPr algn="l">
              <a:spcAft>
                <a:spcPts val="300"/>
              </a:spcAft>
            </a:pPr>
            <a:r>
              <a:rPr sz="1200" b="0">
                <a:solidFill>
                  <a:srgbClr val="5B6372"/>
                </a:solidFill>
                <a:latin typeface="Arial"/>
              </a:rPr>
              <a:t>An audit driven by a regulator's rules, confirming you meet a legal or sector requirement.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Examinations</a:t>
            </a:r>
          </a:p>
          <a:p>
            <a:pPr algn="l">
              <a:spcAft>
                <a:spcPts val="300"/>
              </a:spcAft>
            </a:pPr>
            <a:r>
              <a:rPr sz="1200" b="0">
                <a:solidFill>
                  <a:srgbClr val="5B6372"/>
                </a:solidFill>
                <a:latin typeface="Arial"/>
              </a:rPr>
              <a:t>A regulator's formal inspection of your controls and records, common in finance and healthcare.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A broader external evaluation of security posture, not necessarily tied to a single standard.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Independent third-party audit</a:t>
            </a:r>
          </a:p>
          <a:p>
            <a:pPr algn="l">
              <a:spcAft>
                <a:spcPts val="300"/>
              </a:spcAft>
            </a:pPr>
            <a:r>
              <a:rPr sz="1200" b="0">
                <a:solidFill>
                  <a:srgbClr val="5B6372"/>
                </a:solidFill>
                <a:latin typeface="Arial"/>
              </a:rPr>
              <a:t>A qualified outside firm audits you for an objective, credible result such as a SOC 2 report.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transition spd="med">
    <p:fade/>
  </p:transition>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PENTEST POSTURE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Types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Offensive</a:t>
            </a:r>
          </a:p>
          <a:p>
            <a:pPr algn="l">
              <a:spcAft>
                <a:spcPts val="300"/>
              </a:spcAft>
            </a:pPr>
            <a:r>
              <a:rPr sz="1200" b="0">
                <a:solidFill>
                  <a:srgbClr val="5B6372"/>
                </a:solidFill>
                <a:latin typeface="Arial"/>
              </a:rPr>
              <a:t>The red team emulating an attacker to find and exploit weaknesses before a real adversary does.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Defensive</a:t>
            </a:r>
          </a:p>
          <a:p>
            <a:pPr algn="l">
              <a:spcAft>
                <a:spcPts val="300"/>
              </a:spcAft>
            </a:pPr>
            <a:r>
              <a:rPr sz="1200" b="0">
                <a:solidFill>
                  <a:srgbClr val="5B6372"/>
                </a:solidFill>
                <a:latin typeface="Arial"/>
              </a:rPr>
              <a:t>The blue team detecting and responding, testing whether monitoring and response actually work.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Integrated</a:t>
            </a:r>
          </a:p>
          <a:p>
            <a:pPr algn="l">
              <a:spcAft>
                <a:spcPts val="300"/>
              </a:spcAft>
            </a:pPr>
            <a:r>
              <a:rPr sz="1200" b="0">
                <a:solidFill>
                  <a:srgbClr val="5B6372"/>
                </a:solidFill>
                <a:latin typeface="Arial"/>
              </a:rPr>
              <a:t>A holistic purple-team approach where offence and defence work together to improve both at once.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Testing physical controls: tailgating, badge cloning and server-room access, not just the network.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transition spd="med">
    <p:fade/>
  </p:transition>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5.5 · ENVIRONMENT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Much the Testers Know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Known environment</a:t>
            </a:r>
          </a:p>
          <a:p>
            <a:pPr algn="l">
              <a:spcAft>
                <a:spcPts val="300"/>
              </a:spcAft>
            </a:pPr>
            <a:r>
              <a:rPr sz="1200" b="0">
                <a:solidFill>
                  <a:srgbClr val="5B6372"/>
                </a:solidFill>
                <a:latin typeface="Arial"/>
              </a:rPr>
              <a:t>Full documentation and credentials are provided, so testers go deep quickly. Formerly called white-box.</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Partially known</a:t>
            </a:r>
          </a:p>
          <a:p>
            <a:pPr algn="l">
              <a:spcAft>
                <a:spcPts val="300"/>
              </a:spcAft>
            </a:pPr>
            <a:r>
              <a:rPr sz="1200" b="0">
                <a:solidFill>
                  <a:srgbClr val="5B6372"/>
                </a:solidFill>
                <a:latin typeface="Arial"/>
              </a:rPr>
              <a:t>Some information is shared, balancing realism against time. Formerly called grey-box.</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Unknown environment</a:t>
            </a:r>
          </a:p>
          <a:p>
            <a:pPr algn="l">
              <a:spcAft>
                <a:spcPts val="300"/>
              </a:spcAft>
            </a:pPr>
            <a:r>
              <a:rPr sz="1200" b="0">
                <a:solidFill>
                  <a:srgbClr val="5B6372"/>
                </a:solidFill>
                <a:latin typeface="Arial"/>
              </a:rPr>
              <a:t>Testers get nothing and must discover everything, modelling an outside attacker. Formerly black-box.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Reconnaissance</a:t>
            </a:r>
          </a:p>
          <a:p>
            <a:pPr algn="l">
              <a:spcAft>
                <a:spcPts val="300"/>
              </a:spcAft>
            </a:pPr>
            <a:r>
              <a:rPr sz="1200" b="0">
                <a:solidFill>
                  <a:srgbClr val="5B6372"/>
                </a:solidFill>
                <a:latin typeface="Arial"/>
              </a:rPr>
              <a:t>The information-gathering phase that opens every test, before any exploitation is attempted.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transition spd="med">
    <p:fade/>
  </p:transition>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5.5 · RECON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versus Active Reconnaissance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 packet is ever sent to the target's own systems.</a:t>
            </a:r>
          </a:p>
          <a:p>
            <a:pPr>
              <a:spcAft>
                <a:spcPts val="1000"/>
              </a:spcAft>
            </a:pPr>
            <a:r>
              <a:rPr sz="1600" b="0">
                <a:solidFill>
                  <a:srgbClr val="161B26"/>
                </a:solidFill>
                <a:latin typeface="Arial"/>
              </a:rPr>
              <a:t>•  Data comes from public sources: registries, search, CT logs.</a:t>
            </a:r>
          </a:p>
          <a:p>
            <a:pPr>
              <a:spcAft>
                <a:spcPts val="1000"/>
              </a:spcAft>
            </a:pPr>
            <a:r>
              <a:rPr sz="1600" b="0">
                <a:solidFill>
                  <a:srgbClr val="161B26"/>
                </a:solidFill>
                <a:latin typeface="Arial"/>
              </a:rPr>
              <a:t>•  It leaves nothing in the target's firewall or server logs.</a:t>
            </a:r>
          </a:p>
          <a:p>
            <a:pPr>
              <a:spcAft>
                <a:spcPts val="1000"/>
              </a:spcAft>
            </a:pPr>
            <a:r>
              <a:rPr sz="1600" b="0">
                <a:solidFill>
                  <a:srgbClr val="161B26"/>
                </a:solidFill>
                <a:latin typeface="Arial"/>
              </a:rPr>
              <a:t>•  Lawful and undetectable, but slower and less complete.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Testers interact directly by scanning and banner grabbing.</a:t>
            </a:r>
          </a:p>
          <a:p>
            <a:pPr>
              <a:spcAft>
                <a:spcPts val="1000"/>
              </a:spcAft>
            </a:pPr>
            <a:r>
              <a:rPr sz="1600" b="0">
                <a:solidFill>
                  <a:srgbClr val="161B26"/>
                </a:solidFill>
                <a:latin typeface="Arial"/>
              </a:rPr>
              <a:t>•  It confirms what is truly live, not just what was published.</a:t>
            </a:r>
          </a:p>
          <a:p>
            <a:pPr>
              <a:spcAft>
                <a:spcPts val="1000"/>
              </a:spcAft>
            </a:pPr>
            <a:r>
              <a:rPr sz="1600" b="0">
                <a:solidFill>
                  <a:srgbClr val="161B26"/>
                </a:solidFill>
                <a:latin typeface="Arial"/>
              </a:rPr>
              <a:t>•  It appears in the target's IDS and SIEM as real traffic.</a:t>
            </a:r>
          </a:p>
          <a:p>
            <a:pPr>
              <a:spcAft>
                <a:spcPts val="1000"/>
              </a:spcAft>
            </a:pPr>
            <a:r>
              <a:rPr sz="1600" b="0">
                <a:solidFill>
                  <a:srgbClr val="161B26"/>
                </a:solidFill>
                <a:latin typeface="Arial"/>
              </a:rPr>
              <a:t>•  Faster and more accurate, but it announces your presence.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transition spd="med">
    <p:fade/>
  </p:transition>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5.5 · THE DIFFERENCE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scan reports a weakness; a pentest proves it is exploitable.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Audits give assurance that controls exist; penetration testing demonstrates real business impact by chaining those weaknesses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transition spd="med">
    <p:fade/>
  </p:transition>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5.5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Audits &amp; Assessments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Known = white-box (full info), unknown = black-box (no info), partially known = grey-box (some info).</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Offensive = red team; defensive = blue team; integrated = purple team working together.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Self-assessment is cheapest and least independent; an independent third-party audit is the most credible.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Passive recon sends no packets to the target; active recon does and is visible in the target's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transition spd="med">
    <p:fade/>
  </p:transition>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Gather a domain's public footprint with passive OSINT tools that never send a packet to the target, the reconnaissance phase of an authorised assessment.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passive recon report for an authorised domain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whois, dnsutils, theHarvester, subfinder, jq</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transition spd="med">
    <p:fade/>
  </p:transition>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the passive OSINT tools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whois dnsutils python3-pip jq unzip curl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Set an authorised target domain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TARGET=example.com</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Query WHOIS registrant and dates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whois $TARGET | grep -Ei 'registrar|registrant|expiry|name server'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Enumerate DNS records (MX, TXT, 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dig +short MX $TARGET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transition spd="med">
    <p:fade/>
  </p:transition>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Discover subdomains passively with subfinder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subfinder -silent -d $TARGET | tee subs.txt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Harvest emails and hosts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theHarvester -d $TARGET -b crtsh,duckduckgo,bing 2&gt;/dev/null | tail -30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Pull certificate transparency records</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 "https://crt.sh/?q=%25.$TARGET&amp;output=json" | jq -r '.[].name_value' | sort -u | head</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Build the recon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recon-$TARGET.md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transition spd="med">
    <p:fade/>
  </p:transition>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Passive Reconnaissance / OSINT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recon-example.com.md lists the subdomain count plus the domain's DMARC and SPF records, with no traffic sent to the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transition spd="med">
    <p:fade/>
  </p:transition>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Fingerprint a local host with Nmap host discovery, version and OS detection and NSE scripts, scanning only loopback inside the playground.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Nmap scan of local nginx and SSH targets, saved in three formats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nmap, nginx, openssh-server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transition spd="med">
    <p:fade/>
  </p:transition>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nmap and start nginx + ssh targets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apt-get install -y nmap nginx openssh-server</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Discover live hosts with a ping scan</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-sn 127.0.0.0/30</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a TCP SYN half-open scan</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-sS -p 1-1024 127.0.0.1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Detect service versions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22,80 127.0.0.1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transition spd="med">
    <p:fade/>
  </p:transition>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Fingerprint the OS</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-O 127.0.0.1</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Run NSE discovery scripts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--script=banner,http-headers,ssh2-enum-algos -p 22,80 127.0.0.1</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Review timing templates for stealth vs speed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time nmap -T4 -p- 127.0.0.1 | tail</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Save results in three report formats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-oA scan-127 127.0.0.1</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transition spd="med">
    <p:fade/>
  </p:transition>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Active Reconnaissance with Nmap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nmap -sV reports nginx on port 80 and OpenSSH on port 22, and scan-127.xml is written for reporting.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transition spd="med">
    <p:fade/>
  </p:transition>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Validate a deliberately vulnerable service inside a local container with Metasploit, capture proof of access, clean up, then write the engagement report.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Metasploit validation of a lab container and a pentest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metasploit-framework, docker.io, nmap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transition spd="med">
    <p:fade/>
  </p:transition>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Install Metasploit via the Rapid7 installer</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-sSL https://raw.githubusercontent.com/rapid7/metasploit-omnibus/master/.../msfupdate.erb &gt; /tmp/msfinstall</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Stand up the authorised vulnerable target in Docker</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--name vuln -p 2121:21 --rm tleemcjr/metasploitable2 ...</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Recon the target service banner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nmap -sV -p 2121 127.0.0.1</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Search Metasploit for matching modules</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msfconsole -q -x 'search vsftpd; exit'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transition spd="med">
    <p:fade/>
  </p:transition>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Validate the finding against the lab target</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msfconsole -q -x 'use exploit/unix/ftp/vsftpd_234_backdoor; set RHOSTS 127.0.0.1; set RPORT 2121; run; exit'</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Capture proof of access</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sessions -i 1 -c 'id; uname -a; hostname'</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Clean up the target container</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rm -f vuln</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Write the engagement report</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cat pentest-report.md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transition spd="med">
    <p:fade/>
  </p:transition>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Penetration Testing in an Authorised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session opens against the lab container, id returns the target account as proof, the container is removed and pentest-report.md is written.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transition spd="med">
    <p:fade/>
  </p:transition>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OBJECTIVE 5.6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Awareness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Phishing, anomalous behaviour, training topics, the program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transition spd="med">
    <p:fade/>
  </p:transition>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PHISHING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Phishing Awareness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Campaigns</a:t>
            </a:r>
          </a:p>
          <a:p>
            <a:pPr algn="l">
              <a:spcAft>
                <a:spcPts val="300"/>
              </a:spcAft>
            </a:pPr>
            <a:r>
              <a:rPr sz="1200" b="0">
                <a:solidFill>
                  <a:srgbClr val="5B6372"/>
                </a:solidFill>
                <a:latin typeface="Arial"/>
              </a:rPr>
              <a:t>Simulated phishing sent to staff to measure and improve how they respond, always against opted-in internal users.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Recognizing attempts</a:t>
            </a:r>
          </a:p>
          <a:p>
            <a:pPr algn="l">
              <a:spcAft>
                <a:spcPts val="300"/>
              </a:spcAft>
            </a:pPr>
            <a:r>
              <a:rPr sz="1200" b="0">
                <a:solidFill>
                  <a:srgbClr val="5B6372"/>
                </a:solidFill>
                <a:latin typeface="Arial"/>
              </a:rPr>
              <a:t>Teaching the cues: urgency, mismatched sender, odd links, unexpected attachments and requests for credentials.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Responding to reports</a:t>
            </a:r>
          </a:p>
          <a:p>
            <a:pPr algn="l">
              <a:spcAft>
                <a:spcPts val="300"/>
              </a:spcAft>
            </a:pPr>
            <a:r>
              <a:rPr sz="1200" b="0">
                <a:solidFill>
                  <a:srgbClr val="5B6372"/>
                </a:solidFill>
                <a:latin typeface="Arial"/>
              </a:rPr>
              <a:t>A clear, blame-free process for what to do when a user reports a suspicious message, and how the team triages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One-click reporting</a:t>
            </a:r>
          </a:p>
          <a:p>
            <a:pPr algn="l">
              <a:spcAft>
                <a:spcPts val="300"/>
              </a:spcAft>
            </a:pPr>
            <a:r>
              <a:rPr sz="1200" b="0">
                <a:solidFill>
                  <a:srgbClr val="5B6372"/>
                </a:solidFill>
                <a:latin typeface="Arial"/>
              </a:rPr>
              <a:t>A report button makes the safe action the easy action and surfaces real campaigns within minutes.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transition spd="med">
    <p:fade/>
  </p:transition>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ANOMALOUS BEHAVIOUR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Recognising Anomalous Behaviour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Risky</a:t>
            </a:r>
          </a:p>
          <a:p>
            <a:pPr algn="l">
              <a:spcAft>
                <a:spcPts val="300"/>
              </a:spcAft>
            </a:pPr>
            <a:r>
              <a:rPr sz="1200" b="0">
                <a:solidFill>
                  <a:srgbClr val="5B6372"/>
                </a:solidFill>
                <a:latin typeface="Arial"/>
              </a:rPr>
              <a:t>Behaviour that knowingly raises risk, such as reusing passwords or disabling a security control to save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Unexpected</a:t>
            </a:r>
          </a:p>
          <a:p>
            <a:pPr algn="l">
              <a:spcAft>
                <a:spcPts val="300"/>
              </a:spcAft>
            </a:pPr>
            <a:r>
              <a:rPr sz="1200" b="0">
                <a:solidFill>
                  <a:srgbClr val="5B6372"/>
                </a:solidFill>
                <a:latin typeface="Arial"/>
              </a:rPr>
              <a:t>Activity that does not fit the person or role, such as a finance login from an unusual country at 3am.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Unintentional</a:t>
            </a:r>
          </a:p>
          <a:p>
            <a:pPr algn="l">
              <a:spcAft>
                <a:spcPts val="300"/>
              </a:spcAft>
            </a:pPr>
            <a:r>
              <a:rPr sz="1200" b="0">
                <a:solidFill>
                  <a:srgbClr val="5B6372"/>
                </a:solidFill>
                <a:latin typeface="Arial"/>
              </a:rPr>
              <a:t>An honest mistake with security impact, such as emailing a spreadsheet of personal data to the wrong address.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transition spd="med">
    <p:fade/>
  </p:transition>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TRAINING TOPICS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User Guidance and Training (1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Policy/handbooks</a:t>
            </a:r>
          </a:p>
          <a:p>
            <a:pPr algn="l">
              <a:spcAft>
                <a:spcPts val="300"/>
              </a:spcAft>
            </a:pPr>
            <a:r>
              <a:rPr sz="1200" b="0">
                <a:solidFill>
                  <a:srgbClr val="5B6372"/>
                </a:solidFill>
                <a:latin typeface="Arial"/>
              </a:rPr>
              <a:t>The written rules staff must follow, delivered in a readable handbook and acknowledged on joining.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Situational awareness</a:t>
            </a:r>
          </a:p>
          <a:p>
            <a:pPr algn="l">
              <a:spcAft>
                <a:spcPts val="300"/>
              </a:spcAft>
            </a:pPr>
            <a:r>
              <a:rPr sz="1200" b="0">
                <a:solidFill>
                  <a:srgbClr val="5B6372"/>
                </a:solidFill>
                <a:latin typeface="Arial"/>
              </a:rPr>
              <a:t>Noticing and reacting to what is happening around you, online and in the physical workplace.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Insider threat</a:t>
            </a:r>
          </a:p>
          <a:p>
            <a:pPr algn="l">
              <a:spcAft>
                <a:spcPts val="300"/>
              </a:spcAft>
            </a:pPr>
            <a:r>
              <a:rPr sz="1200" b="0">
                <a:solidFill>
                  <a:srgbClr val="5B6372"/>
                </a:solidFill>
                <a:latin typeface="Arial"/>
              </a:rPr>
              <a:t>Recognising and reporting the signs of a malicious or negligent insider misusing their access.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Password management</a:t>
            </a:r>
          </a:p>
          <a:p>
            <a:pPr algn="l">
              <a:spcAft>
                <a:spcPts val="300"/>
              </a:spcAft>
            </a:pPr>
            <a:r>
              <a:rPr sz="1200" b="0">
                <a:solidFill>
                  <a:srgbClr val="5B6372"/>
                </a:solidFill>
                <a:latin typeface="Arial"/>
              </a:rPr>
              <a:t>Using strong, unique passwords, a password manager and MFA rather than reuse and sticky notes.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transition spd="med">
    <p:fade/>
  </p:transition>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OBJ 5.6 · TRAINING TOPICS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User Guidance and Training (2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Removable media &amp; cables</a:t>
            </a:r>
          </a:p>
          <a:p>
            <a:pPr algn="l">
              <a:spcAft>
                <a:spcPts val="300"/>
              </a:spcAft>
            </a:pPr>
            <a:r>
              <a:rPr sz="1200" b="0">
                <a:solidFill>
                  <a:srgbClr val="5B6372"/>
                </a:solidFill>
                <a:latin typeface="Arial"/>
              </a:rPr>
              <a:t>The risk of unknown USB drives and cables; never plug in found or unvetted devices.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engineering</a:t>
            </a:r>
          </a:p>
          <a:p>
            <a:pPr algn="l">
              <a:spcAft>
                <a:spcPts val="300"/>
              </a:spcAft>
            </a:pPr>
            <a:r>
              <a:rPr sz="1200" b="0">
                <a:solidFill>
                  <a:srgbClr val="5B6372"/>
                </a:solidFill>
                <a:latin typeface="Arial"/>
              </a:rPr>
              <a:t>Recognising manipulation such as pretexting, tailgating and impersonation that targets people, not systems.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security</a:t>
            </a:r>
          </a:p>
          <a:p>
            <a:pPr algn="l">
              <a:spcAft>
                <a:spcPts val="300"/>
              </a:spcAft>
            </a:pPr>
            <a:r>
              <a:rPr sz="1200" b="0">
                <a:solidFill>
                  <a:srgbClr val="5B6372"/>
                </a:solidFill>
                <a:latin typeface="Arial"/>
              </a:rPr>
              <a:t>Not leaking details, through chat, social media or conversation, that help an attacker build a pretext.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Hybrid/remote work</a:t>
            </a:r>
          </a:p>
          <a:p>
            <a:pPr algn="l">
              <a:spcAft>
                <a:spcPts val="300"/>
              </a:spcAft>
            </a:pPr>
            <a:r>
              <a:rPr sz="1200" b="0">
                <a:solidFill>
                  <a:srgbClr val="5B6372"/>
                </a:solidFill>
                <a:latin typeface="Arial"/>
              </a:rPr>
              <a:t>Securing home and travel setups: VPN, patched devices, locked screens and private screens in public.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transition spd="med">
    <p:fade/>
  </p:transition>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5.6 · THE PROGRAM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Running the Awareness Program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Development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objectives, audience and risk topics.</a:t>
            </a:r>
          </a:p>
          <a:p>
            <a:pPr>
              <a:spcAft>
                <a:spcPts val="900"/>
              </a:spcAft>
            </a:pPr>
            <a:r>
              <a:rPr sz="1400" b="0">
                <a:solidFill>
                  <a:srgbClr val="161B26"/>
                </a:solidFill>
                <a:latin typeface="Arial"/>
              </a:rPr>
              <a:t>•  Build content tailored to real roles and threats.</a:t>
            </a:r>
          </a:p>
          <a:p>
            <a:pPr>
              <a:spcAft>
                <a:spcPts val="900"/>
              </a:spcAft>
            </a:pPr>
            <a:r>
              <a:rPr sz="1400" b="0">
                <a:solidFill>
                  <a:srgbClr val="161B26"/>
                </a:solidFill>
                <a:latin typeface="Arial"/>
              </a:rPr>
              <a:t>•  Align it with policy and the threat landscape.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Execution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Deliver the training and launch campaigns.</a:t>
            </a:r>
          </a:p>
          <a:p>
            <a:pPr>
              <a:spcAft>
                <a:spcPts val="900"/>
              </a:spcAft>
            </a:pPr>
            <a:r>
              <a:rPr sz="1400" b="0">
                <a:solidFill>
                  <a:srgbClr val="161B26"/>
                </a:solidFill>
                <a:latin typeface="Arial"/>
              </a:rPr>
              <a:t>•  Keep lures realistic but never cruel.</a:t>
            </a:r>
          </a:p>
          <a:p>
            <a:pPr>
              <a:spcAft>
                <a:spcPts val="900"/>
              </a:spcAft>
            </a:pPr>
            <a:r>
              <a:rPr sz="1400" b="0">
                <a:solidFill>
                  <a:srgbClr val="161B26"/>
                </a:solidFill>
                <a:latin typeface="Arial"/>
              </a:rPr>
              <a:t>•  Teach at the moment of a mistake (just-in-time).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Reporting &amp; Monitoring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Initial training happens at onboarding.</a:t>
            </a:r>
          </a:p>
          <a:p>
            <a:pPr>
              <a:spcAft>
                <a:spcPts val="900"/>
              </a:spcAft>
            </a:pPr>
            <a:r>
              <a:rPr sz="1400" b="0">
                <a:solidFill>
                  <a:srgbClr val="161B26"/>
                </a:solidFill>
                <a:latin typeface="Arial"/>
              </a:rPr>
              <a:t>•  Recurring refreshers keep awareness current.</a:t>
            </a:r>
          </a:p>
          <a:p>
            <a:pPr>
              <a:spcAft>
                <a:spcPts val="900"/>
              </a:spcAft>
            </a:pPr>
            <a:r>
              <a:rPr sz="1400" b="0">
                <a:solidFill>
                  <a:srgbClr val="161B26"/>
                </a:solidFill>
                <a:latin typeface="Arial"/>
              </a:rPr>
              <a:t>•  Track metrics and trends, not single results.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transition spd="med">
    <p:fade/>
  </p:transition>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5.6 · CULTURE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Awareness metrics should drive training, never punishment.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blame-free culture makes people report fast; a punitive one makes them hide mistakes, so real incidents surface far too late.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transition spd="med">
    <p:fade/>
  </p:transition>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OBJ 5.6 · EXAM TIPS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Exam Tips — Security Awareness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Anomalous behaviour: risky = knowingly unsafe; unexpected = out of pattern; unintentional = honest mistake.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Awareness program lifecycle: development, execution, then reporting and monitoring (initial at onboarding, recurring refreshers).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Phishing simulations are for education, not discipline; drive the report rate up and the click rate down over time.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Removable media/cables, social engineering, insider threat and operational security are all named awareness training topics.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transition spd="med">
    <p:fade/>
  </p:transition>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OBJ 5.6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Run a controlled phishing simulation with GoPhish against an internal MailHog sink, track open and click metrics, and map results to training actions.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GoPhish campaign with a MailHog SMTP sink and awareness metrics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gophish, docker.io, mailhog, curl, unzip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transition spd="med">
    <p:fade/>
  </p:transition>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1–4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417320" y="221284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Download and unzip the GoPhish binary</a:t>
            </a:r>
          </a:p>
        </p:txBody>
      </p:sp>
      <p:sp>
        <p:nvSpPr>
          <p:cNvPr id="11" name="Rectangle 10"/>
          <p:cNvSpPr/>
          <p:nvPr/>
        </p:nvSpPr>
        <p:spPr>
          <a:xfrm>
            <a:off x="1417320" y="267027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267027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curl -LO https://github.com/gophish/gophish/releases/download/v0.12.1/gophish-v0.12.1-linux-64bit.zip</a:t>
            </a:r>
          </a:p>
        </p:txBody>
      </p:sp>
      <p:sp>
        <p:nvSpPr>
          <p:cNvPr id="13" name="Oval 12"/>
          <p:cNvSpPr/>
          <p:nvPr/>
        </p:nvSpPr>
        <p:spPr>
          <a:xfrm>
            <a:off x="777240" y="320725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725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417320" y="320725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Bind the admin UI for the playground</a:t>
            </a:r>
          </a:p>
        </p:txBody>
      </p:sp>
      <p:sp>
        <p:nvSpPr>
          <p:cNvPr id="16" name="Rectangle 15"/>
          <p:cNvSpPr/>
          <p:nvPr/>
        </p:nvSpPr>
        <p:spPr>
          <a:xfrm>
            <a:off x="1417320" y="366468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66468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sed -i 's/127.0.0.1:3333/0.0.0.0:3333/' config.json</a:t>
            </a:r>
          </a:p>
        </p:txBody>
      </p:sp>
      <p:sp>
        <p:nvSpPr>
          <p:cNvPr id="18" name="Oval 17"/>
          <p:cNvSpPr/>
          <p:nvPr/>
        </p:nvSpPr>
        <p:spPr>
          <a:xfrm>
            <a:off x="777240" y="420166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166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417320" y="4201668"/>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Start GoPhish and note the admin password</a:t>
            </a:r>
          </a:p>
        </p:txBody>
      </p:sp>
      <p:sp>
        <p:nvSpPr>
          <p:cNvPr id="21" name="Rectangle 20"/>
          <p:cNvSpPr/>
          <p:nvPr/>
        </p:nvSpPr>
        <p:spPr>
          <a:xfrm>
            <a:off x="1417320" y="4659096"/>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72768" y="4659096"/>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./gophish 2&gt;&amp;1 | grep -Ei 'admin|password' | head -3</a:t>
            </a:r>
          </a:p>
        </p:txBody>
      </p:sp>
      <p:sp>
        <p:nvSpPr>
          <p:cNvPr id="23" name="Oval 22"/>
          <p:cNvSpPr/>
          <p:nvPr/>
        </p:nvSpPr>
        <p:spPr>
          <a:xfrm>
            <a:off x="777240" y="519607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96077"/>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417320" y="5196077"/>
            <a:ext cx="10058400" cy="457428"/>
          </a:xfrm>
          <a:prstGeom prst="rect">
            <a:avLst/>
          </a:prstGeom>
          <a:noFill/>
        </p:spPr>
        <p:txBody>
          <a:bodyPr wrap="square" anchor="ctr">
            <a:spAutoFit/>
          </a:bodyPr>
          <a:lstStyle/>
          <a:p>
            <a:pPr algn="l">
              <a:spcAft>
                <a:spcPts val="400"/>
              </a:spcAft>
            </a:pPr>
            <a:r>
              <a:rPr sz="1500" b="0">
                <a:solidFill>
                  <a:srgbClr val="161B26"/>
                </a:solidFill>
                <a:latin typeface="Arial"/>
              </a:rPr>
              <a:t>Spin up the MailHog SMTP sink</a:t>
            </a:r>
          </a:p>
        </p:txBody>
      </p:sp>
      <p:sp>
        <p:nvSpPr>
          <p:cNvPr id="26" name="Rectangle 25"/>
          <p:cNvSpPr/>
          <p:nvPr/>
        </p:nvSpPr>
        <p:spPr>
          <a:xfrm>
            <a:off x="1417320" y="5653505"/>
            <a:ext cx="10058400" cy="3977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72768" y="5653505"/>
            <a:ext cx="9784080" cy="397764"/>
          </a:xfrm>
          <a:prstGeom prst="rect">
            <a:avLst/>
          </a:prstGeom>
          <a:noFill/>
        </p:spPr>
        <p:txBody>
          <a:bodyPr wrap="square" anchor="ctr">
            <a:spAutoFit/>
          </a:bodyPr>
          <a:lstStyle/>
          <a:p>
            <a:pPr algn="l">
              <a:spcAft>
                <a:spcPts val="400"/>
              </a:spcAft>
            </a:pPr>
            <a:r>
              <a:rPr sz="1050" b="0">
                <a:solidFill>
                  <a:srgbClr val="9CDCFE"/>
                </a:solidFill>
                <a:latin typeface="Arial"/>
              </a:rPr>
              <a:t>$ docker run -d -p 1025:1025 -p 8025:8025 mailhog/mailhog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transition spd="med">
    <p:fade/>
  </p:transition>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058400" cy="320040"/>
          </a:xfrm>
          <a:prstGeom prst="rect">
            <a:avLst/>
          </a:prstGeom>
          <a:noFill/>
        </p:spPr>
        <p:txBody>
          <a:bodyPr wrap="square" anchor="t">
            <a:spAutoFit/>
          </a:bodyPr>
          <a:lstStyle/>
          <a:p>
            <a:pPr algn="l">
              <a:spcAft>
                <a:spcPts val="400"/>
              </a:spcAft>
            </a:pPr>
            <a:r>
              <a:rPr sz="1300" b="1">
                <a:solidFill>
                  <a:srgbClr val="5B6372"/>
                </a:solidFill>
                <a:latin typeface="Arial"/>
              </a:rPr>
              <a:t>STEPS 5–7 OF 7</a:t>
            </a:r>
          </a:p>
        </p:txBody>
      </p:sp>
      <p:sp>
        <p:nvSpPr>
          <p:cNvPr id="8" name="Oval 7"/>
          <p:cNvSpPr/>
          <p:nvPr/>
        </p:nvSpPr>
        <p:spPr>
          <a:xfrm>
            <a:off x="777240" y="22128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1284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10" name="TextBox 9"/>
          <p:cNvSpPr txBox="1"/>
          <p:nvPr/>
        </p:nvSpPr>
        <p:spPr>
          <a:xfrm>
            <a:off x="1417320" y="221284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Configure the four GoPhish primitives</a:t>
            </a:r>
          </a:p>
        </p:txBody>
      </p:sp>
      <p:sp>
        <p:nvSpPr>
          <p:cNvPr id="11" name="Oval 10"/>
          <p:cNvSpPr/>
          <p:nvPr/>
        </p:nvSpPr>
        <p:spPr>
          <a:xfrm>
            <a:off x="777240" y="35387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53872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13" name="TextBox 12"/>
          <p:cNvSpPr txBox="1"/>
          <p:nvPr/>
        </p:nvSpPr>
        <p:spPr>
          <a:xfrm>
            <a:off x="1417320" y="353872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Launch the campaign and watch the dashboard</a:t>
            </a:r>
          </a:p>
        </p:txBody>
      </p:sp>
      <p:sp>
        <p:nvSpPr>
          <p:cNvPr id="14" name="Oval 13"/>
          <p:cNvSpPr/>
          <p:nvPr/>
        </p:nvSpPr>
        <p:spPr>
          <a:xfrm>
            <a:off x="777240" y="4864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64608"/>
            <a:ext cx="457200" cy="45720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16" name="TextBox 15"/>
          <p:cNvSpPr txBox="1"/>
          <p:nvPr/>
        </p:nvSpPr>
        <p:spPr>
          <a:xfrm>
            <a:off x="1417320" y="4864608"/>
            <a:ext cx="10058400" cy="1060704"/>
          </a:xfrm>
          <a:prstGeom prst="rect">
            <a:avLst/>
          </a:prstGeom>
          <a:noFill/>
        </p:spPr>
        <p:txBody>
          <a:bodyPr wrap="square" anchor="ctr">
            <a:spAutoFit/>
          </a:bodyPr>
          <a:lstStyle/>
          <a:p>
            <a:pPr algn="l">
              <a:spcAft>
                <a:spcPts val="400"/>
              </a:spcAft>
            </a:pPr>
            <a:r>
              <a:rPr sz="1500" b="0">
                <a:solidFill>
                  <a:srgbClr val="161B26"/>
                </a:solidFill>
                <a:latin typeface="Arial"/>
              </a:rPr>
              <a:t>Map click and report rates to training actions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transition spd="med">
    <p:fade/>
  </p:transition>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Awareness: Phishing Simulation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campaign dashboard tracks sent, opened and clicked, test emails land in MailHog, and results map to training actions rather than blame.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transition spd="med">
    <p:fade/>
  </p:transition>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document is a mandatory, specific requirement implementing a policy? A) Guideline B) Standard C) Procedure D) Playbook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company lets each business unit set its own security policy close to its risk. This governance is best described as: A) Centralized B) Regulatory C) Decentralized D) Directive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AV=200,000, EF=0.6, ARO=0.5. What is the ALE? A) 60,000 B) 120,000 C) 100,000 D) 240,000</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organisation buys cyber insurance to cover breach costs. Which risk strategy is this? A) Mitigate B) Avoid C) Transfer D) Accept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Which contract clause lets a customer inspect a vendor's security controls during the relationship? A) SLA B) NDA C) Right-to-audit D) MOU</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cloud provider processes personal data strictly on its customer's documented instructions. The provider is the: A) Data subject B) Controller C) Processor D) Owner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transition spd="med">
    <p:fade/>
  </p:transition>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Practice Questions — Domain 5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Testers are given no credentials or documentation and must discover everything. This engagement is: A) Known B) Partially known C) Unknown D) Integrated</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user emails a file of customer data to the wrong recipient by mistake. This anomalous behaviour is: A) Risky B) Unexpected C) Unintentional D) Malicious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transition spd="med">
    <p:fade/>
  </p:transition>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Answers — Practice Questions — Domain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Q1: B — A standard is a mandatory, specific requirement (e.g. min password length) implementing a broader policy.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Q2: C — Decentralized governance pushes policy-setting to the business units; faster and context-aware but harder to audit.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Q3: A — SLE = 200,000 x 0.6 = 120,000; ALE = 120,000 x 0.5 = 60,000 per year.</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Q4: C — Transfer shifts the financial loss to a third party; the underlying risk still exists.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Q5: C — A right-to-audit clause grants the customer permission to inspect the vendor's security directly or via an agent.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Q6: C — The processor acts only on the controller's instructions; the controller decides why and how data is processed.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transition spd="med">
    <p:fade/>
  </p:transition>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PRACTICE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Answers — Practice Questions — Domain 5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Q7: C — An unknown (black-box) environment gives testers nothing, modelling an external attacker.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Q8: C — Unintentional: an honest mistake with security impact, not a knowing or out-of-pattern act.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transition spd="med">
    <p:fade/>
  </p:transition>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Security Program Management &amp; Oversight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5.1 Security Governance: Governance is how an organisation directs and oversees security so that it serves business goals, not the other way round.</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5.2 Risk Management: Risk management is the cycle of identifying, assessing, analysing, treating and reporting risk so leaders can make informed decisions.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5.3 Third-Party Risk: Third parties extend your attack surface, so vendors must be assessed before you trust them and monitored for as long as you use them.</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5.4 Security Compliance: Compliance is proving you meet the laws, regulations and standards that apply to you, through reporting and continuous monitoring.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5.5 Audits &amp; Assessments: Audits and assessments independently check that controls exist and work, giving assurance to leadership, regulators and customers.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5.6 Security Awareness: People are a control surface, so a security awareness program trains them to recognise, resist and report attacks.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transition spd="med">
    <p:fade/>
  </p:transition>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EXAM READINESS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Preparing for SY0-701</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Book · Practise · Revise · Sit the exam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transition spd="med">
    <p:fade/>
  </p:transition>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READINESS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Your Exam-Readiness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Book the exam through CompTIA and Pearson VUE while the hands-on work is fresh, ideally within four weeks of the course.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Re-read the official objectives PDF and tick each sub-bullet against the slide and lab that covered 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Take the timed practice exam at https://exams.tertiaryinfotech.com/practice-exams/comptia/comptia-security-plus and drill the weakest domain first.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Performance-based questions reward the hands-on labs: rehearse firewall rules, log analysis, PKI and incident-response order.</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Weight revision by domain: Security Operations (28%) and Threats (22%) are half the exam.</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On exam day, flag the PBQs, answer the multiple-choice first, then return to the PBQs with the remaining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transition spd="med">
    <p:fade/>
  </p:transition>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PRACTISE BEFORE YOU BOOK</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Practice Exam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Timed SY0-701 practice questions with explanations: https://exams.tertiaryinfotech.com/practice-exams/comptia/comptia-security-plus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transition spd="med">
    <p:fade/>
  </p:transition>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transition spd="med">
    <p:fade/>
  </p:transition>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Concepts</a:t>
            </a:r>
          </a:p>
          <a:p>
            <a:pPr algn="l">
              <a:spcAft>
                <a:spcPts val="300"/>
              </a:spcAft>
            </a:pPr>
            <a:r>
              <a:rPr sz="1300" b="0">
                <a:solidFill>
                  <a:srgbClr val="5B6372"/>
                </a:solidFill>
                <a:latin typeface="Arial"/>
              </a:rPr>
              <a:t>Explain general security concepts — control types, CIA and AAA, Zero Trust, physical security, deception, change management and cryptography with PKI.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Threats &amp; Mitigations</a:t>
            </a:r>
          </a:p>
          <a:p>
            <a:pPr algn="l">
              <a:spcAft>
                <a:spcPts val="300"/>
              </a:spcAft>
            </a:pPr>
            <a:r>
              <a:rPr sz="1300" b="0">
                <a:solidFill>
                  <a:srgbClr val="5B6372"/>
                </a:solidFill>
                <a:latin typeface="Arial"/>
              </a:rPr>
              <a:t>Analyse threat actors, vectors and social engineering, application and platform vulnerabilities, indicators of attack, and mitigation techniques.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Secure Architecture</a:t>
            </a:r>
          </a:p>
          <a:p>
            <a:pPr algn="l">
              <a:spcAft>
                <a:spcPts val="300"/>
              </a:spcAft>
            </a:pPr>
            <a:r>
              <a:rPr sz="1300" b="0">
                <a:solidFill>
                  <a:srgbClr val="5B6372"/>
                </a:solidFill>
                <a:latin typeface="Arial"/>
              </a:rPr>
              <a:t>Apply secure architecture — cloud and on-premises models, secure enterprise infrastructure, data protection, and resilience and recovery.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Security Operations</a:t>
            </a:r>
          </a:p>
          <a:p>
            <a:pPr algn="l">
              <a:spcAft>
                <a:spcPts val="300"/>
              </a:spcAft>
            </a:pPr>
            <a:r>
              <a:rPr sz="1300" b="0">
                <a:solidFill>
                  <a:srgbClr val="5B6372"/>
                </a:solidFill>
                <a:latin typeface="Arial"/>
              </a:rPr>
              <a:t>Perform security operations — hardening, asset and vulnerability management, monitoring, security capabilities, IAM, automation and incident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Program Management</a:t>
            </a:r>
          </a:p>
          <a:p>
            <a:pPr algn="l">
              <a:spcAft>
                <a:spcPts val="300"/>
              </a:spcAft>
            </a:pPr>
            <a:r>
              <a:rPr sz="1300" b="0">
                <a:solidFill>
                  <a:srgbClr val="5B6372"/>
                </a:solidFill>
                <a:latin typeface="Arial"/>
              </a:rPr>
              <a:t>Support program oversight — governance, risk and third-party risk, compliance, audits and penetration testing, and security awareness.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transition spd="med">
    <p:fade/>
  </p:transition>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transition spd="med">
    <p:fade/>
  </p:transition>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Security+ Exam Prep (SY0-701)  ·  C628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Exam Prep (SY0-701) — Slides</dc:title>
  <dc:subject>C628 v2.0</dc:subject>
  <dc:creator>Tertiary Infotech Academy Pte Ltd</dc:creator>
  <cp:keywords>CompTIA Security+, SY0-701, Slides</cp:keywords>
  <dc:description/>
  <cp:lastModifiedBy>Tertiary Infotech Academy Pte Ltd</cp:lastModifiedBy>
  <cp:revision>1</cp:revision>
  <dcterms:created xsi:type="dcterms:W3CDTF">2026-10-28T03:10:48Z</dcterms:created>
  <dcterms:modified xsi:type="dcterms:W3CDTF">2026-10-28T03:10:48Z</dcterms:modified>
  <cp:category/>
</cp:coreProperties>
</file>